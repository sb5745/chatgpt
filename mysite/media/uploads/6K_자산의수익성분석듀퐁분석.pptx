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5081" r:id="rId1"/>
  </p:sldMasterIdLst>
  <p:notesMasterIdLst>
    <p:notesMasterId r:id="rId10"/>
  </p:notesMasterIdLst>
  <p:handoutMasterIdLst>
    <p:handoutMasterId r:id="rId11"/>
  </p:handoutMasterIdLst>
  <p:sldIdLst>
    <p:sldId id="1457" r:id="rId2"/>
    <p:sldId id="1458" r:id="rId3"/>
    <p:sldId id="1459" r:id="rId4"/>
    <p:sldId id="1460" r:id="rId5"/>
    <p:sldId id="1461" r:id="rId6"/>
    <p:sldId id="1462" r:id="rId7"/>
    <p:sldId id="1463" r:id="rId8"/>
    <p:sldId id="1464" r:id="rId9"/>
  </p:sldIdLst>
  <p:sldSz cx="9144000" cy="5143500" type="screen16x9"/>
  <p:notesSz cx="6735763" cy="9866313"/>
  <p:embeddedFontLst>
    <p:embeddedFont>
      <p:font typeface="나눔바른고딕" panose="020B0600000101010101" charset="-127"/>
      <p:regular r:id="rId12"/>
      <p:bold r:id="rId13"/>
    </p:embeddedFont>
    <p:embeddedFont>
      <p:font typeface="Cambria Math" panose="02040503050406030204" pitchFamily="18" charset="0"/>
      <p:regular r:id="rId14"/>
    </p:embeddedFont>
    <p:embeddedFont>
      <p:font typeface="나눔고딕" pitchFamily="2" charset="-127"/>
      <p:regular r:id="rId15"/>
      <p:bold r:id="rId16"/>
    </p:embeddedFont>
  </p:embeddedFontLst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7" orient="horz" pos="395" userDrawn="1">
          <p15:clr>
            <a:srgbClr val="A4A3A4"/>
          </p15:clr>
        </p15:guide>
        <p15:guide id="45" orient="horz" pos="577" userDrawn="1">
          <p15:clr>
            <a:srgbClr val="A4A3A4"/>
          </p15:clr>
        </p15:guide>
        <p15:guide id="49" orient="horz" pos="713" userDrawn="1">
          <p15:clr>
            <a:srgbClr val="A4A3A4"/>
          </p15:clr>
        </p15:guide>
        <p15:guide id="50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CAFF"/>
    <a:srgbClr val="91ADFF"/>
    <a:srgbClr val="FF3300"/>
    <a:srgbClr val="8B5DD9"/>
    <a:srgbClr val="673BB7"/>
    <a:srgbClr val="218BFF"/>
    <a:srgbClr val="4527A1"/>
    <a:srgbClr val="00645F"/>
    <a:srgbClr val="00C0A0"/>
    <a:srgbClr val="00A1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96" autoAdjust="0"/>
    <p:restoredTop sz="94756" autoAdjust="0"/>
  </p:normalViewPr>
  <p:slideViewPr>
    <p:cSldViewPr>
      <p:cViewPr varScale="1">
        <p:scale>
          <a:sx n="96" d="100"/>
          <a:sy n="96" d="100"/>
        </p:scale>
        <p:origin x="869" y="91"/>
      </p:cViewPr>
      <p:guideLst>
        <p:guide orient="horz" pos="395"/>
        <p:guide orient="horz" pos="577"/>
        <p:guide orient="horz" pos="713"/>
        <p:guide pos="288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120" y="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2024-10-06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A127A71-4278-454A-B20A-239BAC3E84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0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FAE5FD-287A-4DCC-94A4-9D28B66F18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8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3D9466-BB4C-408A-B309-AFC79B0E8A17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6FEB3A-5702-4478-B6A4-D8F5ECA56838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5BB67F9-25B4-4748-BCB2-4F8E7D0E2DD9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E07E710-DA50-44D7-98B7-3B858DE1E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74A494B-ACC8-4974-990E-AE275BBFEF48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EE135E5-6BDA-49BA-BA7F-9451CADBBE23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B851AE-C349-42C6-AB5B-682582C6637B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A61DC06-D50A-453E-93B2-9BEC30E327ED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79BCBD-9F7F-4ADC-B2BB-FBCF03C54322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C90F2A-3E39-407A-9069-45DD1FB7D871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A956BB-5771-4553-B13E-1E71490C76F2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0B9687-547F-45C2-8540-360F2F7BA86B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407C5BD-22B9-4E2C-B9CA-C3A88BB62E91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7E8FEC-0C83-450E-B519-ED269F611B99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F078189-E883-43CA-A6A2-E3CFDB98FF2A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6447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97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A8C4361-DE38-4B27-9BF7-2004C17110D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5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04267F-1C34-4546-B38C-836557DA02D1}"/>
              </a:ext>
            </a:extLst>
          </p:cNvPr>
          <p:cNvSpPr/>
          <p:nvPr userDrawn="1"/>
        </p:nvSpPr>
        <p:spPr bwMode="auto">
          <a:xfrm>
            <a:off x="8317728" y="-884634"/>
            <a:ext cx="826272" cy="826272"/>
          </a:xfrm>
          <a:prstGeom prst="rect">
            <a:avLst/>
          </a:prstGeom>
          <a:solidFill>
            <a:srgbClr val="F8E618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원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D53DEAF-2726-4223-9403-9BCD32387EF0}"/>
              </a:ext>
            </a:extLst>
          </p:cNvPr>
          <p:cNvSpPr/>
          <p:nvPr userDrawn="1"/>
        </p:nvSpPr>
        <p:spPr bwMode="auto">
          <a:xfrm>
            <a:off x="7452320" y="-884634"/>
            <a:ext cx="826272" cy="826272"/>
          </a:xfrm>
          <a:prstGeom prst="rect">
            <a:avLst/>
          </a:prstGeom>
          <a:solidFill>
            <a:srgbClr val="0070C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사각형</a:t>
            </a:r>
            <a:r>
              <a:rPr lang="ko-KR" altLang="en-US" sz="1200" b="1" baseline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안쪽 텍스트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06B396E-78F6-46D9-A8F1-9EE1D2142B77}"/>
              </a:ext>
            </a:extLst>
          </p:cNvPr>
          <p:cNvSpPr/>
          <p:nvPr userDrawn="1"/>
        </p:nvSpPr>
        <p:spPr bwMode="auto">
          <a:xfrm>
            <a:off x="6588224" y="-884634"/>
            <a:ext cx="826272" cy="826272"/>
          </a:xfrm>
          <a:prstGeom prst="rect">
            <a:avLst/>
          </a:prstGeom>
          <a:solidFill>
            <a:srgbClr val="FF330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r>
              <a:rPr lang="ko-KR" altLang="en-US" sz="1200" b="1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일반</a:t>
            </a:r>
            <a:endParaRPr lang="en-US" altLang="ko-KR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algn="ctr"/>
            <a:r>
              <a:rPr lang="ko-KR" altLang="en-US" sz="1200" b="1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강조색</a:t>
            </a:r>
            <a:endParaRPr lang="ko-KR" altLang="en-US" sz="12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96CC06E-7686-447F-9A5B-99DFFFABCA4D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 w="38100">
            <a:noFill/>
          </a:ln>
          <a:effectLst>
            <a:outerShdw blurRad="50800" dist="38100" dir="5400000" algn="t" rotWithShape="0">
              <a:schemeClr val="bg1">
                <a:lumMod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744139" fontAlgn="auto">
              <a:spcBef>
                <a:spcPts val="488"/>
              </a:spcBef>
              <a:spcAft>
                <a:spcPts val="814"/>
              </a:spcAft>
              <a:buClr>
                <a:prstClr val="white">
                  <a:lumMod val="50000"/>
                </a:prstClr>
              </a:buClr>
            </a:pPr>
            <a:endParaRPr kumimoji="0" lang="ko-KR" altLang="en-US" sz="1800" spc="-122" dirty="0">
              <a:ln>
                <a:solidFill>
                  <a:srgbClr val="E2E2E2">
                    <a:alpha val="0"/>
                  </a:srgbClr>
                </a:solidFill>
              </a:ln>
              <a:solidFill>
                <a:prstClr val="black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030707-3C6D-4AAD-A29F-EE3505B1104A}"/>
              </a:ext>
            </a:extLst>
          </p:cNvPr>
          <p:cNvSpPr/>
          <p:nvPr userDrawn="1"/>
        </p:nvSpPr>
        <p:spPr bwMode="auto">
          <a:xfrm>
            <a:off x="-5734" y="-536469"/>
            <a:ext cx="466409" cy="466409"/>
          </a:xfrm>
          <a:prstGeom prst="rect">
            <a:avLst/>
          </a:prstGeom>
          <a:solidFill>
            <a:srgbClr val="4527A1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2EB5E4E-D0FC-4A5D-BBC0-A1D3F1526664}"/>
              </a:ext>
            </a:extLst>
          </p:cNvPr>
          <p:cNvSpPr/>
          <p:nvPr userDrawn="1"/>
        </p:nvSpPr>
        <p:spPr bwMode="auto">
          <a:xfrm>
            <a:off x="591972" y="-536469"/>
            <a:ext cx="466409" cy="466409"/>
          </a:xfrm>
          <a:prstGeom prst="rect">
            <a:avLst/>
          </a:prstGeom>
          <a:solidFill>
            <a:srgbClr val="673BB7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94BDDE-62D5-4AA6-B176-C08321660FA7}"/>
              </a:ext>
            </a:extLst>
          </p:cNvPr>
          <p:cNvSpPr/>
          <p:nvPr userDrawn="1"/>
        </p:nvSpPr>
        <p:spPr bwMode="auto">
          <a:xfrm>
            <a:off x="1189678" y="-536469"/>
            <a:ext cx="466409" cy="466409"/>
          </a:xfrm>
          <a:prstGeom prst="rect">
            <a:avLst/>
          </a:prstGeom>
          <a:solidFill>
            <a:srgbClr val="8B5DD9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FC27529-05AC-478F-8C95-A270FB72DE6C}"/>
              </a:ext>
            </a:extLst>
          </p:cNvPr>
          <p:cNvSpPr/>
          <p:nvPr userDrawn="1"/>
        </p:nvSpPr>
        <p:spPr bwMode="auto">
          <a:xfrm>
            <a:off x="4178208" y="-536469"/>
            <a:ext cx="466409" cy="466409"/>
          </a:xfrm>
          <a:prstGeom prst="rect">
            <a:avLst/>
          </a:prstGeom>
          <a:solidFill>
            <a:srgbClr val="218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112122B-50F1-4745-8622-05584125BA3F}"/>
              </a:ext>
            </a:extLst>
          </p:cNvPr>
          <p:cNvSpPr/>
          <p:nvPr userDrawn="1"/>
        </p:nvSpPr>
        <p:spPr bwMode="auto">
          <a:xfrm>
            <a:off x="1787384" y="-536469"/>
            <a:ext cx="466409" cy="466409"/>
          </a:xfrm>
          <a:prstGeom prst="rect">
            <a:avLst/>
          </a:prstGeom>
          <a:solidFill>
            <a:srgbClr val="A282D4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C60CA21-7432-4445-BE8C-6FD43D3D7F1D}"/>
              </a:ext>
            </a:extLst>
          </p:cNvPr>
          <p:cNvSpPr/>
          <p:nvPr userDrawn="1"/>
        </p:nvSpPr>
        <p:spPr bwMode="auto">
          <a:xfrm>
            <a:off x="4775914" y="-536469"/>
            <a:ext cx="466409" cy="466409"/>
          </a:xfrm>
          <a:prstGeom prst="rect">
            <a:avLst/>
          </a:prstGeom>
          <a:solidFill>
            <a:srgbClr val="215B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D21520-97CB-4C21-8053-A02EDAC81930}"/>
              </a:ext>
            </a:extLst>
          </p:cNvPr>
          <p:cNvSpPr/>
          <p:nvPr userDrawn="1"/>
        </p:nvSpPr>
        <p:spPr bwMode="auto">
          <a:xfrm>
            <a:off x="5373620" y="-536469"/>
            <a:ext cx="466409" cy="466409"/>
          </a:xfrm>
          <a:prstGeom prst="rect">
            <a:avLst/>
          </a:prstGeom>
          <a:solidFill>
            <a:srgbClr val="5D87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25E2EED-C4FD-40CE-86A4-1B343D54C2BD}"/>
              </a:ext>
            </a:extLst>
          </p:cNvPr>
          <p:cNvSpPr/>
          <p:nvPr userDrawn="1"/>
        </p:nvSpPr>
        <p:spPr bwMode="auto">
          <a:xfrm>
            <a:off x="3580502" y="-536469"/>
            <a:ext cx="466409" cy="466409"/>
          </a:xfrm>
          <a:prstGeom prst="rect">
            <a:avLst/>
          </a:prstGeom>
          <a:solidFill>
            <a:srgbClr val="67C1B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AC0B731-3434-4985-8F75-6A2B8C4A9513}"/>
              </a:ext>
            </a:extLst>
          </p:cNvPr>
          <p:cNvSpPr/>
          <p:nvPr userDrawn="1"/>
        </p:nvSpPr>
        <p:spPr bwMode="auto">
          <a:xfrm>
            <a:off x="5971325" y="-536469"/>
            <a:ext cx="466409" cy="466409"/>
          </a:xfrm>
          <a:prstGeom prst="rect">
            <a:avLst/>
          </a:prstGeom>
          <a:solidFill>
            <a:srgbClr val="91ADFF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34DB4F-1724-4ECB-9BA5-8872477F31FD}"/>
              </a:ext>
            </a:extLst>
          </p:cNvPr>
          <p:cNvSpPr/>
          <p:nvPr userDrawn="1"/>
        </p:nvSpPr>
        <p:spPr bwMode="auto">
          <a:xfrm>
            <a:off x="2385090" y="-536469"/>
            <a:ext cx="466409" cy="466409"/>
          </a:xfrm>
          <a:prstGeom prst="rect">
            <a:avLst/>
          </a:prstGeom>
          <a:solidFill>
            <a:srgbClr val="00A19A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sz="1800" b="1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E08EE-E8F2-498E-A322-A8A55C2CE63D}"/>
              </a:ext>
            </a:extLst>
          </p:cNvPr>
          <p:cNvSpPr/>
          <p:nvPr userDrawn="1"/>
        </p:nvSpPr>
        <p:spPr bwMode="auto">
          <a:xfrm>
            <a:off x="2982796" y="-536469"/>
            <a:ext cx="466409" cy="466409"/>
          </a:xfrm>
          <a:prstGeom prst="rect">
            <a:avLst/>
          </a:prstGeom>
          <a:solidFill>
            <a:srgbClr val="00C0A0"/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ctr"/>
            <a:endParaRPr lang="ko-KR" altLang="en-US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0F5253E-8BFF-4425-9049-DC1E595CC1F2}"/>
              </a:ext>
            </a:extLst>
          </p:cNvPr>
          <p:cNvGrpSpPr/>
          <p:nvPr userDrawn="1"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3A64F86-940E-4BF7-8CFE-0CD91DA6546A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D96D1650-7DF9-4A3C-AE15-93F8313D8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BF3E607-3C51-46E3-B65F-B1032BD1ABC7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A7460B-9940-4FF6-8FD1-1FA2EC485E36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경영전략의 의미</a:t>
              </a:r>
              <a:endParaRPr lang="en-US" altLang="ko-KR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itchFamily="50" charset="-127"/>
                <a:ea typeface="나눔바른고딕" pitchFamily="50" charset="-127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6C475E5-2116-402E-B0EF-AA9F67D73153}"/>
              </a:ext>
            </a:extLst>
          </p:cNvPr>
          <p:cNvGrpSpPr/>
          <p:nvPr userDrawn="1"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D2C70D9-906D-4E59-84F1-BB6F12A3E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38" name="텍스트 개체 틀 7">
              <a:extLst>
                <a:ext uri="{FF2B5EF4-FFF2-40B4-BE49-F238E27FC236}">
                  <a16:creationId xmlns:a16="http://schemas.microsoft.com/office/drawing/2014/main" id="{0FEDE636-6708-4786-9FD4-9CBEE425283E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전략이란</a:t>
              </a:r>
              <a:endParaRPr lang="en-US" altLang="ko-KR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440BAB6-9C99-42FA-AF08-2A23B6473B55}"/>
              </a:ext>
            </a:extLst>
          </p:cNvPr>
          <p:cNvGrpSpPr/>
          <p:nvPr userDrawn="1"/>
        </p:nvGrpSpPr>
        <p:grpSpPr>
          <a:xfrm>
            <a:off x="1001439" y="1481677"/>
            <a:ext cx="5226324" cy="707785"/>
            <a:chOff x="1001439" y="1481677"/>
            <a:chExt cx="5226324" cy="707785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AC77D564-D701-487B-9ED1-A5E80F459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41" name="텍스트 개체 틀 7">
              <a:extLst>
                <a:ext uri="{FF2B5EF4-FFF2-40B4-BE49-F238E27FC236}">
                  <a16:creationId xmlns:a16="http://schemas.microsoft.com/office/drawing/2014/main" id="{3565DC71-9B60-4CEF-9E8D-2DC383DD463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032853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일반 경영자가 전략 수립을 위해 관계를 창출해야 하는 요소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19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2" r:id="rId1"/>
    <p:sldLayoutId id="2147485083" r:id="rId2"/>
    <p:sldLayoutId id="2147485084" r:id="rId3"/>
    <p:sldLayoutId id="2147485085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72">
          <p15:clr>
            <a:srgbClr val="F26B43"/>
          </p15:clr>
        </p15:guide>
        <p15:guide id="2" pos="204">
          <p15:clr>
            <a:srgbClr val="F26B43"/>
          </p15:clr>
        </p15:guide>
        <p15:guide id="3" pos="295">
          <p15:clr>
            <a:srgbClr val="F26B43"/>
          </p15:clr>
        </p15:guide>
        <p15:guide id="4" pos="5511">
          <p15:clr>
            <a:srgbClr val="F26B43"/>
          </p15:clr>
        </p15:guide>
        <p15:guide id="5" orient="horz" pos="577">
          <p15:clr>
            <a:srgbClr val="F26B43"/>
          </p15:clr>
        </p15:guide>
        <p15:guide id="6" orient="horz" pos="985" userDrawn="1">
          <p15:clr>
            <a:srgbClr val="F26B43"/>
          </p15:clr>
        </p15:guide>
        <p15:guide id="7" pos="3900">
          <p15:clr>
            <a:srgbClr val="F26B43"/>
          </p15:clr>
        </p15:guide>
        <p15:guide id="8" pos="408">
          <p15:clr>
            <a:srgbClr val="F26B43"/>
          </p15:clr>
        </p15:guide>
        <p15:guide id="9" pos="486">
          <p15:clr>
            <a:srgbClr val="F26B43"/>
          </p15:clr>
        </p15:guide>
        <p15:guide id="10" pos="612">
          <p15:clr>
            <a:srgbClr val="F26B43"/>
          </p15:clr>
        </p15:guide>
        <p15:guide id="11" pos="788">
          <p15:clr>
            <a:srgbClr val="F26B43"/>
          </p15:clr>
        </p15:guide>
        <p15:guide id="12" orient="horz" pos="715">
          <p15:clr>
            <a:srgbClr val="F26B43"/>
          </p15:clr>
        </p15:guide>
        <p15:guide id="13" orient="horz" pos="3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</a:t>
            </a:r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자산 수익성분석의 의의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자산 수익성이란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같은 규모의 이익이라도 얼마를 투자해서 낸 이익인지에 따라 평가는 다름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BE542D-8F74-45EE-9FF1-EDA43CC1E807}"/>
              </a:ext>
            </a:extLst>
          </p:cNvPr>
          <p:cNvGrpSpPr/>
          <p:nvPr/>
        </p:nvGrpSpPr>
        <p:grpSpPr>
          <a:xfrm>
            <a:off x="971550" y="2211710"/>
            <a:ext cx="5370761" cy="400009"/>
            <a:chOff x="1001439" y="1481677"/>
            <a:chExt cx="5370761" cy="400009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9248DB8-778C-477F-BE4C-7321624C1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32E8F94-B18F-4B36-8D65-EB4B2EAD6A0B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수익성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을 매출액 대신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자산과 비교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하여 평가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918623-97EE-4433-9BB1-94ED1C3324F9}"/>
              </a:ext>
            </a:extLst>
          </p:cNvPr>
          <p:cNvGrpSpPr/>
          <p:nvPr/>
        </p:nvGrpSpPr>
        <p:grpSpPr>
          <a:xfrm>
            <a:off x="971550" y="2643758"/>
            <a:ext cx="5476189" cy="400009"/>
            <a:chOff x="1001439" y="1481677"/>
            <a:chExt cx="5476189" cy="400009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CE9D283-516F-4B71-9234-924FF9E98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FB92D9CC-199A-427F-89F4-80C54DAAAF6A}"/>
                </a:ext>
              </a:extLst>
            </p:cNvPr>
            <p:cNvSpPr txBox="1">
              <a:spLocks/>
            </p:cNvSpPr>
            <p:nvPr/>
          </p:nvSpPr>
          <p:spPr>
            <a:xfrm>
              <a:off x="1194909" y="1481677"/>
              <a:ext cx="5282719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자산이 수익 창출에 얼마나 기여했는지를 측정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244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자산 수익성분석 비율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자기자본수익률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(ROE) 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자기자본이익률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자기자본순이익률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ROE(Return on Equity)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BE542D-8F74-45EE-9FF1-EDA43CC1E807}"/>
              </a:ext>
            </a:extLst>
          </p:cNvPr>
          <p:cNvGrpSpPr/>
          <p:nvPr/>
        </p:nvGrpSpPr>
        <p:grpSpPr>
          <a:xfrm>
            <a:off x="971550" y="2211710"/>
            <a:ext cx="5370761" cy="707785"/>
            <a:chOff x="1001439" y="1481677"/>
            <a:chExt cx="5370761" cy="70778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9248DB8-778C-477F-BE4C-7321624C1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32E8F94-B18F-4B36-8D65-EB4B2EAD6A0B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자기자본을 사용해서 영업활동을 통해 어느 정도 이익을 올리고 있는가를 나타내는 지표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918623-97EE-4433-9BB1-94ED1C3324F9}"/>
              </a:ext>
            </a:extLst>
          </p:cNvPr>
          <p:cNvGrpSpPr/>
          <p:nvPr/>
        </p:nvGrpSpPr>
        <p:grpSpPr>
          <a:xfrm>
            <a:off x="971550" y="2931790"/>
            <a:ext cx="5476189" cy="707785"/>
            <a:chOff x="1001439" y="1481677"/>
            <a:chExt cx="5476189" cy="707785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CE9D283-516F-4B71-9234-924FF9E98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FB92D9CC-199A-427F-89F4-80C54DAAAF6A}"/>
                </a:ext>
              </a:extLst>
            </p:cNvPr>
            <p:cNvSpPr txBox="1">
              <a:spLocks/>
            </p:cNvSpPr>
            <p:nvPr/>
          </p:nvSpPr>
          <p:spPr>
            <a:xfrm>
              <a:off x="1194909" y="1481677"/>
              <a:ext cx="5282719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효율적인 영업활동으로 이익을 많이 내면 주가가 높게 형성됨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-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주식투자 지표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355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자산 수익성분석 비율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자기자본수익률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(ROE) 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자기자본수익률이 시중금리보다 높아야 투자의 의미가 있음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BE542D-8F74-45EE-9FF1-EDA43CC1E807}"/>
              </a:ext>
            </a:extLst>
          </p:cNvPr>
          <p:cNvGrpSpPr/>
          <p:nvPr/>
        </p:nvGrpSpPr>
        <p:grpSpPr>
          <a:xfrm>
            <a:off x="971550" y="2211710"/>
            <a:ext cx="5370761" cy="707785"/>
            <a:chOff x="1001439" y="1481677"/>
            <a:chExt cx="5370761" cy="70778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9248DB8-778C-477F-BE4C-7321624C1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32E8F94-B18F-4B36-8D65-EB4B2EAD6A0B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같은 자본으로 이익을 내더라도 부채를 많이 사용하면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레버리지효과로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ROE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높아짐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918623-97EE-4433-9BB1-94ED1C3324F9}"/>
              </a:ext>
            </a:extLst>
          </p:cNvPr>
          <p:cNvGrpSpPr/>
          <p:nvPr/>
        </p:nvGrpSpPr>
        <p:grpSpPr>
          <a:xfrm>
            <a:off x="971550" y="2931790"/>
            <a:ext cx="5476189" cy="707785"/>
            <a:chOff x="1001439" y="1481677"/>
            <a:chExt cx="5476189" cy="707785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CE9D283-516F-4B71-9234-924FF9E98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FB92D9CC-199A-427F-89F4-80C54DAAAF6A}"/>
                </a:ext>
              </a:extLst>
            </p:cNvPr>
            <p:cNvSpPr txBox="1">
              <a:spLocks/>
            </p:cNvSpPr>
            <p:nvPr/>
          </p:nvSpPr>
          <p:spPr>
            <a:xfrm>
              <a:off x="1194909" y="1481677"/>
              <a:ext cx="5282719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그러나 손해가 날 경우 레버리지 효과로 손해가 더 커짐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75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</a:t>
            </a:r>
          </a:p>
          <a:p>
            <a:pPr algn="l"/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자산 수익성분석 비율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총자산수익률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(ROA) 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총자산이익률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총자산순이익률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ROA(Return on Asset)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BE542D-8F74-45EE-9FF1-EDA43CC1E807}"/>
              </a:ext>
            </a:extLst>
          </p:cNvPr>
          <p:cNvGrpSpPr/>
          <p:nvPr/>
        </p:nvGrpSpPr>
        <p:grpSpPr>
          <a:xfrm>
            <a:off x="971550" y="2211710"/>
            <a:ext cx="5370761" cy="707785"/>
            <a:chOff x="1001439" y="1481677"/>
            <a:chExt cx="5370761" cy="70778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9248DB8-778C-477F-BE4C-7321624C1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A32E8F94-B18F-4B36-8D65-EB4B2EAD6A0B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기업이 총자산에서 얼마나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당기순순익을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올렸는지 가늠하는 지표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918623-97EE-4433-9BB1-94ED1C3324F9}"/>
              </a:ext>
            </a:extLst>
          </p:cNvPr>
          <p:cNvGrpSpPr/>
          <p:nvPr/>
        </p:nvGrpSpPr>
        <p:grpSpPr>
          <a:xfrm>
            <a:off x="971550" y="2931790"/>
            <a:ext cx="5476189" cy="400009"/>
            <a:chOff x="1001439" y="1481677"/>
            <a:chExt cx="5476189" cy="400009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CE9D283-516F-4B71-9234-924FF9E98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FB92D9CC-199A-427F-89F4-80C54DAAAF6A}"/>
                </a:ext>
              </a:extLst>
            </p:cNvPr>
            <p:cNvSpPr txBox="1">
              <a:spLocks/>
            </p:cNvSpPr>
            <p:nvPr/>
          </p:nvSpPr>
          <p:spPr>
            <a:xfrm>
              <a:off x="1194909" y="1481677"/>
              <a:ext cx="5282719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=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+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자본이므로 총자본수익률이라고 함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406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</a:t>
            </a:r>
          </a:p>
          <a:p>
            <a:pPr algn="l"/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자산 수익성분석 비율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총자산수익률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(ROA) 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당기순이익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3300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총자산수익률은 자산의 회전율을 높이거나 매출수익성을 높이면 올라감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텍스트 개체 틀 7">
                <a:extLst>
                  <a:ext uri="{FF2B5EF4-FFF2-40B4-BE49-F238E27FC236}">
                    <a16:creationId xmlns:a16="http://schemas.microsoft.com/office/drawing/2014/main" id="{A32E8F94-B18F-4B36-8D65-EB4B2EAD6A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5021" y="2211710"/>
                <a:ext cx="5026229" cy="731702"/>
              </a:xfrm>
              <a:prstGeom prst="rect">
                <a:avLst/>
              </a:prstGeom>
              <a:solidFill>
                <a:srgbClr val="B7CA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342" tIns="45670" rIns="91342" bIns="45670">
                <a:spAutoFit/>
              </a:bodyPr>
              <a:lstStyle>
                <a:defPPr>
                  <a:defRPr lang="ko-KR"/>
                </a:defPPr>
                <a:lvl1pPr indent="0" defTabSz="914126" fontAlgn="base" latinLnBrk="0">
                  <a:spcBef>
                    <a:spcPts val="700"/>
                  </a:spcBef>
                  <a:spcAft>
                    <a:spcPts val="0"/>
                  </a:spcAft>
                  <a:buFont typeface="Wingdings" panose="05000000000000000000" pitchFamily="2" charset="2"/>
                  <a:buNone/>
                  <a:defRPr kumimoji="1" b="1" spc="100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defRPr>
                </a:lvl1pPr>
              </a:lstStyle>
              <a:p>
                <a:pPr algn="l">
                  <a:buClr>
                    <a:schemeClr val="tx1">
                      <a:lumMod val="65000"/>
                      <a:lumOff val="3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0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총자산수익률</m:t>
                      </m:r>
                      <m:r>
                        <a:rPr lang="en-US" altLang="ko-KR" sz="20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fPr>
                        <m:num>
                          <m:r>
                            <a:rPr lang="ko-KR" altLang="en-US" sz="20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매출액</m:t>
                          </m:r>
                        </m:num>
                        <m:den>
                          <m:r>
                            <a:rPr lang="ko-KR" altLang="en-US" sz="20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총자산</m:t>
                          </m:r>
                        </m:den>
                      </m:f>
                      <m:r>
                        <a:rPr lang="en-US" altLang="ko-KR" sz="20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×</m:t>
                      </m:r>
                      <m:f>
                        <m:fPr>
                          <m:ctrlPr>
                            <a:rPr lang="en-US" altLang="ko-KR" sz="20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fPr>
                        <m:num>
                          <m:r>
                            <a:rPr lang="ko-KR" altLang="en-US" sz="2000" b="0" i="1" spc="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당기순이익</m:t>
                          </m:r>
                        </m:num>
                        <m:den>
                          <m:r>
                            <a:rPr lang="ko-KR" altLang="en-US" sz="20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매출액</m:t>
                          </m:r>
                        </m:den>
                      </m:f>
                    </m:oMath>
                  </m:oMathPara>
                </a14:m>
                <a:endParaRPr lang="en-US" altLang="ko-KR" sz="2000" b="0" i="1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27" name="텍스트 개체 틀 7">
                <a:extLst>
                  <a:ext uri="{FF2B5EF4-FFF2-40B4-BE49-F238E27FC236}">
                    <a16:creationId xmlns:a16="http://schemas.microsoft.com/office/drawing/2014/main" id="{A32E8F94-B18F-4B36-8D65-EB4B2EAD6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21" y="2211710"/>
                <a:ext cx="5026229" cy="7317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67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</a:t>
            </a:r>
          </a:p>
          <a:p>
            <a:pPr algn="l"/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자산 수익성분석 비율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총자산영업이익률 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영업이익 </a:t>
              </a:r>
              <a:r>
                <a:rPr lang="en-US" altLang="ko-KR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÷ </a:t>
              </a:r>
              <a:r>
                <a:rPr lang="ko-KR" altLang="en-US" sz="200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총자산을 활용하여 얼마만큼 영업이익을 만들어 냈는지를 나타내는 지표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3918623-97EE-4433-9BB1-94ED1C3324F9}"/>
              </a:ext>
            </a:extLst>
          </p:cNvPr>
          <p:cNvGrpSpPr/>
          <p:nvPr/>
        </p:nvGrpSpPr>
        <p:grpSpPr>
          <a:xfrm>
            <a:off x="971550" y="2643758"/>
            <a:ext cx="6696794" cy="1195098"/>
            <a:chOff x="1001439" y="1481677"/>
            <a:chExt cx="6696794" cy="1195098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DCE9D283-516F-4B71-9234-924FF9E98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FB92D9CC-199A-427F-89F4-80C54DAAAF6A}"/>
                </a:ext>
              </a:extLst>
            </p:cNvPr>
            <p:cNvSpPr txBox="1">
              <a:spLocks/>
            </p:cNvSpPr>
            <p:nvPr/>
          </p:nvSpPr>
          <p:spPr>
            <a:xfrm>
              <a:off x="1194909" y="1481677"/>
              <a:ext cx="6503324" cy="11950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&lt;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참고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&gt;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자산의 구성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부채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이자지급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 +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자본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배당금지급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           이자와 배당금을 영업이익으로 지불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            총자산 대비 영업이익을 비교하는 것이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유의미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8735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</a:t>
            </a:r>
          </a:p>
          <a:p>
            <a:pPr algn="l"/>
            <a:endParaRPr lang="ko-KR" altLang="en-US" sz="24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듀퐁분석</a:t>
              </a:r>
              <a:endParaRPr lang="ko-KR" altLang="en-US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itchFamily="50" charset="-127"/>
                <a:ea typeface="나눔바른고딕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듀퐁분석이란</a:t>
              </a:r>
              <a:endParaRPr lang="ko-KR" altLang="en-US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E303A3D-C0BF-4E0A-AD90-3655C3418C95}"/>
              </a:ext>
            </a:extLst>
          </p:cNvPr>
          <p:cNvGrpSpPr/>
          <p:nvPr/>
        </p:nvGrpSpPr>
        <p:grpSpPr>
          <a:xfrm>
            <a:off x="971459" y="1481677"/>
            <a:ext cx="5370761" cy="707785"/>
            <a:chOff x="1001439" y="1481677"/>
            <a:chExt cx="5370761" cy="707785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B8375CD8-9A47-47C1-978F-F37FB76D5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439" y="1649508"/>
              <a:ext cx="181778" cy="48475"/>
            </a:xfrm>
            <a:prstGeom prst="rect">
              <a:avLst/>
            </a:prstGeom>
          </p:spPr>
        </p:pic>
        <p:sp>
          <p:nvSpPr>
            <p:cNvPr id="26" name="텍스트 개체 틀 7">
              <a:extLst>
                <a:ext uri="{FF2B5EF4-FFF2-40B4-BE49-F238E27FC236}">
                  <a16:creationId xmlns:a16="http://schemas.microsoft.com/office/drawing/2014/main" id="{7D0F74E4-38A5-49D8-86E3-D333392DD85F}"/>
                </a:ext>
              </a:extLst>
            </p:cNvPr>
            <p:cNvSpPr txBox="1">
              <a:spLocks/>
            </p:cNvSpPr>
            <p:nvPr/>
          </p:nvSpPr>
          <p:spPr>
            <a:xfrm>
              <a:off x="1194910" y="1481677"/>
              <a:ext cx="5177290" cy="7077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schemeClr val="tx1">
                    <a:lumMod val="65000"/>
                    <a:lumOff val="35000"/>
                  </a:schemeClr>
                </a:buClr>
              </a:pP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미국의 화학회사 </a:t>
              </a:r>
              <a:r>
                <a:rPr lang="ko-KR" altLang="en-US" sz="20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듀퐁에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근무하던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Donaldson Brown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 개발한 </a:t>
              </a:r>
              <a:r>
                <a:rPr lang="en-US" altLang="ko-KR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ROE </a:t>
              </a:r>
              <a:r>
                <a:rPr lang="ko-KR" altLang="en-US" sz="20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분석 기법</a:t>
              </a:r>
              <a:endParaRPr lang="en-US" altLang="ko-KR" sz="2000" b="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텍스트 개체 틀 7">
                <a:extLst>
                  <a:ext uri="{FF2B5EF4-FFF2-40B4-BE49-F238E27FC236}">
                    <a16:creationId xmlns:a16="http://schemas.microsoft.com/office/drawing/2014/main" id="{39CF9B9B-E642-4CEF-A05C-27B4CF41F2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65021" y="2211710"/>
                <a:ext cx="5026229" cy="670532"/>
              </a:xfrm>
              <a:prstGeom prst="rect">
                <a:avLst/>
              </a:prstGeom>
              <a:solidFill>
                <a:srgbClr val="B7CA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342" tIns="45670" rIns="91342" bIns="45670">
                <a:spAutoFit/>
              </a:bodyPr>
              <a:lstStyle>
                <a:defPPr>
                  <a:defRPr lang="ko-KR"/>
                </a:defPPr>
                <a:lvl1pPr indent="0" defTabSz="914126" fontAlgn="base" latinLnBrk="0">
                  <a:spcBef>
                    <a:spcPts val="700"/>
                  </a:spcBef>
                  <a:spcAft>
                    <a:spcPts val="0"/>
                  </a:spcAft>
                  <a:buFont typeface="Wingdings" panose="05000000000000000000" pitchFamily="2" charset="2"/>
                  <a:buNone/>
                  <a:defRPr kumimoji="1" b="1" spc="100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defRPr>
                </a:lvl1pPr>
              </a:lstStyle>
              <a:p>
                <a:pPr algn="l">
                  <a:buClr>
                    <a:schemeClr val="tx1">
                      <a:lumMod val="65000"/>
                      <a:lumOff val="3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8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자기자본수익률</m:t>
                      </m:r>
                      <m:r>
                        <a:rPr lang="en-US" altLang="ko-KR" sz="18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=</m:t>
                      </m:r>
                      <m:f>
                        <m:fPr>
                          <m:ctrlPr>
                            <a:rPr lang="en-US" altLang="ko-KR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fPr>
                        <m:num>
                          <m:r>
                            <a:rPr lang="ko-KR" altLang="en-US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총자산</m:t>
                          </m:r>
                        </m:num>
                        <m:den>
                          <m:r>
                            <a:rPr lang="ko-KR" altLang="en-US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자기자본</m:t>
                          </m:r>
                        </m:den>
                      </m:f>
                      <m:r>
                        <a:rPr lang="en-US" altLang="ko-KR" sz="18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×</m:t>
                      </m:r>
                      <m:f>
                        <m:fPr>
                          <m:ctrlPr>
                            <a:rPr lang="en-US" altLang="ko-KR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fPr>
                        <m:num>
                          <m:r>
                            <a:rPr lang="ko-KR" altLang="en-US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매출액</m:t>
                          </m:r>
                        </m:num>
                        <m:den>
                          <m:r>
                            <a:rPr lang="ko-KR" altLang="en-US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총자산</m:t>
                          </m:r>
                        </m:den>
                      </m:f>
                      <m:r>
                        <a:rPr lang="en-US" altLang="ko-KR" sz="18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×</m:t>
                      </m:r>
                      <m:f>
                        <m:fPr>
                          <m:ctrlPr>
                            <a:rPr lang="en-US" altLang="ko-KR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</m:ctrlPr>
                        </m:fPr>
                        <m:num>
                          <m:r>
                            <a:rPr lang="ko-KR" altLang="en-US" sz="1800" b="0" i="1" spc="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당기순이익</m:t>
                          </m:r>
                        </m:num>
                        <m:den>
                          <m:r>
                            <a:rPr lang="ko-KR" altLang="en-US" sz="1800" b="0" i="1" spc="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나눔바른고딕" panose="020B0603020101020101" pitchFamily="50" charset="-127"/>
                            </a:rPr>
                            <m:t>매출액</m:t>
                          </m:r>
                        </m:den>
                      </m:f>
                    </m:oMath>
                  </m:oMathPara>
                </a14:m>
                <a:endParaRPr lang="en-US" altLang="ko-KR" sz="2000" b="0" i="1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32" name="텍스트 개체 틀 7">
                <a:extLst>
                  <a:ext uri="{FF2B5EF4-FFF2-40B4-BE49-F238E27FC236}">
                    <a16:creationId xmlns:a16="http://schemas.microsoft.com/office/drawing/2014/main" id="{39CF9B9B-E642-4CEF-A05C-27B4CF41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5021" y="2211710"/>
                <a:ext cx="5026229" cy="6705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033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>
            <a:extLst>
              <a:ext uri="{FF2B5EF4-FFF2-40B4-BE49-F238E27FC236}">
                <a16:creationId xmlns:a16="http://schemas.microsoft.com/office/drawing/2014/main" id="{98B68E21-90D0-4D31-B157-923C23C15EA9}"/>
              </a:ext>
            </a:extLst>
          </p:cNvPr>
          <p:cNvSpPr txBox="1"/>
          <p:nvPr/>
        </p:nvSpPr>
        <p:spPr bwMode="auto">
          <a:xfrm>
            <a:off x="611560" y="4862"/>
            <a:ext cx="504056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자산의 수익성 분석</a:t>
            </a:r>
          </a:p>
          <a:p>
            <a:pPr algn="l"/>
            <a:r>
              <a:rPr lang="ko-KR" altLang="en-US" sz="24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89F2B3A-8CF0-4362-9F87-49CBFAD67BC4}"/>
              </a:ext>
            </a:extLst>
          </p:cNvPr>
          <p:cNvGrpSpPr/>
          <p:nvPr/>
        </p:nvGrpSpPr>
        <p:grpSpPr>
          <a:xfrm>
            <a:off x="318642" y="584916"/>
            <a:ext cx="6129098" cy="430887"/>
            <a:chOff x="318642" y="584916"/>
            <a:chExt cx="6129098" cy="430887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168F83D-429A-41D3-8B33-235E199FCB80}"/>
                </a:ext>
              </a:extLst>
            </p:cNvPr>
            <p:cNvGrpSpPr/>
            <p:nvPr/>
          </p:nvGrpSpPr>
          <p:grpSpPr>
            <a:xfrm>
              <a:off x="318642" y="643765"/>
              <a:ext cx="301119" cy="308214"/>
              <a:chOff x="318642" y="643765"/>
              <a:chExt cx="301119" cy="30821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34427AA4-AE45-48B2-964F-6923F6936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0239" y="643765"/>
                <a:ext cx="297202" cy="297202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A0DDB3-FE27-45F6-BCEF-26C6DDF97991}"/>
                  </a:ext>
                </a:extLst>
              </p:cNvPr>
              <p:cNvSpPr txBox="1"/>
              <p:nvPr/>
            </p:nvSpPr>
            <p:spPr bwMode="auto">
              <a:xfrm>
                <a:off x="318642" y="644202"/>
                <a:ext cx="301119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r>
                  <a:rPr lang="en-US" altLang="ko-KR" sz="1400" b="1" dirty="0">
                    <a:ln>
                      <a:solidFill>
                        <a:srgbClr val="218BFF">
                          <a:alpha val="0"/>
                        </a:srgbClr>
                      </a:solidFill>
                    </a:ln>
                    <a:solidFill>
                      <a:srgbClr val="4B3D8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1400" b="1" dirty="0">
                  <a:ln>
                    <a:solidFill>
                      <a:srgbClr val="218BFF">
                        <a:alpha val="0"/>
                      </a:srgbClr>
                    </a:solidFill>
                  </a:ln>
                  <a:solidFill>
                    <a:srgbClr val="4B3D8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FB705C6-7B5F-4956-A561-E609BB83C2C4}"/>
                </a:ext>
              </a:extLst>
            </p:cNvPr>
            <p:cNvSpPr txBox="1"/>
            <p:nvPr/>
          </p:nvSpPr>
          <p:spPr bwMode="auto">
            <a:xfrm>
              <a:off x="628566" y="584916"/>
              <a:ext cx="5819174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2200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나눔바른고딕" pitchFamily="50" charset="-127"/>
                  <a:ea typeface="나눔바른고딕" pitchFamily="50" charset="-127"/>
                </a:rPr>
                <a:t>듀퐁분석</a:t>
              </a:r>
              <a:endParaRPr lang="ko-KR" altLang="en-US" sz="2200" b="1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나눔바른고딕" pitchFamily="50" charset="-127"/>
                <a:ea typeface="나눔바른고딕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315EB5B-38D6-4C4D-B540-825B199DC3C3}"/>
              </a:ext>
            </a:extLst>
          </p:cNvPr>
          <p:cNvGrpSpPr/>
          <p:nvPr/>
        </p:nvGrpSpPr>
        <p:grpSpPr>
          <a:xfrm>
            <a:off x="613941" y="1059509"/>
            <a:ext cx="8286159" cy="400009"/>
            <a:chOff x="613941" y="1059509"/>
            <a:chExt cx="8286159" cy="400009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A7670F00-8FA5-4113-AB23-D09FE1021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41" y="1141320"/>
              <a:ext cx="228907" cy="220582"/>
            </a:xfrm>
            <a:prstGeom prst="rect">
              <a:avLst/>
            </a:prstGeom>
          </p:spPr>
        </p:pic>
        <p:sp>
          <p:nvSpPr>
            <p:cNvPr id="19" name="텍스트 개체 틀 7">
              <a:extLst>
                <a:ext uri="{FF2B5EF4-FFF2-40B4-BE49-F238E27FC236}">
                  <a16:creationId xmlns:a16="http://schemas.microsoft.com/office/drawing/2014/main" id="{4C722A56-549B-48C6-9123-DC630D93243F}"/>
                </a:ext>
              </a:extLst>
            </p:cNvPr>
            <p:cNvSpPr txBox="1">
              <a:spLocks/>
            </p:cNvSpPr>
            <p:nvPr/>
          </p:nvSpPr>
          <p:spPr>
            <a:xfrm>
              <a:off x="835467" y="1059509"/>
              <a:ext cx="8064633" cy="400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algn="l"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200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듀퐁분석이란</a:t>
              </a:r>
              <a:endParaRPr lang="ko-KR" altLang="en-US" sz="2000" spc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텍스트 개체 틀 7">
                <a:extLst>
                  <a:ext uri="{FF2B5EF4-FFF2-40B4-BE49-F238E27FC236}">
                    <a16:creationId xmlns:a16="http://schemas.microsoft.com/office/drawing/2014/main" id="{39CF9B9B-E642-4CEF-A05C-27B4CF41F2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71550" y="1563688"/>
                <a:ext cx="5219700" cy="735998"/>
              </a:xfrm>
              <a:prstGeom prst="rect">
                <a:avLst/>
              </a:prstGeom>
              <a:solidFill>
                <a:srgbClr val="B7CA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square" lIns="91342" tIns="45670" rIns="91342" bIns="45670">
                <a:spAutoFit/>
              </a:bodyPr>
              <a:lstStyle>
                <a:defPPr>
                  <a:defRPr lang="ko-KR"/>
                </a:defPPr>
                <a:lvl1pPr indent="0" defTabSz="914126" fontAlgn="base" latinLnBrk="0">
                  <a:spcBef>
                    <a:spcPts val="700"/>
                  </a:spcBef>
                  <a:spcAft>
                    <a:spcPts val="0"/>
                  </a:spcAft>
                  <a:buFont typeface="Wingdings" panose="05000000000000000000" pitchFamily="2" charset="2"/>
                  <a:buNone/>
                  <a:defRPr kumimoji="1" b="1" spc="100">
                    <a:solidFill>
                      <a:prstClr val="black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defRPr>
                </a:lvl1pPr>
              </a:lstStyle>
              <a:p>
                <a:pPr algn="l">
                  <a:buClr>
                    <a:schemeClr val="tx1">
                      <a:lumMod val="65000"/>
                      <a:lumOff val="35000"/>
                    </a:schemeClr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800" b="0" i="1" spc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자기자본</m:t>
                      </m:r>
                      <m:r>
                        <a:rPr lang="ko-KR" altLang="en-US" sz="1800" b="0" i="1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수익률</m:t>
                      </m:r>
                      <m:r>
                        <a:rPr lang="en-US" altLang="ko-KR" sz="1800" b="0" i="1" spc="0" dirty="0" smtClean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나눔바른고딕" panose="020B0603020101020101" pitchFamily="50" charset="-127"/>
                        </a:rPr>
                        <m:t> </m:t>
                      </m:r>
                    </m:oMath>
                  </m:oMathPara>
                </a14:m>
                <a:br>
                  <a:rPr lang="en-US" altLang="ko-KR" sz="1800" b="0" spc="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</a:br>
                <a:r>
                  <a:rPr lang="en-US" altLang="ko-KR" sz="1800" b="0" spc="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  <a:t>= </a:t>
                </a:r>
                <a:r>
                  <a:rPr lang="ko-KR" altLang="en-US" sz="1800" b="0" spc="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  <a:t>레버리지 </a:t>
                </a:r>
                <a14:m>
                  <m:oMath xmlns:m="http://schemas.openxmlformats.org/officeDocument/2006/math">
                    <m:r>
                      <a:rPr lang="en-US" altLang="ko-KR" sz="1800" b="0" i="1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×</m:t>
                    </m:r>
                  </m:oMath>
                </a14:m>
                <a:r>
                  <a:rPr lang="en-US" altLang="ko-KR" sz="1800" b="0" spc="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800" b="0" spc="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  <a:t>총자산회전율 </a:t>
                </a:r>
                <a14:m>
                  <m:oMath xmlns:m="http://schemas.openxmlformats.org/officeDocument/2006/math">
                    <m:r>
                      <a:rPr lang="en-US" altLang="ko-KR" sz="1800" b="0" i="1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나눔바른고딕" panose="020B0603020101020101" pitchFamily="50" charset="-127"/>
                      </a:rPr>
                      <m:t>×</m:t>
                    </m:r>
                  </m:oMath>
                </a14:m>
                <a:r>
                  <a:rPr lang="en-US" altLang="ko-KR" sz="1800" b="0" spc="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  <a:t> </a:t>
                </a:r>
                <a:r>
                  <a:rPr lang="ko-KR" altLang="en-US" sz="1800" b="0" spc="0" dirty="0" err="1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Cambria Math" panose="02040503050406030204" pitchFamily="18" charset="0"/>
                    <a:ea typeface="나눔바른고딕" panose="020B0603020101020101" pitchFamily="50" charset="-127"/>
                  </a:rPr>
                  <a:t>매출액순이익률</a:t>
                </a:r>
                <a:endParaRPr lang="en-US" altLang="ko-KR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Cambria Math" panose="02040503050406030204" pitchFamily="18" charset="0"/>
                  <a:ea typeface="나눔바른고딕" panose="020B0603020101020101" pitchFamily="50" charset="-127"/>
                </a:endParaRPr>
              </a:p>
            </p:txBody>
          </p:sp>
        </mc:Choice>
        <mc:Fallback xmlns="">
          <p:sp>
            <p:nvSpPr>
              <p:cNvPr id="32" name="텍스트 개체 틀 7">
                <a:extLst>
                  <a:ext uri="{FF2B5EF4-FFF2-40B4-BE49-F238E27FC236}">
                    <a16:creationId xmlns:a16="http://schemas.microsoft.com/office/drawing/2014/main" id="{39CF9B9B-E642-4CEF-A05C-27B4CF41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0" y="1563688"/>
                <a:ext cx="5219700" cy="735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그룹 16">
            <a:extLst>
              <a:ext uri="{FF2B5EF4-FFF2-40B4-BE49-F238E27FC236}">
                <a16:creationId xmlns:a16="http://schemas.microsoft.com/office/drawing/2014/main" id="{EA16FC31-A5F3-40B0-9583-D40E3DDB9FBA}"/>
              </a:ext>
            </a:extLst>
          </p:cNvPr>
          <p:cNvGrpSpPr/>
          <p:nvPr/>
        </p:nvGrpSpPr>
        <p:grpSpPr>
          <a:xfrm>
            <a:off x="1106091" y="2418543"/>
            <a:ext cx="5085160" cy="646230"/>
            <a:chOff x="1106091" y="1895475"/>
            <a:chExt cx="5085160" cy="646230"/>
          </a:xfrm>
        </p:grpSpPr>
        <p:sp>
          <p:nvSpPr>
            <p:cNvPr id="27" name="텍스트 개체 틀 7">
              <a:extLst>
                <a:ext uri="{FF2B5EF4-FFF2-40B4-BE49-F238E27FC236}">
                  <a16:creationId xmlns:a16="http://schemas.microsoft.com/office/drawing/2014/main" id="{62851EFA-8A4F-43AC-BA5D-ED899A029FD8}"/>
                </a:ext>
              </a:extLst>
            </p:cNvPr>
            <p:cNvSpPr txBox="1">
              <a:spLocks/>
            </p:cNvSpPr>
            <p:nvPr/>
          </p:nvSpPr>
          <p:spPr>
            <a:xfrm>
              <a:off x="1106091" y="1895475"/>
              <a:ext cx="5085160" cy="646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358775" algn="l">
                <a:buClr>
                  <a:srgbClr val="00387F"/>
                </a:buClr>
                <a:buSzPct val="100000"/>
              </a:pP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자기자본을 </a:t>
              </a:r>
              <a:r>
                <a:rPr lang="ko-KR" altLang="en-US" sz="1800" b="0" spc="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종잣돈으로</a:t>
              </a: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자산을 구입하여 자산이 매출을 만들고 매출에서 수익이 나오는 과정 분석</a:t>
              </a: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6CCACF8-E66F-4DC2-B5CF-A25628CCE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0299" y="2010066"/>
              <a:ext cx="136877" cy="150230"/>
            </a:xfrm>
            <a:prstGeom prst="rect">
              <a:avLst/>
            </a:prstGeom>
          </p:spPr>
        </p:pic>
      </p:grpSp>
      <p:grpSp>
        <p:nvGrpSpPr>
          <p:cNvPr id="29" name="그룹 16">
            <a:extLst>
              <a:ext uri="{FF2B5EF4-FFF2-40B4-BE49-F238E27FC236}">
                <a16:creationId xmlns:a16="http://schemas.microsoft.com/office/drawing/2014/main" id="{28BC9D1C-CB50-4362-B4B8-343531736E29}"/>
              </a:ext>
            </a:extLst>
          </p:cNvPr>
          <p:cNvGrpSpPr/>
          <p:nvPr/>
        </p:nvGrpSpPr>
        <p:grpSpPr>
          <a:xfrm>
            <a:off x="1106090" y="3077648"/>
            <a:ext cx="5085160" cy="646230"/>
            <a:chOff x="1106091" y="1895475"/>
            <a:chExt cx="5085160" cy="646230"/>
          </a:xfrm>
        </p:grpSpPr>
        <p:sp>
          <p:nvSpPr>
            <p:cNvPr id="31" name="텍스트 개체 틀 7">
              <a:extLst>
                <a:ext uri="{FF2B5EF4-FFF2-40B4-BE49-F238E27FC236}">
                  <a16:creationId xmlns:a16="http://schemas.microsoft.com/office/drawing/2014/main" id="{534B5C00-D814-40C6-A515-211E80C5610C}"/>
                </a:ext>
              </a:extLst>
            </p:cNvPr>
            <p:cNvSpPr txBox="1">
              <a:spLocks/>
            </p:cNvSpPr>
            <p:nvPr/>
          </p:nvSpPr>
          <p:spPr>
            <a:xfrm>
              <a:off x="1106091" y="1895475"/>
              <a:ext cx="5085160" cy="646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342" tIns="45670" rIns="91342" bIns="45670">
              <a:spAutoFit/>
            </a:bodyPr>
            <a:lstStyle>
              <a:defPPr>
                <a:defRPr lang="ko-KR"/>
              </a:defPPr>
              <a:lvl1pPr indent="0" defTabSz="914126" fontAlgn="base" latinLnBrk="0">
                <a:spcBef>
                  <a:spcPts val="700"/>
                </a:spcBef>
                <a:spcAft>
                  <a:spcPts val="0"/>
                </a:spcAft>
                <a:buFont typeface="Wingdings" panose="05000000000000000000" pitchFamily="2" charset="2"/>
                <a:buNone/>
                <a:defRPr kumimoji="1" b="1" spc="100">
                  <a:solidFill>
                    <a:prstClr val="black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</a:lstStyle>
            <a:p>
              <a:pPr marL="358775" algn="l">
                <a:buClr>
                  <a:srgbClr val="00387F"/>
                </a:buClr>
                <a:buSzPct val="100000"/>
              </a:pPr>
              <a:r>
                <a:rPr lang="en-US" altLang="ko-KR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ROE</a:t>
              </a:r>
              <a:r>
                <a:rPr lang="ko-KR" altLang="en-US" sz="1800" b="0" spc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는 레버리지를 높이거나 총자산회전율을 높이거나 순이익률을 높여서 올릴 수 있음</a:t>
              </a: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FA28BD79-9CDE-4EC0-9D06-ECCD94C3A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0299" y="2010066"/>
              <a:ext cx="136877" cy="1502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079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theme/theme1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8100">
          <a:noFill/>
        </a:ln>
        <a:effectLst>
          <a:outerShdw blurRad="50800" dist="38100" dir="5400000" algn="t" rotWithShape="0">
            <a:schemeClr val="bg1">
              <a:lumMod val="50000"/>
              <a:alpha val="41000"/>
            </a:scheme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 defTabSz="744139" fontAlgn="auto">
          <a:spcBef>
            <a:spcPts val="488"/>
          </a:spcBef>
          <a:spcAft>
            <a:spcPts val="814"/>
          </a:spcAft>
          <a:buClr>
            <a:prstClr val="white">
              <a:lumMod val="50000"/>
            </a:prstClr>
          </a:buClr>
          <a:defRPr kumimoji="0" sz="1800" spc="-122" dirty="0">
            <a:ln>
              <a:solidFill>
                <a:srgbClr val="E2E2E2">
                  <a:alpha val="0"/>
                </a:srgbClr>
              </a:solidFill>
            </a:ln>
            <a:solidFill>
              <a:prstClr val="black"/>
            </a:solidFill>
            <a:latin typeface="나눔바른고딕" panose="020B0603020101020101" pitchFamily="50" charset="-127"/>
            <a:ea typeface="나눔바른고딕" panose="020B0603020101020101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71783</TotalTime>
  <Words>293</Words>
  <Application>Microsoft Office PowerPoint</Application>
  <PresentationFormat>화면 슬라이드 쇼(16:9)</PresentationFormat>
  <Paragraphs>56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Arial</vt:lpstr>
      <vt:lpstr>돋움</vt:lpstr>
      <vt:lpstr>나눔바른고딕</vt:lpstr>
      <vt:lpstr>나눔고딕</vt:lpstr>
      <vt:lpstr>Wingdings</vt:lpstr>
      <vt:lpstr>Cambria Math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위성백</cp:lastModifiedBy>
  <cp:revision>5832</cp:revision>
  <cp:lastPrinted>2015-05-26T08:39:57Z</cp:lastPrinted>
  <dcterms:created xsi:type="dcterms:W3CDTF">2004-07-08T01:15:15Z</dcterms:created>
  <dcterms:modified xsi:type="dcterms:W3CDTF">2024-10-06T12:50:48Z</dcterms:modified>
</cp:coreProperties>
</file>
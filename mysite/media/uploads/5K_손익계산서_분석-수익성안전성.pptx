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5081" r:id="rId1"/>
  </p:sldMasterIdLst>
  <p:notesMasterIdLst>
    <p:notesMasterId r:id="rId7"/>
  </p:notesMasterIdLst>
  <p:handoutMasterIdLst>
    <p:handoutMasterId r:id="rId8"/>
  </p:handoutMasterIdLst>
  <p:sldIdLst>
    <p:sldId id="1457" r:id="rId2"/>
    <p:sldId id="1458" r:id="rId3"/>
    <p:sldId id="1459" r:id="rId4"/>
    <p:sldId id="1460" r:id="rId5"/>
    <p:sldId id="1461" r:id="rId6"/>
  </p:sldIdLst>
  <p:sldSz cx="9144000" cy="5143500" type="screen16x9"/>
  <p:notesSz cx="6735763" cy="9866313"/>
  <p:embeddedFontLst>
    <p:embeddedFont>
      <p:font typeface="나눔바른고딕" panose="020B0600000101010101" charset="-127"/>
      <p:regular r:id="rId9"/>
      <p:bold r:id="rId10"/>
    </p:embeddedFont>
    <p:embeddedFont>
      <p:font typeface="나눔고딕" pitchFamily="2" charset="-127"/>
      <p:regular r:id="rId11"/>
      <p:bold r:id="rId12"/>
    </p:embeddedFont>
  </p:embeddedFontLst>
  <p:defaultTextStyle>
    <a:defPPr>
      <a:defRPr lang="ko-KR"/>
    </a:defPPr>
    <a:lvl1pPr algn="ctr" rtl="0" fontAlgn="base">
      <a:spcBef>
        <a:spcPct val="0"/>
      </a:spcBef>
      <a:spcAft>
        <a:spcPct val="0"/>
      </a:spcAft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1pPr>
    <a:lvl2pPr marL="389582" algn="ctr" rtl="0" fontAlgn="base">
      <a:spcBef>
        <a:spcPct val="0"/>
      </a:spcBef>
      <a:spcAft>
        <a:spcPct val="0"/>
      </a:spcAft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2pPr>
    <a:lvl3pPr marL="779163" algn="ctr" rtl="0" fontAlgn="base">
      <a:spcBef>
        <a:spcPct val="0"/>
      </a:spcBef>
      <a:spcAft>
        <a:spcPct val="0"/>
      </a:spcAft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3pPr>
    <a:lvl4pPr marL="1168745" algn="ctr" rtl="0" fontAlgn="base">
      <a:spcBef>
        <a:spcPct val="0"/>
      </a:spcBef>
      <a:spcAft>
        <a:spcPct val="0"/>
      </a:spcAft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4pPr>
    <a:lvl5pPr marL="1558326" algn="ctr" rtl="0" fontAlgn="base">
      <a:spcBef>
        <a:spcPct val="0"/>
      </a:spcBef>
      <a:spcAft>
        <a:spcPct val="0"/>
      </a:spcAft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5pPr>
    <a:lvl6pPr marL="1947908" algn="l" defTabSz="779163" rtl="0" eaLnBrk="1" latinLnBrk="1" hangingPunct="1"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6pPr>
    <a:lvl7pPr marL="2337489" algn="l" defTabSz="779163" rtl="0" eaLnBrk="1" latinLnBrk="1" hangingPunct="1"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7pPr>
    <a:lvl8pPr marL="2727071" algn="l" defTabSz="779163" rtl="0" eaLnBrk="1" latinLnBrk="1" hangingPunct="1"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8pPr>
    <a:lvl9pPr marL="3116652" algn="l" defTabSz="779163" rtl="0" eaLnBrk="1" latinLnBrk="1" hangingPunct="1"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7" orient="horz" pos="395" userDrawn="1">
          <p15:clr>
            <a:srgbClr val="A4A3A4"/>
          </p15:clr>
        </p15:guide>
        <p15:guide id="45" orient="horz" pos="577" userDrawn="1">
          <p15:clr>
            <a:srgbClr val="A4A3A4"/>
          </p15:clr>
        </p15:guide>
        <p15:guide id="49" orient="horz" pos="713" userDrawn="1">
          <p15:clr>
            <a:srgbClr val="A4A3A4"/>
          </p15:clr>
        </p15:guide>
        <p15:guide id="50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0">
          <p15:clr>
            <a:srgbClr val="A4A3A4"/>
          </p15:clr>
        </p15:guide>
        <p15:guide id="2" pos="2144">
          <p15:clr>
            <a:srgbClr val="A4A3A4"/>
          </p15:clr>
        </p15:guide>
        <p15:guide id="3" orient="horz" pos="3107">
          <p15:clr>
            <a:srgbClr val="A4A3A4"/>
          </p15:clr>
        </p15:guide>
        <p15:guide id="4" pos="212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8B5DD9"/>
    <a:srgbClr val="673BB7"/>
    <a:srgbClr val="218BFF"/>
    <a:srgbClr val="4527A1"/>
    <a:srgbClr val="00645F"/>
    <a:srgbClr val="00C0A0"/>
    <a:srgbClr val="00A19A"/>
    <a:srgbClr val="5D87FF"/>
    <a:srgbClr val="91A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2838BEF-8BB2-4498-84A7-C5851F593DF1}" styleName="보통 스타일 4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202B0CA-FC54-4496-8BCA-5EF66A818D29}" styleName="어두운 스타일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어두운 스타일 2 - 강조 1/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어두운 스타일 2 - 강조 3/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296" autoAdjust="0"/>
    <p:restoredTop sz="94756" autoAdjust="0"/>
  </p:normalViewPr>
  <p:slideViewPr>
    <p:cSldViewPr>
      <p:cViewPr varScale="1">
        <p:scale>
          <a:sx n="96" d="100"/>
          <a:sy n="96" d="100"/>
        </p:scale>
        <p:origin x="869" y="91"/>
      </p:cViewPr>
      <p:guideLst>
        <p:guide orient="horz" pos="395"/>
        <p:guide orient="horz" pos="577"/>
        <p:guide orient="horz" pos="713"/>
        <p:guide pos="2880"/>
      </p:guideLst>
    </p:cSldViewPr>
  </p:slideViewPr>
  <p:outlineViewPr>
    <p:cViewPr>
      <p:scale>
        <a:sx n="33" d="100"/>
        <a:sy n="33" d="100"/>
      </p:scale>
      <p:origin x="36" y="148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9" d="100"/>
          <a:sy n="79" d="100"/>
        </p:scale>
        <p:origin x="3120" y="96"/>
      </p:cViewPr>
      <p:guideLst>
        <p:guide orient="horz" pos="3130"/>
        <p:guide pos="2144"/>
        <p:guide orient="horz" pos="3107"/>
        <p:guide pos="212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18621" cy="493237"/>
          </a:xfrm>
          <a:prstGeom prst="rect">
            <a:avLst/>
          </a:prstGeom>
        </p:spPr>
        <p:txBody>
          <a:bodyPr vert="horz" lIns="90644" tIns="45322" rIns="90644" bIns="45322" rtlCol="0"/>
          <a:lstStyle>
            <a:lvl1pPr algn="l">
              <a:defRPr sz="1200"/>
            </a:lvl1pPr>
          </a:lstStyle>
          <a:p>
            <a:pPr>
              <a:defRPr/>
            </a:pP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15572" y="1"/>
            <a:ext cx="2918621" cy="493237"/>
          </a:xfrm>
          <a:prstGeom prst="rect">
            <a:avLst/>
          </a:prstGeom>
        </p:spPr>
        <p:txBody>
          <a:bodyPr vert="horz" lIns="90644" tIns="45322" rIns="90644" bIns="45322" rtlCol="0"/>
          <a:lstStyle>
            <a:lvl1pPr algn="r">
              <a:defRPr sz="1200"/>
            </a:lvl1pPr>
          </a:lstStyle>
          <a:p>
            <a:pPr>
              <a:defRPr/>
            </a:pPr>
            <a:fld id="{995E349A-2F5C-4CD5-9D55-29F99897CE80}" type="datetimeFigureOut"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pPr>
                <a:defRPr/>
              </a:pPr>
              <a:t>2024-10-06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371501"/>
            <a:ext cx="2918621" cy="493236"/>
          </a:xfrm>
          <a:prstGeom prst="rect">
            <a:avLst/>
          </a:prstGeom>
        </p:spPr>
        <p:txBody>
          <a:bodyPr vert="horz" lIns="90644" tIns="45322" rIns="90644" bIns="45322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15572" y="9371501"/>
            <a:ext cx="2918621" cy="493236"/>
          </a:xfrm>
          <a:prstGeom prst="rect">
            <a:avLst/>
          </a:prstGeom>
        </p:spPr>
        <p:txBody>
          <a:bodyPr vert="horz" lIns="90644" tIns="45322" rIns="90644" bIns="45322" rtlCol="0" anchor="b"/>
          <a:lstStyle>
            <a:lvl1pPr algn="r">
              <a:defRPr sz="1200"/>
            </a:lvl1pPr>
          </a:lstStyle>
          <a:p>
            <a:pPr>
              <a:defRPr/>
            </a:pPr>
            <a:fld id="{EE633E7D-3427-42F4-A51F-CFCCA527B5A1}" type="slidenum"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pPr>
                <a:defRPr/>
              </a:pPr>
              <a:t>‹#›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5196513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17051" cy="494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44" tIns="45371" rIns="90744" bIns="45371" numCol="1" anchor="t" anchorCtr="0" compatLnSpc="1">
            <a:prstTxWarp prst="textNoShape">
              <a:avLst/>
            </a:prstTxWarp>
          </a:bodyPr>
          <a:lstStyle>
            <a:lvl1pPr algn="l" latinLnBrk="1">
              <a:spcBef>
                <a:spcPct val="0"/>
              </a:spcBef>
              <a:defRPr sz="1200" b="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7142" y="1"/>
            <a:ext cx="2917051" cy="494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44" tIns="45371" rIns="90744" bIns="45371" numCol="1" anchor="t" anchorCtr="0" compatLnSpc="1">
            <a:prstTxWarp prst="textNoShape">
              <a:avLst/>
            </a:prstTxWarp>
          </a:bodyPr>
          <a:lstStyle>
            <a:lvl1pPr algn="r" latinLnBrk="1">
              <a:spcBef>
                <a:spcPct val="0"/>
              </a:spcBef>
              <a:defRPr sz="1200" b="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53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2550" y="741363"/>
            <a:ext cx="6572250" cy="36972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3891" y="4684963"/>
            <a:ext cx="5387982" cy="44407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44" tIns="45371" rIns="90744" bIns="453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</a:p>
        </p:txBody>
      </p:sp>
      <p:sp>
        <p:nvSpPr>
          <p:cNvPr id="563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69925"/>
            <a:ext cx="2917051" cy="494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44" tIns="45371" rIns="90744" bIns="45371" numCol="1" anchor="b" anchorCtr="0" compatLnSpc="1">
            <a:prstTxWarp prst="textNoShape">
              <a:avLst/>
            </a:prstTxWarp>
          </a:bodyPr>
          <a:lstStyle>
            <a:lvl1pPr algn="l" latinLnBrk="1">
              <a:spcBef>
                <a:spcPct val="0"/>
              </a:spcBef>
              <a:defRPr sz="1200" b="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63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7142" y="9369925"/>
            <a:ext cx="2917051" cy="494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44" tIns="45371" rIns="90744" bIns="45371" numCol="1" anchor="b" anchorCtr="0" compatLnSpc="1">
            <a:prstTxWarp prst="textNoShape">
              <a:avLst/>
            </a:prstTxWarp>
          </a:bodyPr>
          <a:lstStyle>
            <a:lvl1pPr algn="r" latinLnBrk="1">
              <a:spcBef>
                <a:spcPct val="0"/>
              </a:spcBef>
              <a:defRPr sz="1200" b="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>
              <a:defRPr/>
            </a:pPr>
            <a:fld id="{57F922E9-5D2F-476E-8777-0371A815ABE5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868790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0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1pPr>
    <a:lvl2pPr marL="389582" algn="l" rtl="0" eaLnBrk="0" fontAlgn="base" latinLnBrk="1" hangingPunct="0">
      <a:spcBef>
        <a:spcPct val="30000"/>
      </a:spcBef>
      <a:spcAft>
        <a:spcPct val="0"/>
      </a:spcAft>
      <a:defRPr kumimoji="1" sz="10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2pPr>
    <a:lvl3pPr marL="779163" algn="l" rtl="0" eaLnBrk="0" fontAlgn="base" latinLnBrk="1" hangingPunct="0">
      <a:spcBef>
        <a:spcPct val="30000"/>
      </a:spcBef>
      <a:spcAft>
        <a:spcPct val="0"/>
      </a:spcAft>
      <a:defRPr kumimoji="1" sz="10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3pPr>
    <a:lvl4pPr marL="1168745" algn="l" rtl="0" eaLnBrk="0" fontAlgn="base" latinLnBrk="1" hangingPunct="0">
      <a:spcBef>
        <a:spcPct val="30000"/>
      </a:spcBef>
      <a:spcAft>
        <a:spcPct val="0"/>
      </a:spcAft>
      <a:defRPr kumimoji="1" sz="10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4pPr>
    <a:lvl5pPr marL="1558326" algn="l" rtl="0" eaLnBrk="0" fontAlgn="base" latinLnBrk="1" hangingPunct="0">
      <a:spcBef>
        <a:spcPct val="30000"/>
      </a:spcBef>
      <a:spcAft>
        <a:spcPct val="0"/>
      </a:spcAft>
      <a:defRPr kumimoji="1" sz="10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5pPr>
    <a:lvl6pPr marL="1947908" algn="l" defTabSz="779163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6pPr>
    <a:lvl7pPr marL="2337489" algn="l" defTabSz="779163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7pPr>
    <a:lvl8pPr marL="2727071" algn="l" defTabSz="779163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8pPr>
    <a:lvl9pPr marL="3116652" algn="l" defTabSz="779163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A127A71-4278-454A-B20A-239BAC3E84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203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6FAE5FD-287A-4DCC-94A4-9D28B66F180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185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F63D9466-BB4C-408A-B309-AFC79B0E8A17}"/>
              </a:ext>
            </a:extLst>
          </p:cNvPr>
          <p:cNvSpPr/>
          <p:nvPr userDrawn="1"/>
        </p:nvSpPr>
        <p:spPr bwMode="auto">
          <a:xfrm>
            <a:off x="8317728" y="-884634"/>
            <a:ext cx="826272" cy="826272"/>
          </a:xfrm>
          <a:prstGeom prst="rect">
            <a:avLst/>
          </a:prstGeom>
          <a:solidFill>
            <a:srgbClr val="F8E618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r>
              <a:rPr lang="ko-KR" altLang="en-US" sz="1200" b="1" baseline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원 안쪽 텍스트</a:t>
            </a:r>
            <a:endParaRPr lang="en-US" altLang="ko-KR" sz="12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algn="ctr"/>
            <a:r>
              <a:rPr lang="ko-KR" altLang="en-US" sz="1200" b="1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강조색</a:t>
            </a:r>
            <a:endParaRPr lang="ko-KR" altLang="en-US" sz="12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D6FEB3A-5702-4478-B6A4-D8F5ECA56838}"/>
              </a:ext>
            </a:extLst>
          </p:cNvPr>
          <p:cNvSpPr/>
          <p:nvPr userDrawn="1"/>
        </p:nvSpPr>
        <p:spPr bwMode="auto">
          <a:xfrm>
            <a:off x="7452320" y="-884634"/>
            <a:ext cx="826272" cy="826272"/>
          </a:xfrm>
          <a:prstGeom prst="rect">
            <a:avLst/>
          </a:prstGeom>
          <a:solidFill>
            <a:srgbClr val="0070C0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r>
              <a:rPr lang="ko-KR" altLang="en-US" sz="1200" b="1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사각형</a:t>
            </a:r>
            <a:r>
              <a:rPr lang="ko-KR" altLang="en-US" sz="1200" b="1" baseline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안쪽 텍스트</a:t>
            </a:r>
            <a:endParaRPr lang="en-US" altLang="ko-KR" sz="12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algn="ctr"/>
            <a:r>
              <a:rPr lang="ko-KR" altLang="en-US" sz="1200" b="1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강조색</a:t>
            </a:r>
            <a:endParaRPr lang="ko-KR" altLang="en-US" sz="12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5BB67F9-25B4-4748-BCB2-4F8E7D0E2DD9}"/>
              </a:ext>
            </a:extLst>
          </p:cNvPr>
          <p:cNvSpPr/>
          <p:nvPr userDrawn="1"/>
        </p:nvSpPr>
        <p:spPr bwMode="auto">
          <a:xfrm>
            <a:off x="6588224" y="-884634"/>
            <a:ext cx="826272" cy="826272"/>
          </a:xfrm>
          <a:prstGeom prst="rect">
            <a:avLst/>
          </a:prstGeom>
          <a:solidFill>
            <a:srgbClr val="FF3300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r>
              <a:rPr lang="ko-KR" altLang="en-US" sz="1200" b="1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일반</a:t>
            </a:r>
            <a:endParaRPr lang="en-US" altLang="ko-KR" sz="12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algn="ctr"/>
            <a:r>
              <a:rPr lang="ko-KR" altLang="en-US" sz="1200" b="1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강조색</a:t>
            </a:r>
            <a:endParaRPr lang="ko-KR" altLang="en-US" sz="12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DE07E710-DA50-44D7-98B7-3B858DE1E5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774A494B-ACC8-4974-990E-AE275BBFEF48}"/>
              </a:ext>
            </a:extLst>
          </p:cNvPr>
          <p:cNvSpPr/>
          <p:nvPr userDrawn="1"/>
        </p:nvSpPr>
        <p:spPr bwMode="auto">
          <a:xfrm>
            <a:off x="-5734" y="-536469"/>
            <a:ext cx="466409" cy="466409"/>
          </a:xfrm>
          <a:prstGeom prst="rect">
            <a:avLst/>
          </a:prstGeom>
          <a:solidFill>
            <a:srgbClr val="4527A1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EE135E5-6BDA-49BA-BA7F-9451CADBBE23}"/>
              </a:ext>
            </a:extLst>
          </p:cNvPr>
          <p:cNvSpPr/>
          <p:nvPr userDrawn="1"/>
        </p:nvSpPr>
        <p:spPr bwMode="auto">
          <a:xfrm>
            <a:off x="591972" y="-536469"/>
            <a:ext cx="466409" cy="466409"/>
          </a:xfrm>
          <a:prstGeom prst="rect">
            <a:avLst/>
          </a:prstGeom>
          <a:solidFill>
            <a:srgbClr val="673BB7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BB851AE-C349-42C6-AB5B-682582C6637B}"/>
              </a:ext>
            </a:extLst>
          </p:cNvPr>
          <p:cNvSpPr/>
          <p:nvPr userDrawn="1"/>
        </p:nvSpPr>
        <p:spPr bwMode="auto">
          <a:xfrm>
            <a:off x="1189678" y="-536469"/>
            <a:ext cx="466409" cy="466409"/>
          </a:xfrm>
          <a:prstGeom prst="rect">
            <a:avLst/>
          </a:prstGeom>
          <a:solidFill>
            <a:srgbClr val="8B5DD9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A61DC06-D50A-453E-93B2-9BEC30E327ED}"/>
              </a:ext>
            </a:extLst>
          </p:cNvPr>
          <p:cNvSpPr/>
          <p:nvPr userDrawn="1"/>
        </p:nvSpPr>
        <p:spPr bwMode="auto">
          <a:xfrm>
            <a:off x="4178208" y="-536469"/>
            <a:ext cx="466409" cy="466409"/>
          </a:xfrm>
          <a:prstGeom prst="rect">
            <a:avLst/>
          </a:prstGeom>
          <a:solidFill>
            <a:srgbClr val="218BFF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F79BCBD-9F7F-4ADC-B2BB-FBCF03C54322}"/>
              </a:ext>
            </a:extLst>
          </p:cNvPr>
          <p:cNvSpPr/>
          <p:nvPr userDrawn="1"/>
        </p:nvSpPr>
        <p:spPr bwMode="auto">
          <a:xfrm>
            <a:off x="1787384" y="-536469"/>
            <a:ext cx="466409" cy="466409"/>
          </a:xfrm>
          <a:prstGeom prst="rect">
            <a:avLst/>
          </a:prstGeom>
          <a:solidFill>
            <a:srgbClr val="A282D4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FC90F2A-3E39-407A-9069-45DD1FB7D871}"/>
              </a:ext>
            </a:extLst>
          </p:cNvPr>
          <p:cNvSpPr/>
          <p:nvPr userDrawn="1"/>
        </p:nvSpPr>
        <p:spPr bwMode="auto">
          <a:xfrm>
            <a:off x="4775914" y="-536469"/>
            <a:ext cx="466409" cy="466409"/>
          </a:xfrm>
          <a:prstGeom prst="rect">
            <a:avLst/>
          </a:prstGeom>
          <a:solidFill>
            <a:srgbClr val="215BFF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sz="18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DA956BB-5771-4553-B13E-1E71490C76F2}"/>
              </a:ext>
            </a:extLst>
          </p:cNvPr>
          <p:cNvSpPr/>
          <p:nvPr userDrawn="1"/>
        </p:nvSpPr>
        <p:spPr bwMode="auto">
          <a:xfrm>
            <a:off x="5373620" y="-536469"/>
            <a:ext cx="466409" cy="466409"/>
          </a:xfrm>
          <a:prstGeom prst="rect">
            <a:avLst/>
          </a:prstGeom>
          <a:solidFill>
            <a:srgbClr val="5D87FF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sz="18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C0B9687-547F-45C2-8540-360F2F7BA86B}"/>
              </a:ext>
            </a:extLst>
          </p:cNvPr>
          <p:cNvSpPr/>
          <p:nvPr userDrawn="1"/>
        </p:nvSpPr>
        <p:spPr bwMode="auto">
          <a:xfrm>
            <a:off x="3580502" y="-536469"/>
            <a:ext cx="466409" cy="466409"/>
          </a:xfrm>
          <a:prstGeom prst="rect">
            <a:avLst/>
          </a:prstGeom>
          <a:solidFill>
            <a:srgbClr val="67C1BF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407C5BD-22B9-4E2C-B9CA-C3A88BB62E91}"/>
              </a:ext>
            </a:extLst>
          </p:cNvPr>
          <p:cNvSpPr/>
          <p:nvPr userDrawn="1"/>
        </p:nvSpPr>
        <p:spPr bwMode="auto">
          <a:xfrm>
            <a:off x="5971325" y="-536469"/>
            <a:ext cx="466409" cy="466409"/>
          </a:xfrm>
          <a:prstGeom prst="rect">
            <a:avLst/>
          </a:prstGeom>
          <a:solidFill>
            <a:srgbClr val="91ADFF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87E8FEC-0C83-450E-B519-ED269F611B99}"/>
              </a:ext>
            </a:extLst>
          </p:cNvPr>
          <p:cNvSpPr/>
          <p:nvPr userDrawn="1"/>
        </p:nvSpPr>
        <p:spPr bwMode="auto">
          <a:xfrm>
            <a:off x="2385090" y="-536469"/>
            <a:ext cx="466409" cy="466409"/>
          </a:xfrm>
          <a:prstGeom prst="rect">
            <a:avLst/>
          </a:prstGeom>
          <a:solidFill>
            <a:srgbClr val="00A19A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sz="18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F078189-E883-43CA-A6A2-E3CFDB98FF2A}"/>
              </a:ext>
            </a:extLst>
          </p:cNvPr>
          <p:cNvSpPr/>
          <p:nvPr userDrawn="1"/>
        </p:nvSpPr>
        <p:spPr bwMode="auto">
          <a:xfrm>
            <a:off x="2982796" y="-536469"/>
            <a:ext cx="466409" cy="466409"/>
          </a:xfrm>
          <a:prstGeom prst="rect">
            <a:avLst/>
          </a:prstGeom>
          <a:solidFill>
            <a:srgbClr val="00C0A0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964475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975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CA8C4361-DE38-4B27-9BF7-2004C17110D8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 w="38100">
            <a:noFill/>
          </a:ln>
          <a:effectLst>
            <a:outerShdw blurRad="50800" dist="38100" dir="5400000" algn="t" rotWithShape="0">
              <a:schemeClr val="bg1">
                <a:lumMod val="50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744139" fontAlgn="auto">
              <a:spcBef>
                <a:spcPts val="488"/>
              </a:spcBef>
              <a:spcAft>
                <a:spcPts val="814"/>
              </a:spcAft>
              <a:buClr>
                <a:prstClr val="white">
                  <a:lumMod val="50000"/>
                </a:prstClr>
              </a:buClr>
            </a:pPr>
            <a:endParaRPr kumimoji="0" lang="ko-KR" altLang="en-US" sz="1800" spc="-122" dirty="0">
              <a:ln>
                <a:solidFill>
                  <a:srgbClr val="E2E2E2">
                    <a:alpha val="0"/>
                  </a:srgbClr>
                </a:solidFill>
              </a:ln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0550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6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A804267F-1C34-4546-B38C-836557DA02D1}"/>
              </a:ext>
            </a:extLst>
          </p:cNvPr>
          <p:cNvSpPr/>
          <p:nvPr userDrawn="1"/>
        </p:nvSpPr>
        <p:spPr bwMode="auto">
          <a:xfrm>
            <a:off x="8317728" y="-884634"/>
            <a:ext cx="826272" cy="826272"/>
          </a:xfrm>
          <a:prstGeom prst="rect">
            <a:avLst/>
          </a:prstGeom>
          <a:solidFill>
            <a:srgbClr val="F8E618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r>
              <a:rPr lang="ko-KR" altLang="en-US" sz="1200" b="1" baseline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원 안쪽 텍스트</a:t>
            </a:r>
            <a:endParaRPr lang="en-US" altLang="ko-KR" sz="12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algn="ctr"/>
            <a:r>
              <a:rPr lang="ko-KR" altLang="en-US" sz="1200" b="1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강조색</a:t>
            </a:r>
            <a:endParaRPr lang="ko-KR" altLang="en-US" sz="12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D53DEAF-2726-4223-9403-9BCD32387EF0}"/>
              </a:ext>
            </a:extLst>
          </p:cNvPr>
          <p:cNvSpPr/>
          <p:nvPr userDrawn="1"/>
        </p:nvSpPr>
        <p:spPr bwMode="auto">
          <a:xfrm>
            <a:off x="7452320" y="-884634"/>
            <a:ext cx="826272" cy="826272"/>
          </a:xfrm>
          <a:prstGeom prst="rect">
            <a:avLst/>
          </a:prstGeom>
          <a:solidFill>
            <a:srgbClr val="0070C0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r>
              <a:rPr lang="ko-KR" altLang="en-US" sz="1200" b="1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사각형</a:t>
            </a:r>
            <a:r>
              <a:rPr lang="ko-KR" altLang="en-US" sz="1200" b="1" baseline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안쪽 텍스트</a:t>
            </a:r>
            <a:endParaRPr lang="en-US" altLang="ko-KR" sz="12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algn="ctr"/>
            <a:r>
              <a:rPr lang="ko-KR" altLang="en-US" sz="1200" b="1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강조색</a:t>
            </a:r>
            <a:endParaRPr lang="ko-KR" altLang="en-US" sz="12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06B396E-78F6-46D9-A8F1-9EE1D2142B77}"/>
              </a:ext>
            </a:extLst>
          </p:cNvPr>
          <p:cNvSpPr/>
          <p:nvPr userDrawn="1"/>
        </p:nvSpPr>
        <p:spPr bwMode="auto">
          <a:xfrm>
            <a:off x="6588224" y="-884634"/>
            <a:ext cx="826272" cy="826272"/>
          </a:xfrm>
          <a:prstGeom prst="rect">
            <a:avLst/>
          </a:prstGeom>
          <a:solidFill>
            <a:srgbClr val="FF3300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r>
              <a:rPr lang="ko-KR" altLang="en-US" sz="1200" b="1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일반</a:t>
            </a:r>
            <a:endParaRPr lang="en-US" altLang="ko-KR" sz="12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algn="ctr"/>
            <a:r>
              <a:rPr lang="ko-KR" altLang="en-US" sz="1200" b="1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강조색</a:t>
            </a:r>
            <a:endParaRPr lang="ko-KR" altLang="en-US" sz="12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96CC06E-7686-447F-9A5B-99DFFFABCA4D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 w="38100">
            <a:noFill/>
          </a:ln>
          <a:effectLst>
            <a:outerShdw blurRad="50800" dist="38100" dir="5400000" algn="t" rotWithShape="0">
              <a:schemeClr val="bg1">
                <a:lumMod val="50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744139" fontAlgn="auto">
              <a:spcBef>
                <a:spcPts val="488"/>
              </a:spcBef>
              <a:spcAft>
                <a:spcPts val="814"/>
              </a:spcAft>
              <a:buClr>
                <a:prstClr val="white">
                  <a:lumMod val="50000"/>
                </a:prstClr>
              </a:buClr>
            </a:pPr>
            <a:endParaRPr kumimoji="0" lang="ko-KR" altLang="en-US" sz="1800" spc="-122" dirty="0">
              <a:ln>
                <a:solidFill>
                  <a:srgbClr val="E2E2E2">
                    <a:alpha val="0"/>
                  </a:srgbClr>
                </a:solidFill>
              </a:ln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E030707-3C6D-4AAD-A29F-EE3505B1104A}"/>
              </a:ext>
            </a:extLst>
          </p:cNvPr>
          <p:cNvSpPr/>
          <p:nvPr userDrawn="1"/>
        </p:nvSpPr>
        <p:spPr bwMode="auto">
          <a:xfrm>
            <a:off x="-5734" y="-536469"/>
            <a:ext cx="466409" cy="466409"/>
          </a:xfrm>
          <a:prstGeom prst="rect">
            <a:avLst/>
          </a:prstGeom>
          <a:solidFill>
            <a:srgbClr val="4527A1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2EB5E4E-D0FC-4A5D-BBC0-A1D3F1526664}"/>
              </a:ext>
            </a:extLst>
          </p:cNvPr>
          <p:cNvSpPr/>
          <p:nvPr userDrawn="1"/>
        </p:nvSpPr>
        <p:spPr bwMode="auto">
          <a:xfrm>
            <a:off x="591972" y="-536469"/>
            <a:ext cx="466409" cy="466409"/>
          </a:xfrm>
          <a:prstGeom prst="rect">
            <a:avLst/>
          </a:prstGeom>
          <a:solidFill>
            <a:srgbClr val="673BB7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994BDDE-62D5-4AA6-B176-C08321660FA7}"/>
              </a:ext>
            </a:extLst>
          </p:cNvPr>
          <p:cNvSpPr/>
          <p:nvPr userDrawn="1"/>
        </p:nvSpPr>
        <p:spPr bwMode="auto">
          <a:xfrm>
            <a:off x="1189678" y="-536469"/>
            <a:ext cx="466409" cy="466409"/>
          </a:xfrm>
          <a:prstGeom prst="rect">
            <a:avLst/>
          </a:prstGeom>
          <a:solidFill>
            <a:srgbClr val="8B5DD9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FC27529-05AC-478F-8C95-A270FB72DE6C}"/>
              </a:ext>
            </a:extLst>
          </p:cNvPr>
          <p:cNvSpPr/>
          <p:nvPr userDrawn="1"/>
        </p:nvSpPr>
        <p:spPr bwMode="auto">
          <a:xfrm>
            <a:off x="4178208" y="-536469"/>
            <a:ext cx="466409" cy="466409"/>
          </a:xfrm>
          <a:prstGeom prst="rect">
            <a:avLst/>
          </a:prstGeom>
          <a:solidFill>
            <a:srgbClr val="218BFF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112122B-50F1-4745-8622-05584125BA3F}"/>
              </a:ext>
            </a:extLst>
          </p:cNvPr>
          <p:cNvSpPr/>
          <p:nvPr userDrawn="1"/>
        </p:nvSpPr>
        <p:spPr bwMode="auto">
          <a:xfrm>
            <a:off x="1787384" y="-536469"/>
            <a:ext cx="466409" cy="466409"/>
          </a:xfrm>
          <a:prstGeom prst="rect">
            <a:avLst/>
          </a:prstGeom>
          <a:solidFill>
            <a:srgbClr val="A282D4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C60CA21-7432-4445-BE8C-6FD43D3D7F1D}"/>
              </a:ext>
            </a:extLst>
          </p:cNvPr>
          <p:cNvSpPr/>
          <p:nvPr userDrawn="1"/>
        </p:nvSpPr>
        <p:spPr bwMode="auto">
          <a:xfrm>
            <a:off x="4775914" y="-536469"/>
            <a:ext cx="466409" cy="466409"/>
          </a:xfrm>
          <a:prstGeom prst="rect">
            <a:avLst/>
          </a:prstGeom>
          <a:solidFill>
            <a:srgbClr val="215BFF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sz="18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9D21520-97CB-4C21-8053-A02EDAC81930}"/>
              </a:ext>
            </a:extLst>
          </p:cNvPr>
          <p:cNvSpPr/>
          <p:nvPr userDrawn="1"/>
        </p:nvSpPr>
        <p:spPr bwMode="auto">
          <a:xfrm>
            <a:off x="5373620" y="-536469"/>
            <a:ext cx="466409" cy="466409"/>
          </a:xfrm>
          <a:prstGeom prst="rect">
            <a:avLst/>
          </a:prstGeom>
          <a:solidFill>
            <a:srgbClr val="5D87FF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sz="18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25E2EED-C4FD-40CE-86A4-1B343D54C2BD}"/>
              </a:ext>
            </a:extLst>
          </p:cNvPr>
          <p:cNvSpPr/>
          <p:nvPr userDrawn="1"/>
        </p:nvSpPr>
        <p:spPr bwMode="auto">
          <a:xfrm>
            <a:off x="3580502" y="-536469"/>
            <a:ext cx="466409" cy="466409"/>
          </a:xfrm>
          <a:prstGeom prst="rect">
            <a:avLst/>
          </a:prstGeom>
          <a:solidFill>
            <a:srgbClr val="67C1BF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AC0B731-3434-4985-8F75-6A2B8C4A9513}"/>
              </a:ext>
            </a:extLst>
          </p:cNvPr>
          <p:cNvSpPr/>
          <p:nvPr userDrawn="1"/>
        </p:nvSpPr>
        <p:spPr bwMode="auto">
          <a:xfrm>
            <a:off x="5971325" y="-536469"/>
            <a:ext cx="466409" cy="466409"/>
          </a:xfrm>
          <a:prstGeom prst="rect">
            <a:avLst/>
          </a:prstGeom>
          <a:solidFill>
            <a:srgbClr val="91ADFF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E34DB4F-1724-4ECB-9BA5-8872477F31FD}"/>
              </a:ext>
            </a:extLst>
          </p:cNvPr>
          <p:cNvSpPr/>
          <p:nvPr userDrawn="1"/>
        </p:nvSpPr>
        <p:spPr bwMode="auto">
          <a:xfrm>
            <a:off x="2385090" y="-536469"/>
            <a:ext cx="466409" cy="466409"/>
          </a:xfrm>
          <a:prstGeom prst="rect">
            <a:avLst/>
          </a:prstGeom>
          <a:solidFill>
            <a:srgbClr val="00A19A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sz="18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DBE08EE-E8F2-498E-A322-A8A55C2CE63D}"/>
              </a:ext>
            </a:extLst>
          </p:cNvPr>
          <p:cNvSpPr/>
          <p:nvPr userDrawn="1"/>
        </p:nvSpPr>
        <p:spPr bwMode="auto">
          <a:xfrm>
            <a:off x="2982796" y="-536469"/>
            <a:ext cx="466409" cy="466409"/>
          </a:xfrm>
          <a:prstGeom prst="rect">
            <a:avLst/>
          </a:prstGeom>
          <a:solidFill>
            <a:srgbClr val="00C0A0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B0F5253E-8BFF-4425-9049-DC1E595CC1F2}"/>
              </a:ext>
            </a:extLst>
          </p:cNvPr>
          <p:cNvGrpSpPr/>
          <p:nvPr userDrawn="1"/>
        </p:nvGrpSpPr>
        <p:grpSpPr>
          <a:xfrm>
            <a:off x="318642" y="584916"/>
            <a:ext cx="6129098" cy="430887"/>
            <a:chOff x="318642" y="584916"/>
            <a:chExt cx="6129098" cy="430887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C3A64F86-940E-4BF7-8CFE-0CD91DA6546A}"/>
                </a:ext>
              </a:extLst>
            </p:cNvPr>
            <p:cNvGrpSpPr/>
            <p:nvPr/>
          </p:nvGrpSpPr>
          <p:grpSpPr>
            <a:xfrm>
              <a:off x="318642" y="643765"/>
              <a:ext cx="301119" cy="308214"/>
              <a:chOff x="318642" y="643765"/>
              <a:chExt cx="301119" cy="308214"/>
            </a:xfrm>
          </p:grpSpPr>
          <p:pic>
            <p:nvPicPr>
              <p:cNvPr id="34" name="그림 33">
                <a:extLst>
                  <a:ext uri="{FF2B5EF4-FFF2-40B4-BE49-F238E27FC236}">
                    <a16:creationId xmlns:a16="http://schemas.microsoft.com/office/drawing/2014/main" id="{D96D1650-7DF9-4A3C-AE15-93F8313D84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0239" y="643765"/>
                <a:ext cx="297202" cy="297202"/>
              </a:xfrm>
              <a:prstGeom prst="rect">
                <a:avLst/>
              </a:prstGeom>
            </p:spPr>
          </p:pic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BF3E607-3C51-46E3-B65F-B1032BD1ABC7}"/>
                  </a:ext>
                </a:extLst>
              </p:cNvPr>
              <p:cNvSpPr txBox="1"/>
              <p:nvPr/>
            </p:nvSpPr>
            <p:spPr bwMode="auto">
              <a:xfrm>
                <a:off x="318642" y="644202"/>
                <a:ext cx="301119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sz="1400" b="1" dirty="0">
                    <a:ln>
                      <a:solidFill>
                        <a:srgbClr val="218BFF">
                          <a:alpha val="0"/>
                        </a:srgbClr>
                      </a:solidFill>
                    </a:ln>
                    <a:solidFill>
                      <a:srgbClr val="4B3D8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2</a:t>
                </a:r>
                <a:endParaRPr lang="ko-KR" altLang="en-US" sz="1400" b="1" dirty="0">
                  <a:ln>
                    <a:solidFill>
                      <a:srgbClr val="218BFF">
                        <a:alpha val="0"/>
                      </a:srgbClr>
                    </a:solidFill>
                  </a:ln>
                  <a:solidFill>
                    <a:srgbClr val="4B3D8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8A7460B-9940-4FF6-8FD1-1FA2EC485E36}"/>
                </a:ext>
              </a:extLst>
            </p:cNvPr>
            <p:cNvSpPr txBox="1"/>
            <p:nvPr/>
          </p:nvSpPr>
          <p:spPr bwMode="auto">
            <a:xfrm>
              <a:off x="628566" y="584916"/>
              <a:ext cx="5819174" cy="4308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spAutoFit/>
            </a:bodyPr>
            <a:lstStyle/>
            <a:p>
              <a:pPr algn="l"/>
              <a:r>
                <a:rPr lang="ko-KR" altLang="en-US" sz="2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바른고딕" pitchFamily="50" charset="-127"/>
                  <a:ea typeface="나눔바른고딕" pitchFamily="50" charset="-127"/>
                </a:rPr>
                <a:t>경영전략의 의미</a:t>
              </a:r>
              <a:endParaRPr lang="en-US" altLang="ko-KR" sz="2200" b="1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바른고딕" pitchFamily="50" charset="-127"/>
                <a:ea typeface="나눔바른고딕" pitchFamily="50" charset="-127"/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16C475E5-2116-402E-B0EF-AA9F67D73153}"/>
              </a:ext>
            </a:extLst>
          </p:cNvPr>
          <p:cNvGrpSpPr/>
          <p:nvPr userDrawn="1"/>
        </p:nvGrpSpPr>
        <p:grpSpPr>
          <a:xfrm>
            <a:off x="613941" y="1059509"/>
            <a:ext cx="8286159" cy="400009"/>
            <a:chOff x="613941" y="1059509"/>
            <a:chExt cx="8286159" cy="400009"/>
          </a:xfrm>
        </p:grpSpPr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AD2C70D9-906D-4E59-84F1-BB6F12A3E16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3941" y="1141320"/>
              <a:ext cx="228907" cy="220582"/>
            </a:xfrm>
            <a:prstGeom prst="rect">
              <a:avLst/>
            </a:prstGeom>
          </p:spPr>
        </p:pic>
        <p:sp>
          <p:nvSpPr>
            <p:cNvPr id="38" name="텍스트 개체 틀 7">
              <a:extLst>
                <a:ext uri="{FF2B5EF4-FFF2-40B4-BE49-F238E27FC236}">
                  <a16:creationId xmlns:a16="http://schemas.microsoft.com/office/drawing/2014/main" id="{0FEDE636-6708-4786-9FD4-9CBEE425283E}"/>
                </a:ext>
              </a:extLst>
            </p:cNvPr>
            <p:cNvSpPr txBox="1">
              <a:spLocks/>
            </p:cNvSpPr>
            <p:nvPr/>
          </p:nvSpPr>
          <p:spPr>
            <a:xfrm>
              <a:off x="835467" y="1059509"/>
              <a:ext cx="8064633" cy="400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prstClr val="black">
                    <a:lumMod val="75000"/>
                    <a:lumOff val="25000"/>
                  </a:prstClr>
                </a:buClr>
              </a:pP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전략이란</a:t>
              </a:r>
              <a:endParaRPr lang="en-US" altLang="ko-KR" sz="200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7440BAB6-9C99-42FA-AF08-2A23B6473B55}"/>
              </a:ext>
            </a:extLst>
          </p:cNvPr>
          <p:cNvGrpSpPr/>
          <p:nvPr userDrawn="1"/>
        </p:nvGrpSpPr>
        <p:grpSpPr>
          <a:xfrm>
            <a:off x="1001439" y="1481677"/>
            <a:ext cx="5226324" cy="707785"/>
            <a:chOff x="1001439" y="1481677"/>
            <a:chExt cx="5226324" cy="707785"/>
          </a:xfrm>
        </p:grpSpPr>
        <p:pic>
          <p:nvPicPr>
            <p:cNvPr id="40" name="그림 39">
              <a:extLst>
                <a:ext uri="{FF2B5EF4-FFF2-40B4-BE49-F238E27FC236}">
                  <a16:creationId xmlns:a16="http://schemas.microsoft.com/office/drawing/2014/main" id="{AC77D564-D701-487B-9ED1-A5E80F459E8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1439" y="1649508"/>
              <a:ext cx="181778" cy="48475"/>
            </a:xfrm>
            <a:prstGeom prst="rect">
              <a:avLst/>
            </a:prstGeom>
          </p:spPr>
        </p:pic>
        <p:sp>
          <p:nvSpPr>
            <p:cNvPr id="41" name="텍스트 개체 틀 7">
              <a:extLst>
                <a:ext uri="{FF2B5EF4-FFF2-40B4-BE49-F238E27FC236}">
                  <a16:creationId xmlns:a16="http://schemas.microsoft.com/office/drawing/2014/main" id="{3565DC71-9B60-4CEF-9E8D-2DC383DD463F}"/>
                </a:ext>
              </a:extLst>
            </p:cNvPr>
            <p:cNvSpPr txBox="1">
              <a:spLocks/>
            </p:cNvSpPr>
            <p:nvPr/>
          </p:nvSpPr>
          <p:spPr>
            <a:xfrm>
              <a:off x="1194910" y="1481677"/>
              <a:ext cx="5032853" cy="7077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schemeClr val="tx1">
                    <a:lumMod val="65000"/>
                    <a:lumOff val="35000"/>
                  </a:schemeClr>
                </a:buClr>
              </a:pP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일반 경영자가 전략 수립을 위해 관계를 창출해야 하는 요소</a:t>
              </a:r>
              <a:endParaRPr lang="en-US" altLang="ko-KR" sz="20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75194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82" r:id="rId1"/>
    <p:sldLayoutId id="2147485083" r:id="rId2"/>
    <p:sldLayoutId id="2147485084" r:id="rId3"/>
    <p:sldLayoutId id="2147485085" r:id="rId4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072">
          <p15:clr>
            <a:srgbClr val="F26B43"/>
          </p15:clr>
        </p15:guide>
        <p15:guide id="2" pos="204">
          <p15:clr>
            <a:srgbClr val="F26B43"/>
          </p15:clr>
        </p15:guide>
        <p15:guide id="3" pos="295">
          <p15:clr>
            <a:srgbClr val="F26B43"/>
          </p15:clr>
        </p15:guide>
        <p15:guide id="4" pos="5511">
          <p15:clr>
            <a:srgbClr val="F26B43"/>
          </p15:clr>
        </p15:guide>
        <p15:guide id="5" orient="horz" pos="577">
          <p15:clr>
            <a:srgbClr val="F26B43"/>
          </p15:clr>
        </p15:guide>
        <p15:guide id="6" orient="horz" pos="985" userDrawn="1">
          <p15:clr>
            <a:srgbClr val="F26B43"/>
          </p15:clr>
        </p15:guide>
        <p15:guide id="7" pos="3900">
          <p15:clr>
            <a:srgbClr val="F26B43"/>
          </p15:clr>
        </p15:guide>
        <p15:guide id="8" pos="408">
          <p15:clr>
            <a:srgbClr val="F26B43"/>
          </p15:clr>
        </p15:guide>
        <p15:guide id="9" pos="486">
          <p15:clr>
            <a:srgbClr val="F26B43"/>
          </p15:clr>
        </p15:guide>
        <p15:guide id="10" pos="612">
          <p15:clr>
            <a:srgbClr val="F26B43"/>
          </p15:clr>
        </p15:guide>
        <p15:guide id="11" pos="788">
          <p15:clr>
            <a:srgbClr val="F26B43"/>
          </p15:clr>
        </p15:guide>
        <p15:guide id="12" orient="horz" pos="715">
          <p15:clr>
            <a:srgbClr val="F26B43"/>
          </p15:clr>
        </p15:guide>
        <p15:guide id="13" orient="horz" pos="39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98B68E21-90D0-4D31-B157-923C23C15EA9}"/>
              </a:ext>
            </a:extLst>
          </p:cNvPr>
          <p:cNvSpPr txBox="1"/>
          <p:nvPr/>
        </p:nvSpPr>
        <p:spPr bwMode="auto">
          <a:xfrm>
            <a:off x="611560" y="4862"/>
            <a:ext cx="504056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l"/>
            <a:r>
              <a:rPr lang="ko-KR" altLang="en-US" sz="2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손익계산서 분석</a:t>
            </a:r>
            <a:r>
              <a:rPr lang="en-US" altLang="ko-KR" sz="2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 – </a:t>
            </a:r>
            <a:r>
              <a:rPr lang="ko-KR" altLang="en-US" sz="2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수익성</a:t>
            </a:r>
            <a:r>
              <a:rPr lang="en-US" altLang="ko-KR" sz="2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, </a:t>
            </a:r>
            <a:r>
              <a:rPr lang="ko-KR" altLang="en-US" sz="2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안전성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789F2B3A-8CF0-4362-9F87-49CBFAD67BC4}"/>
              </a:ext>
            </a:extLst>
          </p:cNvPr>
          <p:cNvGrpSpPr/>
          <p:nvPr/>
        </p:nvGrpSpPr>
        <p:grpSpPr>
          <a:xfrm>
            <a:off x="318642" y="584916"/>
            <a:ext cx="6129098" cy="430887"/>
            <a:chOff x="318642" y="584916"/>
            <a:chExt cx="6129098" cy="430887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7168F83D-429A-41D3-8B33-235E199FCB80}"/>
                </a:ext>
              </a:extLst>
            </p:cNvPr>
            <p:cNvGrpSpPr/>
            <p:nvPr/>
          </p:nvGrpSpPr>
          <p:grpSpPr>
            <a:xfrm>
              <a:off x="318642" y="643765"/>
              <a:ext cx="301119" cy="308214"/>
              <a:chOff x="318642" y="643765"/>
              <a:chExt cx="301119" cy="308214"/>
            </a:xfrm>
          </p:grpSpPr>
          <p:pic>
            <p:nvPicPr>
              <p:cNvPr id="23" name="그림 22">
                <a:extLst>
                  <a:ext uri="{FF2B5EF4-FFF2-40B4-BE49-F238E27FC236}">
                    <a16:creationId xmlns:a16="http://schemas.microsoft.com/office/drawing/2014/main" id="{34427AA4-AE45-48B2-964F-6923F69360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0239" y="643765"/>
                <a:ext cx="297202" cy="297202"/>
              </a:xfrm>
              <a:prstGeom prst="rect">
                <a:avLst/>
              </a:prstGeom>
            </p:spPr>
          </p:pic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2A0DDB3-FE27-45F6-BCEF-26C6DDF97991}"/>
                  </a:ext>
                </a:extLst>
              </p:cNvPr>
              <p:cNvSpPr txBox="1"/>
              <p:nvPr/>
            </p:nvSpPr>
            <p:spPr bwMode="auto">
              <a:xfrm>
                <a:off x="318642" y="644202"/>
                <a:ext cx="301119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sz="1400" b="1" dirty="0">
                    <a:ln>
                      <a:solidFill>
                        <a:srgbClr val="218BFF">
                          <a:alpha val="0"/>
                        </a:srgbClr>
                      </a:solidFill>
                    </a:ln>
                    <a:solidFill>
                      <a:srgbClr val="4B3D8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1</a:t>
                </a:r>
                <a:endParaRPr lang="ko-KR" altLang="en-US" sz="1400" b="1" dirty="0">
                  <a:ln>
                    <a:solidFill>
                      <a:srgbClr val="218BFF">
                        <a:alpha val="0"/>
                      </a:srgbClr>
                    </a:solidFill>
                  </a:ln>
                  <a:solidFill>
                    <a:srgbClr val="4B3D8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FB705C6-7B5F-4956-A561-E609BB83C2C4}"/>
                </a:ext>
              </a:extLst>
            </p:cNvPr>
            <p:cNvSpPr txBox="1"/>
            <p:nvPr/>
          </p:nvSpPr>
          <p:spPr bwMode="auto">
            <a:xfrm>
              <a:off x="628566" y="584916"/>
              <a:ext cx="5819174" cy="4308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spAutoFit/>
            </a:bodyPr>
            <a:lstStyle/>
            <a:p>
              <a:pPr algn="l"/>
              <a:r>
                <a:rPr lang="ko-KR" altLang="en-US" sz="2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바른고딕" pitchFamily="50" charset="-127"/>
                  <a:ea typeface="나눔바른고딕" pitchFamily="50" charset="-127"/>
                </a:rPr>
                <a:t>수익성의 의의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8315EB5B-38D6-4C4D-B540-825B199DC3C3}"/>
              </a:ext>
            </a:extLst>
          </p:cNvPr>
          <p:cNvGrpSpPr/>
          <p:nvPr/>
        </p:nvGrpSpPr>
        <p:grpSpPr>
          <a:xfrm>
            <a:off x="613941" y="1059509"/>
            <a:ext cx="8286159" cy="400009"/>
            <a:chOff x="613941" y="1059509"/>
            <a:chExt cx="8286159" cy="400009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A7670F00-8FA5-4113-AB23-D09FE1021C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3941" y="1141320"/>
              <a:ext cx="228907" cy="220582"/>
            </a:xfrm>
            <a:prstGeom prst="rect">
              <a:avLst/>
            </a:prstGeom>
          </p:spPr>
        </p:pic>
        <p:sp>
          <p:nvSpPr>
            <p:cNvPr id="19" name="텍스트 개체 틀 7">
              <a:extLst>
                <a:ext uri="{FF2B5EF4-FFF2-40B4-BE49-F238E27FC236}">
                  <a16:creationId xmlns:a16="http://schemas.microsoft.com/office/drawing/2014/main" id="{4C722A56-549B-48C6-9123-DC630D93243F}"/>
                </a:ext>
              </a:extLst>
            </p:cNvPr>
            <p:cNvSpPr txBox="1">
              <a:spLocks/>
            </p:cNvSpPr>
            <p:nvPr/>
          </p:nvSpPr>
          <p:spPr>
            <a:xfrm>
              <a:off x="835467" y="1059509"/>
              <a:ext cx="8064633" cy="400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prstClr val="black">
                    <a:lumMod val="75000"/>
                    <a:lumOff val="25000"/>
                  </a:prstClr>
                </a:buClr>
                <a:defRPr/>
              </a:pP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매출대비</a:t>
              </a:r>
              <a:r>
                <a:rPr lang="en-US" altLang="ko-KR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수익성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EE303A3D-C0BF-4E0A-AD90-3655C3418C95}"/>
              </a:ext>
            </a:extLst>
          </p:cNvPr>
          <p:cNvGrpSpPr/>
          <p:nvPr/>
        </p:nvGrpSpPr>
        <p:grpSpPr>
          <a:xfrm>
            <a:off x="971459" y="1481677"/>
            <a:ext cx="5370761" cy="400009"/>
            <a:chOff x="1001439" y="1481677"/>
            <a:chExt cx="5370761" cy="400009"/>
          </a:xfrm>
        </p:grpSpPr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B8375CD8-9A47-47C1-978F-F37FB76D516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1439" y="1649508"/>
              <a:ext cx="181778" cy="48475"/>
            </a:xfrm>
            <a:prstGeom prst="rect">
              <a:avLst/>
            </a:prstGeom>
          </p:spPr>
        </p:pic>
        <p:sp>
          <p:nvSpPr>
            <p:cNvPr id="26" name="텍스트 개체 틀 7">
              <a:extLst>
                <a:ext uri="{FF2B5EF4-FFF2-40B4-BE49-F238E27FC236}">
                  <a16:creationId xmlns:a16="http://schemas.microsoft.com/office/drawing/2014/main" id="{7D0F74E4-38A5-49D8-86E3-D333392DD85F}"/>
                </a:ext>
              </a:extLst>
            </p:cNvPr>
            <p:cNvSpPr txBox="1">
              <a:spLocks/>
            </p:cNvSpPr>
            <p:nvPr/>
          </p:nvSpPr>
          <p:spPr>
            <a:xfrm>
              <a:off x="1194910" y="1481677"/>
              <a:ext cx="5177290" cy="400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schemeClr val="tx1">
                    <a:lumMod val="65000"/>
                    <a:lumOff val="35000"/>
                  </a:schemeClr>
                </a:buClr>
              </a:pPr>
              <a:r>
                <a:rPr lang="ko-KR" altLang="en-US" sz="2000" b="0" spc="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포괄손익계산서가</a:t>
              </a: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제공하는 가장 중요한 정보</a:t>
              </a:r>
              <a:endParaRPr lang="en-US" altLang="ko-KR" sz="20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3EBE542D-8F74-45EE-9FF1-EDA43CC1E807}"/>
              </a:ext>
            </a:extLst>
          </p:cNvPr>
          <p:cNvGrpSpPr/>
          <p:nvPr/>
        </p:nvGrpSpPr>
        <p:grpSpPr>
          <a:xfrm>
            <a:off x="971550" y="2211710"/>
            <a:ext cx="5760689" cy="400009"/>
            <a:chOff x="1001439" y="1481677"/>
            <a:chExt cx="5760689" cy="400009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39248DB8-778C-477F-BE4C-7321624C13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1439" y="1649508"/>
              <a:ext cx="181778" cy="48475"/>
            </a:xfrm>
            <a:prstGeom prst="rect">
              <a:avLst/>
            </a:prstGeom>
          </p:spPr>
        </p:pic>
        <p:sp>
          <p:nvSpPr>
            <p:cNvPr id="27" name="텍스트 개체 틀 7">
              <a:extLst>
                <a:ext uri="{FF2B5EF4-FFF2-40B4-BE49-F238E27FC236}">
                  <a16:creationId xmlns:a16="http://schemas.microsoft.com/office/drawing/2014/main" id="{A32E8F94-B18F-4B36-8D65-EB4B2EAD6A0B}"/>
                </a:ext>
              </a:extLst>
            </p:cNvPr>
            <p:cNvSpPr txBox="1">
              <a:spLocks/>
            </p:cNvSpPr>
            <p:nvPr/>
          </p:nvSpPr>
          <p:spPr>
            <a:xfrm>
              <a:off x="1194909" y="1481677"/>
              <a:ext cx="5567219" cy="400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schemeClr val="tx1">
                    <a:lumMod val="65000"/>
                    <a:lumOff val="35000"/>
                  </a:schemeClr>
                </a:buClr>
              </a:pP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FF33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이익이 매출액에서 차지하는 비중</a:t>
              </a: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으로  수익성 분석</a:t>
              </a:r>
              <a:endParaRPr lang="en-US" altLang="ko-KR" sz="20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83918623-97EE-4433-9BB1-94ED1C3324F9}"/>
              </a:ext>
            </a:extLst>
          </p:cNvPr>
          <p:cNvGrpSpPr/>
          <p:nvPr/>
        </p:nvGrpSpPr>
        <p:grpSpPr>
          <a:xfrm>
            <a:off x="971550" y="2976198"/>
            <a:ext cx="5476189" cy="707785"/>
            <a:chOff x="1001439" y="1481677"/>
            <a:chExt cx="5476189" cy="707785"/>
          </a:xfrm>
        </p:grpSpPr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DCE9D283-516F-4B71-9234-924FF9E9886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1439" y="1649508"/>
              <a:ext cx="181778" cy="48475"/>
            </a:xfrm>
            <a:prstGeom prst="rect">
              <a:avLst/>
            </a:prstGeom>
          </p:spPr>
        </p:pic>
        <p:sp>
          <p:nvSpPr>
            <p:cNvPr id="31" name="텍스트 개체 틀 7">
              <a:extLst>
                <a:ext uri="{FF2B5EF4-FFF2-40B4-BE49-F238E27FC236}">
                  <a16:creationId xmlns:a16="http://schemas.microsoft.com/office/drawing/2014/main" id="{FB92D9CC-199A-427F-89F4-80C54DAAAF6A}"/>
                </a:ext>
              </a:extLst>
            </p:cNvPr>
            <p:cNvSpPr txBox="1">
              <a:spLocks/>
            </p:cNvSpPr>
            <p:nvPr/>
          </p:nvSpPr>
          <p:spPr>
            <a:xfrm>
              <a:off x="1194909" y="1481677"/>
              <a:ext cx="5282719" cy="7077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schemeClr val="tx1">
                    <a:lumMod val="65000"/>
                    <a:lumOff val="35000"/>
                  </a:schemeClr>
                </a:buClr>
              </a:pP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상대적인 비율로 표시하므로 규모가 다른 경우에도 상호 비교가 가능</a:t>
              </a:r>
              <a:endParaRPr lang="en-US" altLang="ko-KR" sz="20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62443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98B68E21-90D0-4D31-B157-923C23C15EA9}"/>
              </a:ext>
            </a:extLst>
          </p:cNvPr>
          <p:cNvSpPr txBox="1"/>
          <p:nvPr/>
        </p:nvSpPr>
        <p:spPr bwMode="auto">
          <a:xfrm>
            <a:off x="611560" y="4862"/>
            <a:ext cx="504056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l"/>
            <a:r>
              <a:rPr lang="ko-KR" altLang="en-US" sz="2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손익계산서 분석</a:t>
            </a:r>
            <a:r>
              <a:rPr lang="en-US" altLang="ko-KR" sz="2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 – </a:t>
            </a:r>
            <a:r>
              <a:rPr lang="ko-KR" altLang="en-US" sz="2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수익성</a:t>
            </a:r>
            <a:r>
              <a:rPr lang="en-US" altLang="ko-KR" sz="2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, </a:t>
            </a:r>
            <a:r>
              <a:rPr lang="ko-KR" altLang="en-US" sz="2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안전성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789F2B3A-8CF0-4362-9F87-49CBFAD67BC4}"/>
              </a:ext>
            </a:extLst>
          </p:cNvPr>
          <p:cNvGrpSpPr/>
          <p:nvPr/>
        </p:nvGrpSpPr>
        <p:grpSpPr>
          <a:xfrm>
            <a:off x="318642" y="584916"/>
            <a:ext cx="6129098" cy="430887"/>
            <a:chOff x="318642" y="584916"/>
            <a:chExt cx="6129098" cy="430887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7168F83D-429A-41D3-8B33-235E199FCB80}"/>
                </a:ext>
              </a:extLst>
            </p:cNvPr>
            <p:cNvGrpSpPr/>
            <p:nvPr/>
          </p:nvGrpSpPr>
          <p:grpSpPr>
            <a:xfrm>
              <a:off x="318642" y="643765"/>
              <a:ext cx="301119" cy="308214"/>
              <a:chOff x="318642" y="643765"/>
              <a:chExt cx="301119" cy="308214"/>
            </a:xfrm>
          </p:grpSpPr>
          <p:pic>
            <p:nvPicPr>
              <p:cNvPr id="23" name="그림 22">
                <a:extLst>
                  <a:ext uri="{FF2B5EF4-FFF2-40B4-BE49-F238E27FC236}">
                    <a16:creationId xmlns:a16="http://schemas.microsoft.com/office/drawing/2014/main" id="{34427AA4-AE45-48B2-964F-6923F69360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0239" y="643765"/>
                <a:ext cx="297202" cy="297202"/>
              </a:xfrm>
              <a:prstGeom prst="rect">
                <a:avLst/>
              </a:prstGeom>
            </p:spPr>
          </p:pic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2A0DDB3-FE27-45F6-BCEF-26C6DDF97991}"/>
                  </a:ext>
                </a:extLst>
              </p:cNvPr>
              <p:cNvSpPr txBox="1"/>
              <p:nvPr/>
            </p:nvSpPr>
            <p:spPr bwMode="auto">
              <a:xfrm>
                <a:off x="318642" y="644202"/>
                <a:ext cx="301119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sz="1400" b="1" dirty="0">
                    <a:ln>
                      <a:solidFill>
                        <a:srgbClr val="218BFF">
                          <a:alpha val="0"/>
                        </a:srgbClr>
                      </a:solidFill>
                    </a:ln>
                    <a:solidFill>
                      <a:srgbClr val="4B3D8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2</a:t>
                </a:r>
                <a:endParaRPr lang="ko-KR" altLang="en-US" sz="1400" b="1" dirty="0">
                  <a:ln>
                    <a:solidFill>
                      <a:srgbClr val="218BFF">
                        <a:alpha val="0"/>
                      </a:srgbClr>
                    </a:solidFill>
                  </a:ln>
                  <a:solidFill>
                    <a:srgbClr val="4B3D8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FB705C6-7B5F-4956-A561-E609BB83C2C4}"/>
                </a:ext>
              </a:extLst>
            </p:cNvPr>
            <p:cNvSpPr txBox="1"/>
            <p:nvPr/>
          </p:nvSpPr>
          <p:spPr bwMode="auto">
            <a:xfrm>
              <a:off x="628566" y="584916"/>
              <a:ext cx="5819174" cy="4308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spAutoFit/>
            </a:bodyPr>
            <a:lstStyle/>
            <a:p>
              <a:pPr algn="l"/>
              <a:r>
                <a:rPr lang="ko-KR" altLang="en-US" sz="2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바른고딕" pitchFamily="50" charset="-127"/>
                  <a:ea typeface="나눔바른고딕" pitchFamily="50" charset="-127"/>
                </a:rPr>
                <a:t>매출수익성분석 비율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8315EB5B-38D6-4C4D-B540-825B199DC3C3}"/>
              </a:ext>
            </a:extLst>
          </p:cNvPr>
          <p:cNvGrpSpPr/>
          <p:nvPr/>
        </p:nvGrpSpPr>
        <p:grpSpPr>
          <a:xfrm>
            <a:off x="613941" y="1059509"/>
            <a:ext cx="5577309" cy="400009"/>
            <a:chOff x="613941" y="1059509"/>
            <a:chExt cx="5577309" cy="400009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A7670F00-8FA5-4113-AB23-D09FE1021C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3941" y="1141320"/>
              <a:ext cx="228907" cy="220582"/>
            </a:xfrm>
            <a:prstGeom prst="rect">
              <a:avLst/>
            </a:prstGeom>
          </p:spPr>
        </p:pic>
        <p:sp>
          <p:nvSpPr>
            <p:cNvPr id="19" name="텍스트 개체 틀 7">
              <a:extLst>
                <a:ext uri="{FF2B5EF4-FFF2-40B4-BE49-F238E27FC236}">
                  <a16:creationId xmlns:a16="http://schemas.microsoft.com/office/drawing/2014/main" id="{4C722A56-549B-48C6-9123-DC630D93243F}"/>
                </a:ext>
              </a:extLst>
            </p:cNvPr>
            <p:cNvSpPr txBox="1">
              <a:spLocks/>
            </p:cNvSpPr>
            <p:nvPr/>
          </p:nvSpPr>
          <p:spPr>
            <a:xfrm>
              <a:off x="835467" y="1059509"/>
              <a:ext cx="5355783" cy="400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prstClr val="black">
                    <a:lumMod val="75000"/>
                    <a:lumOff val="25000"/>
                  </a:prstClr>
                </a:buClr>
                <a:defRPr/>
              </a:pPr>
              <a:r>
                <a:rPr lang="ko-KR" altLang="en-US" sz="2000" spc="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매출총이익율</a:t>
              </a: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en-US" altLang="ko-KR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: </a:t>
              </a: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매출총이익</a:t>
              </a:r>
              <a:r>
                <a:rPr lang="en-US" altLang="ko-KR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÷</a:t>
              </a: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매출액</a:t>
              </a:r>
              <a:endParaRPr lang="en-US" altLang="ko-KR" sz="200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EE303A3D-C0BF-4E0A-AD90-3655C3418C95}"/>
              </a:ext>
            </a:extLst>
          </p:cNvPr>
          <p:cNvGrpSpPr/>
          <p:nvPr/>
        </p:nvGrpSpPr>
        <p:grpSpPr>
          <a:xfrm>
            <a:off x="971459" y="1481677"/>
            <a:ext cx="5370761" cy="400009"/>
            <a:chOff x="1001439" y="1481677"/>
            <a:chExt cx="5370761" cy="400009"/>
          </a:xfrm>
        </p:grpSpPr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B8375CD8-9A47-47C1-978F-F37FB76D516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1439" y="1649508"/>
              <a:ext cx="181778" cy="48475"/>
            </a:xfrm>
            <a:prstGeom prst="rect">
              <a:avLst/>
            </a:prstGeom>
          </p:spPr>
        </p:pic>
        <p:sp>
          <p:nvSpPr>
            <p:cNvPr id="26" name="텍스트 개체 틀 7">
              <a:extLst>
                <a:ext uri="{FF2B5EF4-FFF2-40B4-BE49-F238E27FC236}">
                  <a16:creationId xmlns:a16="http://schemas.microsoft.com/office/drawing/2014/main" id="{7D0F74E4-38A5-49D8-86E3-D333392DD85F}"/>
                </a:ext>
              </a:extLst>
            </p:cNvPr>
            <p:cNvSpPr txBox="1">
              <a:spLocks/>
            </p:cNvSpPr>
            <p:nvPr/>
          </p:nvSpPr>
          <p:spPr>
            <a:xfrm>
              <a:off x="1194910" y="1481677"/>
              <a:ext cx="5177290" cy="400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schemeClr val="tx1">
                    <a:lumMod val="65000"/>
                    <a:lumOff val="35000"/>
                  </a:schemeClr>
                </a:buClr>
                <a:buSzPct val="100000"/>
              </a:pP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생산 단계의 수익성을 나타냄</a:t>
              </a: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498FD486-CE3C-4B9D-95FD-96CA511A09E2}"/>
              </a:ext>
            </a:extLst>
          </p:cNvPr>
          <p:cNvGrpSpPr/>
          <p:nvPr/>
        </p:nvGrpSpPr>
        <p:grpSpPr>
          <a:xfrm>
            <a:off x="632184" y="1923678"/>
            <a:ext cx="5577309" cy="400009"/>
            <a:chOff x="613941" y="1059509"/>
            <a:chExt cx="5577309" cy="400009"/>
          </a:xfrm>
        </p:grpSpPr>
        <p:pic>
          <p:nvPicPr>
            <p:cNvPr id="45" name="그림 44">
              <a:extLst>
                <a:ext uri="{FF2B5EF4-FFF2-40B4-BE49-F238E27FC236}">
                  <a16:creationId xmlns:a16="http://schemas.microsoft.com/office/drawing/2014/main" id="{6295C16E-651B-461C-98F9-9E3B22BE7E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3941" y="1141320"/>
              <a:ext cx="228907" cy="220582"/>
            </a:xfrm>
            <a:prstGeom prst="rect">
              <a:avLst/>
            </a:prstGeom>
          </p:spPr>
        </p:pic>
        <p:sp>
          <p:nvSpPr>
            <p:cNvPr id="46" name="텍스트 개체 틀 7">
              <a:extLst>
                <a:ext uri="{FF2B5EF4-FFF2-40B4-BE49-F238E27FC236}">
                  <a16:creationId xmlns:a16="http://schemas.microsoft.com/office/drawing/2014/main" id="{9CF3AC9F-BD52-4320-8514-4102BEE9BF39}"/>
                </a:ext>
              </a:extLst>
            </p:cNvPr>
            <p:cNvSpPr txBox="1">
              <a:spLocks/>
            </p:cNvSpPr>
            <p:nvPr/>
          </p:nvSpPr>
          <p:spPr>
            <a:xfrm>
              <a:off x="835467" y="1059509"/>
              <a:ext cx="5355783" cy="400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prstClr val="black">
                    <a:lumMod val="75000"/>
                    <a:lumOff val="25000"/>
                  </a:prstClr>
                </a:buClr>
                <a:defRPr/>
              </a:pP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영업이익률 </a:t>
              </a:r>
              <a:r>
                <a:rPr lang="en-US" altLang="ko-KR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: </a:t>
              </a: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영업이익</a:t>
              </a:r>
              <a:r>
                <a:rPr lang="en-US" altLang="ko-KR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÷</a:t>
              </a: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매출액</a:t>
              </a:r>
              <a:endParaRPr lang="en-US" altLang="ko-KR" sz="200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2BC64FE4-38D2-4D9A-8FEC-A0A9CBC012B1}"/>
              </a:ext>
            </a:extLst>
          </p:cNvPr>
          <p:cNvGrpSpPr/>
          <p:nvPr/>
        </p:nvGrpSpPr>
        <p:grpSpPr>
          <a:xfrm>
            <a:off x="989702" y="2345846"/>
            <a:ext cx="5886554" cy="729960"/>
            <a:chOff x="1001439" y="1481677"/>
            <a:chExt cx="5370761" cy="707785"/>
          </a:xfrm>
        </p:grpSpPr>
        <p:pic>
          <p:nvPicPr>
            <p:cNvPr id="48" name="그림 47">
              <a:extLst>
                <a:ext uri="{FF2B5EF4-FFF2-40B4-BE49-F238E27FC236}">
                  <a16:creationId xmlns:a16="http://schemas.microsoft.com/office/drawing/2014/main" id="{F568935E-0B75-4333-993A-3F5B98D23B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1439" y="1649508"/>
              <a:ext cx="181778" cy="48475"/>
            </a:xfrm>
            <a:prstGeom prst="rect">
              <a:avLst/>
            </a:prstGeom>
          </p:spPr>
        </p:pic>
        <p:sp>
          <p:nvSpPr>
            <p:cNvPr id="49" name="텍스트 개체 틀 7">
              <a:extLst>
                <a:ext uri="{FF2B5EF4-FFF2-40B4-BE49-F238E27FC236}">
                  <a16:creationId xmlns:a16="http://schemas.microsoft.com/office/drawing/2014/main" id="{48541313-7880-4399-9057-07BE849224D9}"/>
                </a:ext>
              </a:extLst>
            </p:cNvPr>
            <p:cNvSpPr txBox="1">
              <a:spLocks/>
            </p:cNvSpPr>
            <p:nvPr/>
          </p:nvSpPr>
          <p:spPr>
            <a:xfrm>
              <a:off x="1194910" y="1481677"/>
              <a:ext cx="5177290" cy="7077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schemeClr val="tx1">
                    <a:lumMod val="65000"/>
                    <a:lumOff val="35000"/>
                  </a:schemeClr>
                </a:buClr>
                <a:buSzPct val="100000"/>
              </a:pP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기업의 주된 활동인 영업활동의 성과를 판단하는 잣대</a:t>
              </a: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08958CCB-CCD5-4E65-802B-3EF5150B9782}"/>
              </a:ext>
            </a:extLst>
          </p:cNvPr>
          <p:cNvGrpSpPr/>
          <p:nvPr/>
        </p:nvGrpSpPr>
        <p:grpSpPr>
          <a:xfrm>
            <a:off x="606318" y="3075806"/>
            <a:ext cx="6197930" cy="400009"/>
            <a:chOff x="613941" y="1059509"/>
            <a:chExt cx="6197930" cy="400009"/>
          </a:xfrm>
        </p:grpSpPr>
        <p:pic>
          <p:nvPicPr>
            <p:cNvPr id="51" name="그림 50">
              <a:extLst>
                <a:ext uri="{FF2B5EF4-FFF2-40B4-BE49-F238E27FC236}">
                  <a16:creationId xmlns:a16="http://schemas.microsoft.com/office/drawing/2014/main" id="{E21609D1-53C9-4DFC-9147-9F1D74E287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3941" y="1141320"/>
              <a:ext cx="228907" cy="220582"/>
            </a:xfrm>
            <a:prstGeom prst="rect">
              <a:avLst/>
            </a:prstGeom>
          </p:spPr>
        </p:pic>
        <p:sp>
          <p:nvSpPr>
            <p:cNvPr id="52" name="텍스트 개체 틀 7">
              <a:extLst>
                <a:ext uri="{FF2B5EF4-FFF2-40B4-BE49-F238E27FC236}">
                  <a16:creationId xmlns:a16="http://schemas.microsoft.com/office/drawing/2014/main" id="{26271893-0583-4528-A4C8-DAAAF0D29982}"/>
                </a:ext>
              </a:extLst>
            </p:cNvPr>
            <p:cNvSpPr txBox="1">
              <a:spLocks/>
            </p:cNvSpPr>
            <p:nvPr/>
          </p:nvSpPr>
          <p:spPr>
            <a:xfrm>
              <a:off x="835467" y="1059509"/>
              <a:ext cx="5976404" cy="400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prstClr val="black">
                    <a:lumMod val="75000"/>
                    <a:lumOff val="25000"/>
                  </a:prstClr>
                </a:buClr>
                <a:defRPr/>
              </a:pPr>
              <a:r>
                <a:rPr lang="ko-KR" altLang="en-US" sz="2000" spc="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법인세차감전순이익률</a:t>
              </a: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en-US" altLang="ko-KR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: </a:t>
              </a:r>
              <a:r>
                <a:rPr lang="ko-KR" altLang="en-US" sz="2000" spc="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법인세차감전순이익</a:t>
              </a:r>
              <a:r>
                <a:rPr lang="en-US" altLang="ko-KR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÷</a:t>
              </a: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매출액</a:t>
              </a:r>
              <a:endParaRPr lang="en-US" altLang="ko-KR" sz="200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6A595D40-6E30-D702-BAD4-E9D1FDDDFEC5}"/>
              </a:ext>
            </a:extLst>
          </p:cNvPr>
          <p:cNvGrpSpPr/>
          <p:nvPr/>
        </p:nvGrpSpPr>
        <p:grpSpPr>
          <a:xfrm>
            <a:off x="957544" y="3606972"/>
            <a:ext cx="5886554" cy="707785"/>
            <a:chOff x="1001439" y="1481677"/>
            <a:chExt cx="5370761" cy="686283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AFF30E6D-E5BC-B275-7742-E41BDDFC27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1439" y="1649508"/>
              <a:ext cx="181778" cy="48475"/>
            </a:xfrm>
            <a:prstGeom prst="rect">
              <a:avLst/>
            </a:prstGeom>
          </p:spPr>
        </p:pic>
        <p:sp>
          <p:nvSpPr>
            <p:cNvPr id="6" name="텍스트 개체 틀 7">
              <a:extLst>
                <a:ext uri="{FF2B5EF4-FFF2-40B4-BE49-F238E27FC236}">
                  <a16:creationId xmlns:a16="http://schemas.microsoft.com/office/drawing/2014/main" id="{AD170445-115E-A27A-ECFA-1BB63D70DDA3}"/>
                </a:ext>
              </a:extLst>
            </p:cNvPr>
            <p:cNvSpPr txBox="1">
              <a:spLocks/>
            </p:cNvSpPr>
            <p:nvPr/>
          </p:nvSpPr>
          <p:spPr>
            <a:xfrm>
              <a:off x="1194910" y="1481677"/>
              <a:ext cx="5177290" cy="6862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schemeClr val="tx1">
                    <a:lumMod val="65000"/>
                    <a:lumOff val="35000"/>
                  </a:schemeClr>
                </a:buClr>
                <a:buSzPct val="100000"/>
              </a:pP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기업의 모든 활동 </a:t>
              </a:r>
              <a:r>
                <a:rPr lang="en-US" altLang="ko-KR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</a:t>
              </a: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영업활동 </a:t>
              </a:r>
              <a:r>
                <a:rPr lang="en-US" altLang="ko-KR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+ </a:t>
              </a:r>
              <a:r>
                <a:rPr lang="ko-KR" altLang="en-US" sz="2000" b="0" spc="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영업외활동</a:t>
              </a:r>
              <a:r>
                <a:rPr lang="en-US" altLang="ko-KR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</a:t>
              </a: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의 성과를 판단하는 잣대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84273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98B68E21-90D0-4D31-B157-923C23C15EA9}"/>
              </a:ext>
            </a:extLst>
          </p:cNvPr>
          <p:cNvSpPr txBox="1"/>
          <p:nvPr/>
        </p:nvSpPr>
        <p:spPr bwMode="auto">
          <a:xfrm>
            <a:off x="611560" y="4862"/>
            <a:ext cx="504056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l"/>
            <a:r>
              <a:rPr lang="ko-KR" altLang="en-US" sz="2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손익계산서 분석</a:t>
            </a:r>
            <a:r>
              <a:rPr lang="en-US" altLang="ko-KR" sz="2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 – </a:t>
            </a:r>
            <a:r>
              <a:rPr lang="ko-KR" altLang="en-US" sz="2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수익성</a:t>
            </a:r>
            <a:r>
              <a:rPr lang="en-US" altLang="ko-KR" sz="2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, </a:t>
            </a:r>
            <a:r>
              <a:rPr lang="ko-KR" altLang="en-US" sz="2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안전성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789F2B3A-8CF0-4362-9F87-49CBFAD67BC4}"/>
              </a:ext>
            </a:extLst>
          </p:cNvPr>
          <p:cNvGrpSpPr/>
          <p:nvPr/>
        </p:nvGrpSpPr>
        <p:grpSpPr>
          <a:xfrm>
            <a:off x="318642" y="584916"/>
            <a:ext cx="6129098" cy="430887"/>
            <a:chOff x="318642" y="584916"/>
            <a:chExt cx="6129098" cy="430887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7168F83D-429A-41D3-8B33-235E199FCB80}"/>
                </a:ext>
              </a:extLst>
            </p:cNvPr>
            <p:cNvGrpSpPr/>
            <p:nvPr/>
          </p:nvGrpSpPr>
          <p:grpSpPr>
            <a:xfrm>
              <a:off x="318642" y="643765"/>
              <a:ext cx="301119" cy="308214"/>
              <a:chOff x="318642" y="643765"/>
              <a:chExt cx="301119" cy="308214"/>
            </a:xfrm>
          </p:grpSpPr>
          <p:pic>
            <p:nvPicPr>
              <p:cNvPr id="23" name="그림 22">
                <a:extLst>
                  <a:ext uri="{FF2B5EF4-FFF2-40B4-BE49-F238E27FC236}">
                    <a16:creationId xmlns:a16="http://schemas.microsoft.com/office/drawing/2014/main" id="{34427AA4-AE45-48B2-964F-6923F69360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0239" y="643765"/>
                <a:ext cx="297202" cy="297202"/>
              </a:xfrm>
              <a:prstGeom prst="rect">
                <a:avLst/>
              </a:prstGeom>
            </p:spPr>
          </p:pic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2A0DDB3-FE27-45F6-BCEF-26C6DDF97991}"/>
                  </a:ext>
                </a:extLst>
              </p:cNvPr>
              <p:cNvSpPr txBox="1"/>
              <p:nvPr/>
            </p:nvSpPr>
            <p:spPr bwMode="auto">
              <a:xfrm>
                <a:off x="318642" y="644202"/>
                <a:ext cx="301119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sz="1400" b="1" dirty="0">
                    <a:ln>
                      <a:solidFill>
                        <a:srgbClr val="218BFF">
                          <a:alpha val="0"/>
                        </a:srgbClr>
                      </a:solidFill>
                    </a:ln>
                    <a:solidFill>
                      <a:srgbClr val="4B3D8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2</a:t>
                </a:r>
                <a:endParaRPr lang="ko-KR" altLang="en-US" sz="1400" b="1" dirty="0">
                  <a:ln>
                    <a:solidFill>
                      <a:srgbClr val="218BFF">
                        <a:alpha val="0"/>
                      </a:srgbClr>
                    </a:solidFill>
                  </a:ln>
                  <a:solidFill>
                    <a:srgbClr val="4B3D8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FB705C6-7B5F-4956-A561-E609BB83C2C4}"/>
                </a:ext>
              </a:extLst>
            </p:cNvPr>
            <p:cNvSpPr txBox="1"/>
            <p:nvPr/>
          </p:nvSpPr>
          <p:spPr bwMode="auto">
            <a:xfrm>
              <a:off x="628566" y="584916"/>
              <a:ext cx="5819174" cy="4308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spAutoFit/>
            </a:bodyPr>
            <a:lstStyle/>
            <a:p>
              <a:pPr algn="l"/>
              <a:r>
                <a:rPr lang="ko-KR" altLang="en-US" sz="2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바른고딕" pitchFamily="50" charset="-127"/>
                  <a:ea typeface="나눔바른고딕" pitchFamily="50" charset="-127"/>
                </a:rPr>
                <a:t>매출수익성분석 비율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8315EB5B-38D6-4C4D-B540-825B199DC3C3}"/>
              </a:ext>
            </a:extLst>
          </p:cNvPr>
          <p:cNvGrpSpPr/>
          <p:nvPr/>
        </p:nvGrpSpPr>
        <p:grpSpPr>
          <a:xfrm>
            <a:off x="613941" y="1059509"/>
            <a:ext cx="5577309" cy="400009"/>
            <a:chOff x="613941" y="1059509"/>
            <a:chExt cx="5577309" cy="400009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A7670F00-8FA5-4113-AB23-D09FE1021C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3941" y="1141320"/>
              <a:ext cx="228907" cy="220582"/>
            </a:xfrm>
            <a:prstGeom prst="rect">
              <a:avLst/>
            </a:prstGeom>
          </p:spPr>
        </p:pic>
        <p:sp>
          <p:nvSpPr>
            <p:cNvPr id="19" name="텍스트 개체 틀 7">
              <a:extLst>
                <a:ext uri="{FF2B5EF4-FFF2-40B4-BE49-F238E27FC236}">
                  <a16:creationId xmlns:a16="http://schemas.microsoft.com/office/drawing/2014/main" id="{4C722A56-549B-48C6-9123-DC630D93243F}"/>
                </a:ext>
              </a:extLst>
            </p:cNvPr>
            <p:cNvSpPr txBox="1">
              <a:spLocks/>
            </p:cNvSpPr>
            <p:nvPr/>
          </p:nvSpPr>
          <p:spPr>
            <a:xfrm>
              <a:off x="835467" y="1059509"/>
              <a:ext cx="5355783" cy="400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prstClr val="black">
                    <a:lumMod val="75000"/>
                    <a:lumOff val="25000"/>
                  </a:prstClr>
                </a:buClr>
                <a:defRPr/>
              </a:pP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순이익률 </a:t>
              </a:r>
              <a:r>
                <a:rPr lang="en-US" altLang="ko-KR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: </a:t>
              </a: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당기순이익 </a:t>
              </a:r>
              <a:r>
                <a:rPr lang="en-US" altLang="ko-KR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÷ </a:t>
              </a: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매출액</a:t>
              </a:r>
              <a:endParaRPr lang="en-US" altLang="ko-KR" sz="200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EE303A3D-C0BF-4E0A-AD90-3655C3418C95}"/>
              </a:ext>
            </a:extLst>
          </p:cNvPr>
          <p:cNvGrpSpPr/>
          <p:nvPr/>
        </p:nvGrpSpPr>
        <p:grpSpPr>
          <a:xfrm>
            <a:off x="953357" y="2417781"/>
            <a:ext cx="5370761" cy="707785"/>
            <a:chOff x="1001439" y="1481677"/>
            <a:chExt cx="5370761" cy="707785"/>
          </a:xfrm>
        </p:grpSpPr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B8375CD8-9A47-47C1-978F-F37FB76D516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1439" y="1649508"/>
              <a:ext cx="181778" cy="48475"/>
            </a:xfrm>
            <a:prstGeom prst="rect">
              <a:avLst/>
            </a:prstGeom>
          </p:spPr>
        </p:pic>
        <p:sp>
          <p:nvSpPr>
            <p:cNvPr id="26" name="텍스트 개체 틀 7">
              <a:extLst>
                <a:ext uri="{FF2B5EF4-FFF2-40B4-BE49-F238E27FC236}">
                  <a16:creationId xmlns:a16="http://schemas.microsoft.com/office/drawing/2014/main" id="{7D0F74E4-38A5-49D8-86E3-D333392DD85F}"/>
                </a:ext>
              </a:extLst>
            </p:cNvPr>
            <p:cNvSpPr txBox="1">
              <a:spLocks/>
            </p:cNvSpPr>
            <p:nvPr/>
          </p:nvSpPr>
          <p:spPr>
            <a:xfrm>
              <a:off x="1194910" y="1481677"/>
              <a:ext cx="5177290" cy="7077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schemeClr val="tx1">
                    <a:lumMod val="65000"/>
                    <a:lumOff val="35000"/>
                  </a:schemeClr>
                </a:buClr>
                <a:buSzPct val="100000"/>
              </a:pP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매출액 중에서 주주에게 어느 정도까지 줄 수 있는지를 측정하는 지표</a:t>
              </a: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2BC64FE4-38D2-4D9A-8FEC-A0A9CBC012B1}"/>
              </a:ext>
            </a:extLst>
          </p:cNvPr>
          <p:cNvGrpSpPr/>
          <p:nvPr/>
        </p:nvGrpSpPr>
        <p:grpSpPr>
          <a:xfrm>
            <a:off x="971600" y="3147814"/>
            <a:ext cx="5370761" cy="707785"/>
            <a:chOff x="1001439" y="1481677"/>
            <a:chExt cx="5370761" cy="707785"/>
          </a:xfrm>
        </p:grpSpPr>
        <p:pic>
          <p:nvPicPr>
            <p:cNvPr id="48" name="그림 47">
              <a:extLst>
                <a:ext uri="{FF2B5EF4-FFF2-40B4-BE49-F238E27FC236}">
                  <a16:creationId xmlns:a16="http://schemas.microsoft.com/office/drawing/2014/main" id="{F568935E-0B75-4333-993A-3F5B98D23B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1439" y="1649508"/>
              <a:ext cx="181778" cy="48475"/>
            </a:xfrm>
            <a:prstGeom prst="rect">
              <a:avLst/>
            </a:prstGeom>
          </p:spPr>
        </p:pic>
        <p:sp>
          <p:nvSpPr>
            <p:cNvPr id="49" name="텍스트 개체 틀 7">
              <a:extLst>
                <a:ext uri="{FF2B5EF4-FFF2-40B4-BE49-F238E27FC236}">
                  <a16:creationId xmlns:a16="http://schemas.microsoft.com/office/drawing/2014/main" id="{48541313-7880-4399-9057-07BE849224D9}"/>
                </a:ext>
              </a:extLst>
            </p:cNvPr>
            <p:cNvSpPr txBox="1">
              <a:spLocks/>
            </p:cNvSpPr>
            <p:nvPr/>
          </p:nvSpPr>
          <p:spPr>
            <a:xfrm>
              <a:off x="1194910" y="1481677"/>
              <a:ext cx="5177290" cy="7077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schemeClr val="tx1">
                    <a:lumMod val="65000"/>
                    <a:lumOff val="35000"/>
                  </a:schemeClr>
                </a:buClr>
                <a:buSzPct val="100000"/>
              </a:pP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주주가 </a:t>
              </a:r>
              <a:r>
                <a:rPr lang="en-US" altLang="ko-KR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CEO</a:t>
              </a: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의 경영능력을 평가하는 대표적인 지표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AB927F31-38AC-EB51-D804-6EBF73D54F57}"/>
              </a:ext>
            </a:extLst>
          </p:cNvPr>
          <p:cNvGrpSpPr/>
          <p:nvPr/>
        </p:nvGrpSpPr>
        <p:grpSpPr>
          <a:xfrm>
            <a:off x="923539" y="1668671"/>
            <a:ext cx="5736693" cy="707785"/>
            <a:chOff x="1001439" y="1481677"/>
            <a:chExt cx="5370761" cy="689210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F654CEEF-95F1-8F46-8933-AE2F63229E1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1439" y="1649508"/>
              <a:ext cx="181778" cy="48475"/>
            </a:xfrm>
            <a:prstGeom prst="rect">
              <a:avLst/>
            </a:prstGeom>
          </p:spPr>
        </p:pic>
        <p:sp>
          <p:nvSpPr>
            <p:cNvPr id="4" name="텍스트 개체 틀 7">
              <a:extLst>
                <a:ext uri="{FF2B5EF4-FFF2-40B4-BE49-F238E27FC236}">
                  <a16:creationId xmlns:a16="http://schemas.microsoft.com/office/drawing/2014/main" id="{F039C498-38D0-007A-815A-C76D7E3FB20E}"/>
                </a:ext>
              </a:extLst>
            </p:cNvPr>
            <p:cNvSpPr txBox="1">
              <a:spLocks/>
            </p:cNvSpPr>
            <p:nvPr/>
          </p:nvSpPr>
          <p:spPr>
            <a:xfrm>
              <a:off x="1194910" y="1481677"/>
              <a:ext cx="5177290" cy="6892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schemeClr val="tx1">
                    <a:lumMod val="65000"/>
                    <a:lumOff val="35000"/>
                  </a:schemeClr>
                </a:buClr>
                <a:buSzPct val="100000"/>
              </a:pP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기업의 모든 비용</a:t>
              </a:r>
              <a:r>
                <a:rPr lang="en-US" altLang="ko-KR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</a:t>
              </a: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영업비용</a:t>
              </a:r>
              <a:r>
                <a:rPr lang="en-US" altLang="ko-KR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+</a:t>
              </a: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영업외비용</a:t>
              </a:r>
              <a:r>
                <a:rPr lang="en-US" altLang="ko-KR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+</a:t>
              </a: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법인세</a:t>
              </a:r>
              <a:r>
                <a:rPr lang="en-US" altLang="ko-KR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</a:t>
              </a: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을 공제하고 난 후의 이익</a:t>
              </a:r>
              <a:r>
                <a:rPr lang="en-US" altLang="ko-KR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</a:t>
              </a: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세후 이익</a:t>
              </a:r>
              <a:r>
                <a:rPr lang="en-US" altLang="ko-KR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</a:t>
              </a: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05720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98B68E21-90D0-4D31-B157-923C23C15EA9}"/>
              </a:ext>
            </a:extLst>
          </p:cNvPr>
          <p:cNvSpPr txBox="1"/>
          <p:nvPr/>
        </p:nvSpPr>
        <p:spPr bwMode="auto">
          <a:xfrm>
            <a:off x="611560" y="4862"/>
            <a:ext cx="504056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l"/>
            <a:r>
              <a:rPr lang="ko-KR" altLang="en-US" sz="2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손익계산서 분석</a:t>
            </a:r>
            <a:r>
              <a:rPr lang="en-US" altLang="ko-KR" sz="2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 – </a:t>
            </a:r>
            <a:r>
              <a:rPr lang="ko-KR" altLang="en-US" sz="2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수익성</a:t>
            </a:r>
            <a:r>
              <a:rPr lang="en-US" altLang="ko-KR" sz="2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, </a:t>
            </a:r>
            <a:r>
              <a:rPr lang="ko-KR" altLang="en-US" sz="2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안전성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789F2B3A-8CF0-4362-9F87-49CBFAD67BC4}"/>
              </a:ext>
            </a:extLst>
          </p:cNvPr>
          <p:cNvGrpSpPr/>
          <p:nvPr/>
        </p:nvGrpSpPr>
        <p:grpSpPr>
          <a:xfrm>
            <a:off x="318642" y="584916"/>
            <a:ext cx="6129098" cy="430887"/>
            <a:chOff x="318642" y="584916"/>
            <a:chExt cx="6129098" cy="430887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7168F83D-429A-41D3-8B33-235E199FCB80}"/>
                </a:ext>
              </a:extLst>
            </p:cNvPr>
            <p:cNvGrpSpPr/>
            <p:nvPr/>
          </p:nvGrpSpPr>
          <p:grpSpPr>
            <a:xfrm>
              <a:off x="318642" y="643765"/>
              <a:ext cx="301119" cy="308214"/>
              <a:chOff x="318642" y="643765"/>
              <a:chExt cx="301119" cy="308214"/>
            </a:xfrm>
          </p:grpSpPr>
          <p:pic>
            <p:nvPicPr>
              <p:cNvPr id="23" name="그림 22">
                <a:extLst>
                  <a:ext uri="{FF2B5EF4-FFF2-40B4-BE49-F238E27FC236}">
                    <a16:creationId xmlns:a16="http://schemas.microsoft.com/office/drawing/2014/main" id="{34427AA4-AE45-48B2-964F-6923F69360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0239" y="643765"/>
                <a:ext cx="297202" cy="297202"/>
              </a:xfrm>
              <a:prstGeom prst="rect">
                <a:avLst/>
              </a:prstGeom>
            </p:spPr>
          </p:pic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2A0DDB3-FE27-45F6-BCEF-26C6DDF97991}"/>
                  </a:ext>
                </a:extLst>
              </p:cNvPr>
              <p:cNvSpPr txBox="1"/>
              <p:nvPr/>
            </p:nvSpPr>
            <p:spPr bwMode="auto">
              <a:xfrm>
                <a:off x="318642" y="644202"/>
                <a:ext cx="301119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sz="1400" b="1" dirty="0">
                    <a:ln>
                      <a:solidFill>
                        <a:srgbClr val="218BFF">
                          <a:alpha val="0"/>
                        </a:srgbClr>
                      </a:solidFill>
                    </a:ln>
                    <a:solidFill>
                      <a:srgbClr val="4B3D8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3</a:t>
                </a:r>
                <a:endParaRPr lang="ko-KR" altLang="en-US" sz="1400" b="1" dirty="0">
                  <a:ln>
                    <a:solidFill>
                      <a:srgbClr val="218BFF">
                        <a:alpha val="0"/>
                      </a:srgbClr>
                    </a:solidFill>
                  </a:ln>
                  <a:solidFill>
                    <a:srgbClr val="4B3D8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FB705C6-7B5F-4956-A561-E609BB83C2C4}"/>
                </a:ext>
              </a:extLst>
            </p:cNvPr>
            <p:cNvSpPr txBox="1"/>
            <p:nvPr/>
          </p:nvSpPr>
          <p:spPr bwMode="auto">
            <a:xfrm>
              <a:off x="628566" y="584916"/>
              <a:ext cx="5819174" cy="4308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spAutoFit/>
            </a:bodyPr>
            <a:lstStyle/>
            <a:p>
              <a:pPr algn="l"/>
              <a:r>
                <a:rPr lang="ko-KR" altLang="en-US" sz="2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바른고딕" pitchFamily="50" charset="-127"/>
                  <a:ea typeface="나눔바른고딕" pitchFamily="50" charset="-127"/>
                </a:rPr>
                <a:t>이자보상배율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8315EB5B-38D6-4C4D-B540-825B199DC3C3}"/>
              </a:ext>
            </a:extLst>
          </p:cNvPr>
          <p:cNvGrpSpPr/>
          <p:nvPr/>
        </p:nvGrpSpPr>
        <p:grpSpPr>
          <a:xfrm>
            <a:off x="613941" y="1059509"/>
            <a:ext cx="5577309" cy="400009"/>
            <a:chOff x="613941" y="1059509"/>
            <a:chExt cx="5577309" cy="400009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A7670F00-8FA5-4113-AB23-D09FE1021C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3941" y="1141320"/>
              <a:ext cx="228907" cy="220582"/>
            </a:xfrm>
            <a:prstGeom prst="rect">
              <a:avLst/>
            </a:prstGeom>
          </p:spPr>
        </p:pic>
        <p:sp>
          <p:nvSpPr>
            <p:cNvPr id="19" name="텍스트 개체 틀 7">
              <a:extLst>
                <a:ext uri="{FF2B5EF4-FFF2-40B4-BE49-F238E27FC236}">
                  <a16:creationId xmlns:a16="http://schemas.microsoft.com/office/drawing/2014/main" id="{4C722A56-549B-48C6-9123-DC630D93243F}"/>
                </a:ext>
              </a:extLst>
            </p:cNvPr>
            <p:cNvSpPr txBox="1">
              <a:spLocks/>
            </p:cNvSpPr>
            <p:nvPr/>
          </p:nvSpPr>
          <p:spPr>
            <a:xfrm>
              <a:off x="835467" y="1059509"/>
              <a:ext cx="5355783" cy="400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prstClr val="black">
                    <a:lumMod val="75000"/>
                    <a:lumOff val="25000"/>
                  </a:prstClr>
                </a:buClr>
                <a:defRPr/>
              </a:pP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영업이익</a:t>
              </a: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en-US" altLang="ko-KR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÷ </a:t>
              </a: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이자비용</a:t>
              </a:r>
              <a:endParaRPr lang="en-US" altLang="ko-KR" sz="200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EE303A3D-C0BF-4E0A-AD90-3655C3418C95}"/>
              </a:ext>
            </a:extLst>
          </p:cNvPr>
          <p:cNvGrpSpPr/>
          <p:nvPr/>
        </p:nvGrpSpPr>
        <p:grpSpPr>
          <a:xfrm>
            <a:off x="971459" y="1481677"/>
            <a:ext cx="5370761" cy="707785"/>
            <a:chOff x="1001439" y="1481677"/>
            <a:chExt cx="5370761" cy="707785"/>
          </a:xfrm>
        </p:grpSpPr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B8375CD8-9A47-47C1-978F-F37FB76D516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1439" y="1649508"/>
              <a:ext cx="181778" cy="48475"/>
            </a:xfrm>
            <a:prstGeom prst="rect">
              <a:avLst/>
            </a:prstGeom>
          </p:spPr>
        </p:pic>
        <p:sp>
          <p:nvSpPr>
            <p:cNvPr id="26" name="텍스트 개체 틀 7">
              <a:extLst>
                <a:ext uri="{FF2B5EF4-FFF2-40B4-BE49-F238E27FC236}">
                  <a16:creationId xmlns:a16="http://schemas.microsoft.com/office/drawing/2014/main" id="{7D0F74E4-38A5-49D8-86E3-D333392DD85F}"/>
                </a:ext>
              </a:extLst>
            </p:cNvPr>
            <p:cNvSpPr txBox="1">
              <a:spLocks/>
            </p:cNvSpPr>
            <p:nvPr/>
          </p:nvSpPr>
          <p:spPr>
            <a:xfrm>
              <a:off x="1194910" y="1481677"/>
              <a:ext cx="5177290" cy="7077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schemeClr val="tx1">
                    <a:lumMod val="65000"/>
                    <a:lumOff val="35000"/>
                  </a:schemeClr>
                </a:buClr>
                <a:buSzPct val="100000"/>
              </a:pP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부채가 많아 내야하는 이자가 많다면 이자보상배율은 낮아짐</a:t>
              </a: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2BC64FE4-38D2-4D9A-8FEC-A0A9CBC012B1}"/>
              </a:ext>
            </a:extLst>
          </p:cNvPr>
          <p:cNvGrpSpPr/>
          <p:nvPr/>
        </p:nvGrpSpPr>
        <p:grpSpPr>
          <a:xfrm>
            <a:off x="989702" y="2224005"/>
            <a:ext cx="5370761" cy="707785"/>
            <a:chOff x="1001439" y="1481677"/>
            <a:chExt cx="5370761" cy="707785"/>
          </a:xfrm>
        </p:grpSpPr>
        <p:pic>
          <p:nvPicPr>
            <p:cNvPr id="48" name="그림 47">
              <a:extLst>
                <a:ext uri="{FF2B5EF4-FFF2-40B4-BE49-F238E27FC236}">
                  <a16:creationId xmlns:a16="http://schemas.microsoft.com/office/drawing/2014/main" id="{F568935E-0B75-4333-993A-3F5B98D23B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1439" y="1649508"/>
              <a:ext cx="181778" cy="48475"/>
            </a:xfrm>
            <a:prstGeom prst="rect">
              <a:avLst/>
            </a:prstGeom>
          </p:spPr>
        </p:pic>
        <p:sp>
          <p:nvSpPr>
            <p:cNvPr id="49" name="텍스트 개체 틀 7">
              <a:extLst>
                <a:ext uri="{FF2B5EF4-FFF2-40B4-BE49-F238E27FC236}">
                  <a16:creationId xmlns:a16="http://schemas.microsoft.com/office/drawing/2014/main" id="{48541313-7880-4399-9057-07BE849224D9}"/>
                </a:ext>
              </a:extLst>
            </p:cNvPr>
            <p:cNvSpPr txBox="1">
              <a:spLocks/>
            </p:cNvSpPr>
            <p:nvPr/>
          </p:nvSpPr>
          <p:spPr>
            <a:xfrm>
              <a:off x="1194910" y="1481677"/>
              <a:ext cx="5177290" cy="7077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schemeClr val="tx1">
                    <a:lumMod val="65000"/>
                    <a:lumOff val="35000"/>
                  </a:schemeClr>
                </a:buClr>
                <a:buSzPct val="100000"/>
              </a:pP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영업활동을 통해 나오는 이익으로 이자를 낼 수 있는지를 측정</a:t>
              </a: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122B24BB-5121-4280-BEFB-EAFFE51D69A9}"/>
              </a:ext>
            </a:extLst>
          </p:cNvPr>
          <p:cNvGrpSpPr/>
          <p:nvPr/>
        </p:nvGrpSpPr>
        <p:grpSpPr>
          <a:xfrm>
            <a:off x="971459" y="2993845"/>
            <a:ext cx="5370761" cy="400009"/>
            <a:chOff x="1001439" y="1481677"/>
            <a:chExt cx="5370761" cy="400009"/>
          </a:xfrm>
        </p:grpSpPr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D9D3C871-F0C4-4832-868D-0DD73B0B1F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1439" y="1649508"/>
              <a:ext cx="181778" cy="48475"/>
            </a:xfrm>
            <a:prstGeom prst="rect">
              <a:avLst/>
            </a:prstGeom>
          </p:spPr>
        </p:pic>
        <p:sp>
          <p:nvSpPr>
            <p:cNvPr id="29" name="텍스트 개체 틀 7">
              <a:extLst>
                <a:ext uri="{FF2B5EF4-FFF2-40B4-BE49-F238E27FC236}">
                  <a16:creationId xmlns:a16="http://schemas.microsoft.com/office/drawing/2014/main" id="{F7E63087-9F20-4F1D-B551-7305CB9284D5}"/>
                </a:ext>
              </a:extLst>
            </p:cNvPr>
            <p:cNvSpPr txBox="1">
              <a:spLocks/>
            </p:cNvSpPr>
            <p:nvPr/>
          </p:nvSpPr>
          <p:spPr>
            <a:xfrm>
              <a:off x="1194910" y="1481677"/>
              <a:ext cx="5177290" cy="400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schemeClr val="tx1">
                    <a:lumMod val="65000"/>
                    <a:lumOff val="35000"/>
                  </a:schemeClr>
                </a:buClr>
                <a:buSzPct val="100000"/>
              </a:pPr>
              <a:r>
                <a:rPr lang="ko-KR" altLang="en-US" sz="2000" b="0" spc="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포괄손익계산서에서</a:t>
              </a: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재무구조의 안전성을 측정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58849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98B68E21-90D0-4D31-B157-923C23C15EA9}"/>
              </a:ext>
            </a:extLst>
          </p:cNvPr>
          <p:cNvSpPr txBox="1"/>
          <p:nvPr/>
        </p:nvSpPr>
        <p:spPr bwMode="auto">
          <a:xfrm>
            <a:off x="611560" y="4862"/>
            <a:ext cx="504056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l"/>
            <a:r>
              <a:rPr lang="ko-KR" altLang="en-US" sz="2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손익계산서 분석</a:t>
            </a:r>
            <a:r>
              <a:rPr lang="en-US" altLang="ko-KR" sz="2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 – </a:t>
            </a:r>
            <a:r>
              <a:rPr lang="ko-KR" altLang="en-US" sz="2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수익성</a:t>
            </a:r>
            <a:r>
              <a:rPr lang="en-US" altLang="ko-KR" sz="2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, </a:t>
            </a:r>
            <a:r>
              <a:rPr lang="ko-KR" altLang="en-US" sz="2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안전성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789F2B3A-8CF0-4362-9F87-49CBFAD67BC4}"/>
              </a:ext>
            </a:extLst>
          </p:cNvPr>
          <p:cNvGrpSpPr/>
          <p:nvPr/>
        </p:nvGrpSpPr>
        <p:grpSpPr>
          <a:xfrm>
            <a:off x="318642" y="584916"/>
            <a:ext cx="6129098" cy="430887"/>
            <a:chOff x="318642" y="584916"/>
            <a:chExt cx="6129098" cy="430887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7168F83D-429A-41D3-8B33-235E199FCB80}"/>
                </a:ext>
              </a:extLst>
            </p:cNvPr>
            <p:cNvGrpSpPr/>
            <p:nvPr/>
          </p:nvGrpSpPr>
          <p:grpSpPr>
            <a:xfrm>
              <a:off x="318642" y="643765"/>
              <a:ext cx="301119" cy="308214"/>
              <a:chOff x="318642" y="643765"/>
              <a:chExt cx="301119" cy="308214"/>
            </a:xfrm>
          </p:grpSpPr>
          <p:pic>
            <p:nvPicPr>
              <p:cNvPr id="23" name="그림 22">
                <a:extLst>
                  <a:ext uri="{FF2B5EF4-FFF2-40B4-BE49-F238E27FC236}">
                    <a16:creationId xmlns:a16="http://schemas.microsoft.com/office/drawing/2014/main" id="{34427AA4-AE45-48B2-964F-6923F69360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0239" y="643765"/>
                <a:ext cx="297202" cy="297202"/>
              </a:xfrm>
              <a:prstGeom prst="rect">
                <a:avLst/>
              </a:prstGeom>
            </p:spPr>
          </p:pic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2A0DDB3-FE27-45F6-BCEF-26C6DDF97991}"/>
                  </a:ext>
                </a:extLst>
              </p:cNvPr>
              <p:cNvSpPr txBox="1"/>
              <p:nvPr/>
            </p:nvSpPr>
            <p:spPr bwMode="auto">
              <a:xfrm>
                <a:off x="318642" y="644202"/>
                <a:ext cx="301119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sz="1400" b="1" dirty="0">
                    <a:ln>
                      <a:solidFill>
                        <a:srgbClr val="218BFF">
                          <a:alpha val="0"/>
                        </a:srgbClr>
                      </a:solidFill>
                    </a:ln>
                    <a:solidFill>
                      <a:srgbClr val="4B3D8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3</a:t>
                </a:r>
                <a:endParaRPr lang="ko-KR" altLang="en-US" sz="1400" b="1" dirty="0">
                  <a:ln>
                    <a:solidFill>
                      <a:srgbClr val="218BFF">
                        <a:alpha val="0"/>
                      </a:srgbClr>
                    </a:solidFill>
                  </a:ln>
                  <a:solidFill>
                    <a:srgbClr val="4B3D8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FB705C6-7B5F-4956-A561-E609BB83C2C4}"/>
                </a:ext>
              </a:extLst>
            </p:cNvPr>
            <p:cNvSpPr txBox="1"/>
            <p:nvPr/>
          </p:nvSpPr>
          <p:spPr bwMode="auto">
            <a:xfrm>
              <a:off x="628566" y="584916"/>
              <a:ext cx="5819174" cy="4308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spAutoFit/>
            </a:bodyPr>
            <a:lstStyle/>
            <a:p>
              <a:pPr algn="l"/>
              <a:r>
                <a:rPr lang="ko-KR" altLang="en-US" sz="2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바른고딕" pitchFamily="50" charset="-127"/>
                  <a:ea typeface="나눔바른고딕" pitchFamily="50" charset="-127"/>
                </a:rPr>
                <a:t>이자보상배율</a:t>
              </a: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7623BB23-5693-4F39-BBBA-5D32693BE527}"/>
              </a:ext>
            </a:extLst>
          </p:cNvPr>
          <p:cNvGrpSpPr/>
          <p:nvPr/>
        </p:nvGrpSpPr>
        <p:grpSpPr>
          <a:xfrm>
            <a:off x="899592" y="1491630"/>
            <a:ext cx="5370761" cy="707785"/>
            <a:chOff x="1001439" y="1481677"/>
            <a:chExt cx="5370761" cy="707785"/>
          </a:xfrm>
        </p:grpSpPr>
        <p:pic>
          <p:nvPicPr>
            <p:cNvPr id="32" name="그림 31">
              <a:extLst>
                <a:ext uri="{FF2B5EF4-FFF2-40B4-BE49-F238E27FC236}">
                  <a16:creationId xmlns:a16="http://schemas.microsoft.com/office/drawing/2014/main" id="{43FD7933-9A3C-48B2-B709-9FC3980E64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1439" y="1649508"/>
              <a:ext cx="181778" cy="48475"/>
            </a:xfrm>
            <a:prstGeom prst="rect">
              <a:avLst/>
            </a:prstGeom>
          </p:spPr>
        </p:pic>
        <p:sp>
          <p:nvSpPr>
            <p:cNvPr id="33" name="텍스트 개체 틀 7">
              <a:extLst>
                <a:ext uri="{FF2B5EF4-FFF2-40B4-BE49-F238E27FC236}">
                  <a16:creationId xmlns:a16="http://schemas.microsoft.com/office/drawing/2014/main" id="{873F55B2-7924-416A-99E0-4D3752141430}"/>
                </a:ext>
              </a:extLst>
            </p:cNvPr>
            <p:cNvSpPr txBox="1">
              <a:spLocks/>
            </p:cNvSpPr>
            <p:nvPr/>
          </p:nvSpPr>
          <p:spPr>
            <a:xfrm>
              <a:off x="1194910" y="1481677"/>
              <a:ext cx="5177290" cy="7077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schemeClr val="tx1">
                    <a:lumMod val="65000"/>
                    <a:lumOff val="35000"/>
                  </a:schemeClr>
                </a:buClr>
                <a:buSzPct val="100000"/>
              </a:pP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일반적으로 </a:t>
              </a:r>
              <a:r>
                <a:rPr lang="en-US" altLang="ko-KR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3</a:t>
              </a: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배가 되어야 적정하다고 보며</a:t>
              </a:r>
              <a:r>
                <a:rPr lang="en-US" altLang="ko-KR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, </a:t>
              </a: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최소한 </a:t>
              </a:r>
              <a:r>
                <a:rPr lang="en-US" altLang="ko-KR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1.5</a:t>
              </a: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는 되어야 함</a:t>
              </a: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0627B970-4F3A-422B-8EB1-EC18C417D05B}"/>
              </a:ext>
            </a:extLst>
          </p:cNvPr>
          <p:cNvGrpSpPr/>
          <p:nvPr/>
        </p:nvGrpSpPr>
        <p:grpSpPr>
          <a:xfrm>
            <a:off x="881440" y="2248180"/>
            <a:ext cx="5370761" cy="707785"/>
            <a:chOff x="1001439" y="1481677"/>
            <a:chExt cx="5370761" cy="707785"/>
          </a:xfrm>
        </p:grpSpPr>
        <p:pic>
          <p:nvPicPr>
            <p:cNvPr id="35" name="그림 34">
              <a:extLst>
                <a:ext uri="{FF2B5EF4-FFF2-40B4-BE49-F238E27FC236}">
                  <a16:creationId xmlns:a16="http://schemas.microsoft.com/office/drawing/2014/main" id="{2243F0CD-8ABA-44CB-BBBE-C743F67C47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1439" y="1649508"/>
              <a:ext cx="181778" cy="48475"/>
            </a:xfrm>
            <a:prstGeom prst="rect">
              <a:avLst/>
            </a:prstGeom>
          </p:spPr>
        </p:pic>
        <p:sp>
          <p:nvSpPr>
            <p:cNvPr id="36" name="텍스트 개체 틀 7">
              <a:extLst>
                <a:ext uri="{FF2B5EF4-FFF2-40B4-BE49-F238E27FC236}">
                  <a16:creationId xmlns:a16="http://schemas.microsoft.com/office/drawing/2014/main" id="{2AECC18E-F2EC-4910-80CC-A365E7B827E3}"/>
                </a:ext>
              </a:extLst>
            </p:cNvPr>
            <p:cNvSpPr txBox="1">
              <a:spLocks/>
            </p:cNvSpPr>
            <p:nvPr/>
          </p:nvSpPr>
          <p:spPr>
            <a:xfrm>
              <a:off x="1194910" y="1481677"/>
              <a:ext cx="5177290" cy="7077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schemeClr val="tx1">
                    <a:lumMod val="65000"/>
                    <a:lumOff val="35000"/>
                  </a:schemeClr>
                </a:buClr>
                <a:buSzPct val="100000"/>
              </a:pP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이자보상배율이 </a:t>
              </a:r>
              <a:r>
                <a:rPr lang="en-US" altLang="ko-KR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1 </a:t>
              </a: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미만이면 영업활동으로 이자도 </a:t>
              </a:r>
              <a:r>
                <a:rPr lang="ko-KR" altLang="en-US" sz="2000" b="0" spc="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못내는</a:t>
              </a: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부실기업</a:t>
              </a: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0627B970-4F3A-422B-8EB1-EC18C417D05B}"/>
              </a:ext>
            </a:extLst>
          </p:cNvPr>
          <p:cNvGrpSpPr/>
          <p:nvPr/>
        </p:nvGrpSpPr>
        <p:grpSpPr>
          <a:xfrm>
            <a:off x="852772" y="3108144"/>
            <a:ext cx="5370761" cy="707785"/>
            <a:chOff x="1001439" y="1481677"/>
            <a:chExt cx="5370761" cy="707785"/>
          </a:xfrm>
        </p:grpSpPr>
        <p:pic>
          <p:nvPicPr>
            <p:cNvPr id="38" name="그림 37">
              <a:extLst>
                <a:ext uri="{FF2B5EF4-FFF2-40B4-BE49-F238E27FC236}">
                  <a16:creationId xmlns:a16="http://schemas.microsoft.com/office/drawing/2014/main" id="{2243F0CD-8ABA-44CB-BBBE-C743F67C47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1439" y="1649508"/>
              <a:ext cx="181778" cy="48475"/>
            </a:xfrm>
            <a:prstGeom prst="rect">
              <a:avLst/>
            </a:prstGeom>
          </p:spPr>
        </p:pic>
        <p:sp>
          <p:nvSpPr>
            <p:cNvPr id="39" name="텍스트 개체 틀 7">
              <a:extLst>
                <a:ext uri="{FF2B5EF4-FFF2-40B4-BE49-F238E27FC236}">
                  <a16:creationId xmlns:a16="http://schemas.microsoft.com/office/drawing/2014/main" id="{2AECC18E-F2EC-4910-80CC-A365E7B827E3}"/>
                </a:ext>
              </a:extLst>
            </p:cNvPr>
            <p:cNvSpPr txBox="1">
              <a:spLocks/>
            </p:cNvSpPr>
            <p:nvPr/>
          </p:nvSpPr>
          <p:spPr>
            <a:xfrm>
              <a:off x="1194910" y="1481677"/>
              <a:ext cx="5177290" cy="7077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schemeClr val="tx1">
                    <a:lumMod val="65000"/>
                    <a:lumOff val="35000"/>
                  </a:schemeClr>
                </a:buClr>
                <a:buSzPct val="100000"/>
              </a:pP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이자보상배율이 </a:t>
              </a:r>
              <a:r>
                <a:rPr lang="en-US" altLang="ko-KR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1 </a:t>
              </a: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미만인 상황이 </a:t>
              </a:r>
              <a:r>
                <a:rPr lang="en-US" altLang="ko-KR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3</a:t>
              </a: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년 이상이면 움직이는 시체라는 의미에서 </a:t>
              </a:r>
              <a:r>
                <a:rPr lang="en-US" altLang="ko-KR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‘</a:t>
              </a:r>
              <a:r>
                <a:rPr lang="ko-KR" altLang="en-US" sz="2000" b="0" spc="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좀비기업</a:t>
              </a:r>
              <a:r>
                <a:rPr lang="en-US" altLang="ko-KR" sz="2000" b="0" spc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＇</a:t>
              </a:r>
              <a:endParaRPr lang="ko-KR" altLang="en-US" sz="20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5287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5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38100">
          <a:noFill/>
        </a:ln>
        <a:effectLst>
          <a:outerShdw blurRad="50800" dist="38100" dir="5400000" algn="t" rotWithShape="0">
            <a:schemeClr val="bg1">
              <a:lumMod val="50000"/>
              <a:alpha val="41000"/>
            </a:schemeClr>
          </a:outerShdw>
        </a:effectLst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l" defTabSz="744139" fontAlgn="auto">
          <a:spcBef>
            <a:spcPts val="488"/>
          </a:spcBef>
          <a:spcAft>
            <a:spcPts val="814"/>
          </a:spcAft>
          <a:buClr>
            <a:prstClr val="white">
              <a:lumMod val="50000"/>
            </a:prstClr>
          </a:buClr>
          <a:defRPr kumimoji="0" sz="1800" spc="-122" dirty="0">
            <a:ln>
              <a:solidFill>
                <a:srgbClr val="E2E2E2">
                  <a:alpha val="0"/>
                </a:srgbClr>
              </a:solidFill>
            </a:ln>
            <a:solidFill>
              <a:prstClr val="black"/>
            </a:solidFill>
            <a:latin typeface="나눔바른고딕" panose="020B0603020101020101" pitchFamily="50" charset="-127"/>
            <a:ea typeface="나눔바른고딕" panose="020B0603020101020101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71761</TotalTime>
  <Words>199</Words>
  <Application>Microsoft Office PowerPoint</Application>
  <PresentationFormat>화면 슬라이드 쇼(16:9)</PresentationFormat>
  <Paragraphs>36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1" baseType="lpstr">
      <vt:lpstr>Wingdings</vt:lpstr>
      <vt:lpstr>나눔고딕</vt:lpstr>
      <vt:lpstr>Arial</vt:lpstr>
      <vt:lpstr>돋움</vt:lpstr>
      <vt:lpstr>나눔바른고딕</vt:lpstr>
      <vt:lpstr>5_Office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CELK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스토리보드</dc:title>
  <dc:creator>CELK</dc:creator>
  <cp:lastModifiedBy>위성백</cp:lastModifiedBy>
  <cp:revision>5822</cp:revision>
  <cp:lastPrinted>2015-05-26T08:39:57Z</cp:lastPrinted>
  <dcterms:created xsi:type="dcterms:W3CDTF">2004-07-08T01:15:15Z</dcterms:created>
  <dcterms:modified xsi:type="dcterms:W3CDTF">2024-10-06T12:38:49Z</dcterms:modified>
</cp:coreProperties>
</file>
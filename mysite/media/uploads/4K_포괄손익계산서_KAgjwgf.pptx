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5081" r:id="rId1"/>
  </p:sldMasterIdLst>
  <p:notesMasterIdLst>
    <p:notesMasterId r:id="rId16"/>
  </p:notesMasterIdLst>
  <p:handoutMasterIdLst>
    <p:handoutMasterId r:id="rId17"/>
  </p:handoutMasterIdLst>
  <p:sldIdLst>
    <p:sldId id="1467" r:id="rId2"/>
    <p:sldId id="1455" r:id="rId3"/>
    <p:sldId id="1456" r:id="rId4"/>
    <p:sldId id="1458" r:id="rId5"/>
    <p:sldId id="1457" r:id="rId6"/>
    <p:sldId id="1459" r:id="rId7"/>
    <p:sldId id="1460" r:id="rId8"/>
    <p:sldId id="1461" r:id="rId9"/>
    <p:sldId id="1462" r:id="rId10"/>
    <p:sldId id="1463" r:id="rId11"/>
    <p:sldId id="1464" r:id="rId12"/>
    <p:sldId id="1465" r:id="rId13"/>
    <p:sldId id="1468" r:id="rId14"/>
    <p:sldId id="1466" r:id="rId15"/>
  </p:sldIdLst>
  <p:sldSz cx="9144000" cy="5143500" type="screen16x9"/>
  <p:notesSz cx="6735763" cy="9866313"/>
  <p:embeddedFontLst>
    <p:embeddedFont>
      <p:font typeface="나눔바른고딕" panose="020B0600000101010101" charset="-127"/>
      <p:regular r:id="rId18"/>
      <p:bold r:id="rId19"/>
    </p:embeddedFont>
    <p:embeddedFont>
      <p:font typeface="나눔고딕" pitchFamily="2" charset="-127"/>
      <p:regular r:id="rId20"/>
      <p:bold r:id="rId21"/>
    </p:embeddedFont>
  </p:embeddedFontLst>
  <p:defaultTextStyle>
    <a:defPPr>
      <a:defRPr lang="ko-KR"/>
    </a:defPPr>
    <a:lvl1pPr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1pPr>
    <a:lvl2pPr marL="389582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2pPr>
    <a:lvl3pPr marL="779163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3pPr>
    <a:lvl4pPr marL="1168745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4pPr>
    <a:lvl5pPr marL="1558326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5pPr>
    <a:lvl6pPr marL="1947908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6pPr>
    <a:lvl7pPr marL="2337489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7pPr>
    <a:lvl8pPr marL="2727071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8pPr>
    <a:lvl9pPr marL="3116652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orient="horz" pos="395" userDrawn="1">
          <p15:clr>
            <a:srgbClr val="A4A3A4"/>
          </p15:clr>
        </p15:guide>
        <p15:guide id="45" orient="horz" pos="577" userDrawn="1">
          <p15:clr>
            <a:srgbClr val="A4A3A4"/>
          </p15:clr>
        </p15:guide>
        <p15:guide id="49" orient="horz" pos="713" userDrawn="1">
          <p15:clr>
            <a:srgbClr val="A4A3A4"/>
          </p15:clr>
        </p15:guide>
        <p15:guide id="50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  <p15:guide id="3" orient="horz" pos="3107">
          <p15:clr>
            <a:srgbClr val="A4A3A4"/>
          </p15:clr>
        </p15:guide>
        <p15:guide id="4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5DD9"/>
    <a:srgbClr val="673BB7"/>
    <a:srgbClr val="218BFF"/>
    <a:srgbClr val="FF3300"/>
    <a:srgbClr val="4527A1"/>
    <a:srgbClr val="00645F"/>
    <a:srgbClr val="00C0A0"/>
    <a:srgbClr val="00A19A"/>
    <a:srgbClr val="5D87FF"/>
    <a:srgbClr val="91A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96" autoAdjust="0"/>
    <p:restoredTop sz="94756" autoAdjust="0"/>
  </p:normalViewPr>
  <p:slideViewPr>
    <p:cSldViewPr>
      <p:cViewPr varScale="1">
        <p:scale>
          <a:sx n="96" d="100"/>
          <a:sy n="96" d="100"/>
        </p:scale>
        <p:origin x="869" y="115"/>
      </p:cViewPr>
      <p:guideLst>
        <p:guide orient="horz" pos="395"/>
        <p:guide orient="horz" pos="577"/>
        <p:guide orient="horz" pos="713"/>
        <p:guide pos="2880"/>
      </p:guideLst>
    </p:cSldViewPr>
  </p:slideViewPr>
  <p:outlineViewPr>
    <p:cViewPr>
      <p:scale>
        <a:sx n="33" d="100"/>
        <a:sy n="33" d="100"/>
      </p:scale>
      <p:origin x="36" y="14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3120" y="96"/>
      </p:cViewPr>
      <p:guideLst>
        <p:guide orient="horz" pos="3130"/>
        <p:guide pos="2144"/>
        <p:guide orient="horz" pos="3107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621" cy="493237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572" y="1"/>
            <a:ext cx="2918621" cy="493237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r">
              <a:defRPr sz="1200"/>
            </a:lvl1pPr>
          </a:lstStyle>
          <a:p>
            <a:pPr>
              <a:defRPr/>
            </a:pPr>
            <a:fld id="{995E349A-2F5C-4CD5-9D55-29F99897CE80}" type="datetimeFigureOut"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pPr>
                <a:defRPr/>
              </a:pPr>
              <a:t>2024-10-06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1501"/>
            <a:ext cx="2918621" cy="493236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572" y="9371501"/>
            <a:ext cx="2918621" cy="493236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r">
              <a:defRPr sz="1200"/>
            </a:lvl1pPr>
          </a:lstStyle>
          <a:p>
            <a:pPr>
              <a:defRPr/>
            </a:pPr>
            <a:fld id="{EE633E7D-3427-42F4-A51F-CFCCA527B5A1}" type="slidenum"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pPr>
                <a:defRPr/>
              </a:pPr>
              <a:t>‹#›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19651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>
            <a:lvl1pPr algn="l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7142" y="1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>
            <a:lvl1pPr algn="r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2550" y="741363"/>
            <a:ext cx="6572250" cy="36972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891" y="4684963"/>
            <a:ext cx="5387982" cy="4440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9925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b" anchorCtr="0" compatLnSpc="1">
            <a:prstTxWarp prst="textNoShape">
              <a:avLst/>
            </a:prstTxWarp>
          </a:bodyPr>
          <a:lstStyle>
            <a:lvl1pPr algn="l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7142" y="9369925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b" anchorCtr="0" compatLnSpc="1">
            <a:prstTxWarp prst="textNoShape">
              <a:avLst/>
            </a:prstTxWarp>
          </a:bodyPr>
          <a:lstStyle>
            <a:lvl1pPr algn="r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fld id="{57F922E9-5D2F-476E-8777-0371A815ABE5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868790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389582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779163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168745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1558326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1947908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37489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27071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16652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127A71-4278-454A-B20A-239BAC3E84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20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6FAE5FD-287A-4DCC-94A4-9D28B66F18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85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3D9466-BB4C-408A-B309-AFC79B0E8A17}"/>
              </a:ext>
            </a:extLst>
          </p:cNvPr>
          <p:cNvSpPr/>
          <p:nvPr userDrawn="1"/>
        </p:nvSpPr>
        <p:spPr bwMode="auto">
          <a:xfrm>
            <a:off x="8317728" y="-884634"/>
            <a:ext cx="826272" cy="826272"/>
          </a:xfrm>
          <a:prstGeom prst="rect">
            <a:avLst/>
          </a:prstGeom>
          <a:solidFill>
            <a:srgbClr val="F8E618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baseline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 안쪽 텍스트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6FEB3A-5702-4478-B6A4-D8F5ECA56838}"/>
              </a:ext>
            </a:extLst>
          </p:cNvPr>
          <p:cNvSpPr/>
          <p:nvPr userDrawn="1"/>
        </p:nvSpPr>
        <p:spPr bwMode="auto">
          <a:xfrm>
            <a:off x="7452320" y="-884634"/>
            <a:ext cx="826272" cy="826272"/>
          </a:xfrm>
          <a:prstGeom prst="rect">
            <a:avLst/>
          </a:prstGeom>
          <a:solidFill>
            <a:srgbClr val="0070C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사각형</a:t>
            </a:r>
            <a:r>
              <a:rPr lang="ko-KR" altLang="en-US" sz="1200" b="1" baseline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안쪽 텍스트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5BB67F9-25B4-4748-BCB2-4F8E7D0E2DD9}"/>
              </a:ext>
            </a:extLst>
          </p:cNvPr>
          <p:cNvSpPr/>
          <p:nvPr userDrawn="1"/>
        </p:nvSpPr>
        <p:spPr bwMode="auto">
          <a:xfrm>
            <a:off x="6588224" y="-884634"/>
            <a:ext cx="826272" cy="826272"/>
          </a:xfrm>
          <a:prstGeom prst="rect">
            <a:avLst/>
          </a:prstGeom>
          <a:solidFill>
            <a:srgbClr val="FF330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일반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E07E710-DA50-44D7-98B7-3B858DE1E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774A494B-ACC8-4974-990E-AE275BBFEF48}"/>
              </a:ext>
            </a:extLst>
          </p:cNvPr>
          <p:cNvSpPr/>
          <p:nvPr userDrawn="1"/>
        </p:nvSpPr>
        <p:spPr bwMode="auto">
          <a:xfrm>
            <a:off x="-5734" y="-536469"/>
            <a:ext cx="466409" cy="466409"/>
          </a:xfrm>
          <a:prstGeom prst="rect">
            <a:avLst/>
          </a:prstGeom>
          <a:solidFill>
            <a:srgbClr val="4527A1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EE135E5-6BDA-49BA-BA7F-9451CADBBE23}"/>
              </a:ext>
            </a:extLst>
          </p:cNvPr>
          <p:cNvSpPr/>
          <p:nvPr userDrawn="1"/>
        </p:nvSpPr>
        <p:spPr bwMode="auto">
          <a:xfrm>
            <a:off x="591972" y="-536469"/>
            <a:ext cx="466409" cy="466409"/>
          </a:xfrm>
          <a:prstGeom prst="rect">
            <a:avLst/>
          </a:prstGeom>
          <a:solidFill>
            <a:srgbClr val="673BB7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BB851AE-C349-42C6-AB5B-682582C6637B}"/>
              </a:ext>
            </a:extLst>
          </p:cNvPr>
          <p:cNvSpPr/>
          <p:nvPr userDrawn="1"/>
        </p:nvSpPr>
        <p:spPr bwMode="auto">
          <a:xfrm>
            <a:off x="1189678" y="-536469"/>
            <a:ext cx="466409" cy="466409"/>
          </a:xfrm>
          <a:prstGeom prst="rect">
            <a:avLst/>
          </a:prstGeom>
          <a:solidFill>
            <a:srgbClr val="8B5DD9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A61DC06-D50A-453E-93B2-9BEC30E327ED}"/>
              </a:ext>
            </a:extLst>
          </p:cNvPr>
          <p:cNvSpPr/>
          <p:nvPr userDrawn="1"/>
        </p:nvSpPr>
        <p:spPr bwMode="auto">
          <a:xfrm>
            <a:off x="4178208" y="-536469"/>
            <a:ext cx="466409" cy="466409"/>
          </a:xfrm>
          <a:prstGeom prst="rect">
            <a:avLst/>
          </a:prstGeom>
          <a:solidFill>
            <a:srgbClr val="218B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F79BCBD-9F7F-4ADC-B2BB-FBCF03C54322}"/>
              </a:ext>
            </a:extLst>
          </p:cNvPr>
          <p:cNvSpPr/>
          <p:nvPr userDrawn="1"/>
        </p:nvSpPr>
        <p:spPr bwMode="auto">
          <a:xfrm>
            <a:off x="1787384" y="-536469"/>
            <a:ext cx="466409" cy="466409"/>
          </a:xfrm>
          <a:prstGeom prst="rect">
            <a:avLst/>
          </a:prstGeom>
          <a:solidFill>
            <a:srgbClr val="A282D4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FC90F2A-3E39-407A-9069-45DD1FB7D871}"/>
              </a:ext>
            </a:extLst>
          </p:cNvPr>
          <p:cNvSpPr/>
          <p:nvPr userDrawn="1"/>
        </p:nvSpPr>
        <p:spPr bwMode="auto">
          <a:xfrm>
            <a:off x="4775914" y="-536469"/>
            <a:ext cx="466409" cy="466409"/>
          </a:xfrm>
          <a:prstGeom prst="rect">
            <a:avLst/>
          </a:prstGeom>
          <a:solidFill>
            <a:srgbClr val="215B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DA956BB-5771-4553-B13E-1E71490C76F2}"/>
              </a:ext>
            </a:extLst>
          </p:cNvPr>
          <p:cNvSpPr/>
          <p:nvPr userDrawn="1"/>
        </p:nvSpPr>
        <p:spPr bwMode="auto">
          <a:xfrm>
            <a:off x="5373620" y="-536469"/>
            <a:ext cx="466409" cy="466409"/>
          </a:xfrm>
          <a:prstGeom prst="rect">
            <a:avLst/>
          </a:prstGeom>
          <a:solidFill>
            <a:srgbClr val="5D87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C0B9687-547F-45C2-8540-360F2F7BA86B}"/>
              </a:ext>
            </a:extLst>
          </p:cNvPr>
          <p:cNvSpPr/>
          <p:nvPr userDrawn="1"/>
        </p:nvSpPr>
        <p:spPr bwMode="auto">
          <a:xfrm>
            <a:off x="3580502" y="-536469"/>
            <a:ext cx="466409" cy="466409"/>
          </a:xfrm>
          <a:prstGeom prst="rect">
            <a:avLst/>
          </a:prstGeom>
          <a:solidFill>
            <a:srgbClr val="67C1B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407C5BD-22B9-4E2C-B9CA-C3A88BB62E91}"/>
              </a:ext>
            </a:extLst>
          </p:cNvPr>
          <p:cNvSpPr/>
          <p:nvPr userDrawn="1"/>
        </p:nvSpPr>
        <p:spPr bwMode="auto">
          <a:xfrm>
            <a:off x="5971325" y="-536469"/>
            <a:ext cx="466409" cy="466409"/>
          </a:xfrm>
          <a:prstGeom prst="rect">
            <a:avLst/>
          </a:prstGeom>
          <a:solidFill>
            <a:srgbClr val="91AD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87E8FEC-0C83-450E-B519-ED269F611B99}"/>
              </a:ext>
            </a:extLst>
          </p:cNvPr>
          <p:cNvSpPr/>
          <p:nvPr userDrawn="1"/>
        </p:nvSpPr>
        <p:spPr bwMode="auto">
          <a:xfrm>
            <a:off x="2385090" y="-536469"/>
            <a:ext cx="466409" cy="466409"/>
          </a:xfrm>
          <a:prstGeom prst="rect">
            <a:avLst/>
          </a:prstGeom>
          <a:solidFill>
            <a:srgbClr val="00A19A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F078189-E883-43CA-A6A2-E3CFDB98FF2A}"/>
              </a:ext>
            </a:extLst>
          </p:cNvPr>
          <p:cNvSpPr/>
          <p:nvPr userDrawn="1"/>
        </p:nvSpPr>
        <p:spPr bwMode="auto">
          <a:xfrm>
            <a:off x="2982796" y="-536469"/>
            <a:ext cx="466409" cy="466409"/>
          </a:xfrm>
          <a:prstGeom prst="rect">
            <a:avLst/>
          </a:prstGeom>
          <a:solidFill>
            <a:srgbClr val="00C0A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6447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7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A8C4361-DE38-4B27-9BF7-2004C17110D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dir="5400000" algn="t" rotWithShape="0">
              <a:schemeClr val="bg1">
                <a:lumMod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744139" fontAlgn="auto">
              <a:spcBef>
                <a:spcPts val="488"/>
              </a:spcBef>
              <a:spcAft>
                <a:spcPts val="814"/>
              </a:spcAft>
              <a:buClr>
                <a:prstClr val="white">
                  <a:lumMod val="50000"/>
                </a:prstClr>
              </a:buClr>
            </a:pPr>
            <a:endParaRPr kumimoji="0" lang="ko-KR" altLang="en-US" sz="1800" spc="-122" dirty="0">
              <a:ln>
                <a:solidFill>
                  <a:srgbClr val="E2E2E2">
                    <a:alpha val="0"/>
                  </a:srgbClr>
                </a:solidFill>
              </a:ln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550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A804267F-1C34-4546-B38C-836557DA02D1}"/>
              </a:ext>
            </a:extLst>
          </p:cNvPr>
          <p:cNvSpPr/>
          <p:nvPr userDrawn="1"/>
        </p:nvSpPr>
        <p:spPr bwMode="auto">
          <a:xfrm>
            <a:off x="8317728" y="-884634"/>
            <a:ext cx="826272" cy="826272"/>
          </a:xfrm>
          <a:prstGeom prst="rect">
            <a:avLst/>
          </a:prstGeom>
          <a:solidFill>
            <a:srgbClr val="F8E618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baseline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 안쪽 텍스트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D53DEAF-2726-4223-9403-9BCD32387EF0}"/>
              </a:ext>
            </a:extLst>
          </p:cNvPr>
          <p:cNvSpPr/>
          <p:nvPr userDrawn="1"/>
        </p:nvSpPr>
        <p:spPr bwMode="auto">
          <a:xfrm>
            <a:off x="7452320" y="-884634"/>
            <a:ext cx="826272" cy="826272"/>
          </a:xfrm>
          <a:prstGeom prst="rect">
            <a:avLst/>
          </a:prstGeom>
          <a:solidFill>
            <a:srgbClr val="0070C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사각형</a:t>
            </a:r>
            <a:r>
              <a:rPr lang="ko-KR" altLang="en-US" sz="1200" b="1" baseline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안쪽 텍스트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06B396E-78F6-46D9-A8F1-9EE1D2142B77}"/>
              </a:ext>
            </a:extLst>
          </p:cNvPr>
          <p:cNvSpPr/>
          <p:nvPr userDrawn="1"/>
        </p:nvSpPr>
        <p:spPr bwMode="auto">
          <a:xfrm>
            <a:off x="6588224" y="-884634"/>
            <a:ext cx="826272" cy="826272"/>
          </a:xfrm>
          <a:prstGeom prst="rect">
            <a:avLst/>
          </a:prstGeom>
          <a:solidFill>
            <a:srgbClr val="FF330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일반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6CC06E-7686-447F-9A5B-99DFFFABCA4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dir="5400000" algn="t" rotWithShape="0">
              <a:schemeClr val="bg1">
                <a:lumMod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744139" fontAlgn="auto">
              <a:spcBef>
                <a:spcPts val="488"/>
              </a:spcBef>
              <a:spcAft>
                <a:spcPts val="814"/>
              </a:spcAft>
              <a:buClr>
                <a:prstClr val="white">
                  <a:lumMod val="50000"/>
                </a:prstClr>
              </a:buClr>
            </a:pPr>
            <a:endParaRPr kumimoji="0" lang="ko-KR" altLang="en-US" sz="1800" spc="-122" dirty="0">
              <a:ln>
                <a:solidFill>
                  <a:srgbClr val="E2E2E2">
                    <a:alpha val="0"/>
                  </a:srgbClr>
                </a:solidFill>
              </a:ln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E030707-3C6D-4AAD-A29F-EE3505B1104A}"/>
              </a:ext>
            </a:extLst>
          </p:cNvPr>
          <p:cNvSpPr/>
          <p:nvPr userDrawn="1"/>
        </p:nvSpPr>
        <p:spPr bwMode="auto">
          <a:xfrm>
            <a:off x="-5734" y="-536469"/>
            <a:ext cx="466409" cy="466409"/>
          </a:xfrm>
          <a:prstGeom prst="rect">
            <a:avLst/>
          </a:prstGeom>
          <a:solidFill>
            <a:srgbClr val="4527A1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2EB5E4E-D0FC-4A5D-BBC0-A1D3F1526664}"/>
              </a:ext>
            </a:extLst>
          </p:cNvPr>
          <p:cNvSpPr/>
          <p:nvPr userDrawn="1"/>
        </p:nvSpPr>
        <p:spPr bwMode="auto">
          <a:xfrm>
            <a:off x="591972" y="-536469"/>
            <a:ext cx="466409" cy="466409"/>
          </a:xfrm>
          <a:prstGeom prst="rect">
            <a:avLst/>
          </a:prstGeom>
          <a:solidFill>
            <a:srgbClr val="673BB7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994BDDE-62D5-4AA6-B176-C08321660FA7}"/>
              </a:ext>
            </a:extLst>
          </p:cNvPr>
          <p:cNvSpPr/>
          <p:nvPr userDrawn="1"/>
        </p:nvSpPr>
        <p:spPr bwMode="auto">
          <a:xfrm>
            <a:off x="1189678" y="-536469"/>
            <a:ext cx="466409" cy="466409"/>
          </a:xfrm>
          <a:prstGeom prst="rect">
            <a:avLst/>
          </a:prstGeom>
          <a:solidFill>
            <a:srgbClr val="8B5DD9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FC27529-05AC-478F-8C95-A270FB72DE6C}"/>
              </a:ext>
            </a:extLst>
          </p:cNvPr>
          <p:cNvSpPr/>
          <p:nvPr userDrawn="1"/>
        </p:nvSpPr>
        <p:spPr bwMode="auto">
          <a:xfrm>
            <a:off x="4178208" y="-536469"/>
            <a:ext cx="466409" cy="466409"/>
          </a:xfrm>
          <a:prstGeom prst="rect">
            <a:avLst/>
          </a:prstGeom>
          <a:solidFill>
            <a:srgbClr val="218B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112122B-50F1-4745-8622-05584125BA3F}"/>
              </a:ext>
            </a:extLst>
          </p:cNvPr>
          <p:cNvSpPr/>
          <p:nvPr userDrawn="1"/>
        </p:nvSpPr>
        <p:spPr bwMode="auto">
          <a:xfrm>
            <a:off x="1787384" y="-536469"/>
            <a:ext cx="466409" cy="466409"/>
          </a:xfrm>
          <a:prstGeom prst="rect">
            <a:avLst/>
          </a:prstGeom>
          <a:solidFill>
            <a:srgbClr val="A282D4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C60CA21-7432-4445-BE8C-6FD43D3D7F1D}"/>
              </a:ext>
            </a:extLst>
          </p:cNvPr>
          <p:cNvSpPr/>
          <p:nvPr userDrawn="1"/>
        </p:nvSpPr>
        <p:spPr bwMode="auto">
          <a:xfrm>
            <a:off x="4775914" y="-536469"/>
            <a:ext cx="466409" cy="466409"/>
          </a:xfrm>
          <a:prstGeom prst="rect">
            <a:avLst/>
          </a:prstGeom>
          <a:solidFill>
            <a:srgbClr val="215B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D21520-97CB-4C21-8053-A02EDAC81930}"/>
              </a:ext>
            </a:extLst>
          </p:cNvPr>
          <p:cNvSpPr/>
          <p:nvPr userDrawn="1"/>
        </p:nvSpPr>
        <p:spPr bwMode="auto">
          <a:xfrm>
            <a:off x="5373620" y="-536469"/>
            <a:ext cx="466409" cy="466409"/>
          </a:xfrm>
          <a:prstGeom prst="rect">
            <a:avLst/>
          </a:prstGeom>
          <a:solidFill>
            <a:srgbClr val="5D87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25E2EED-C4FD-40CE-86A4-1B343D54C2BD}"/>
              </a:ext>
            </a:extLst>
          </p:cNvPr>
          <p:cNvSpPr/>
          <p:nvPr userDrawn="1"/>
        </p:nvSpPr>
        <p:spPr bwMode="auto">
          <a:xfrm>
            <a:off x="3580502" y="-536469"/>
            <a:ext cx="466409" cy="466409"/>
          </a:xfrm>
          <a:prstGeom prst="rect">
            <a:avLst/>
          </a:prstGeom>
          <a:solidFill>
            <a:srgbClr val="67C1B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AC0B731-3434-4985-8F75-6A2B8C4A9513}"/>
              </a:ext>
            </a:extLst>
          </p:cNvPr>
          <p:cNvSpPr/>
          <p:nvPr userDrawn="1"/>
        </p:nvSpPr>
        <p:spPr bwMode="auto">
          <a:xfrm>
            <a:off x="5971325" y="-536469"/>
            <a:ext cx="466409" cy="466409"/>
          </a:xfrm>
          <a:prstGeom prst="rect">
            <a:avLst/>
          </a:prstGeom>
          <a:solidFill>
            <a:srgbClr val="91AD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E34DB4F-1724-4ECB-9BA5-8872477F31FD}"/>
              </a:ext>
            </a:extLst>
          </p:cNvPr>
          <p:cNvSpPr/>
          <p:nvPr userDrawn="1"/>
        </p:nvSpPr>
        <p:spPr bwMode="auto">
          <a:xfrm>
            <a:off x="2385090" y="-536469"/>
            <a:ext cx="466409" cy="466409"/>
          </a:xfrm>
          <a:prstGeom prst="rect">
            <a:avLst/>
          </a:prstGeom>
          <a:solidFill>
            <a:srgbClr val="00A19A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BE08EE-E8F2-498E-A322-A8A55C2CE63D}"/>
              </a:ext>
            </a:extLst>
          </p:cNvPr>
          <p:cNvSpPr/>
          <p:nvPr userDrawn="1"/>
        </p:nvSpPr>
        <p:spPr bwMode="auto">
          <a:xfrm>
            <a:off x="2982796" y="-536469"/>
            <a:ext cx="466409" cy="466409"/>
          </a:xfrm>
          <a:prstGeom prst="rect">
            <a:avLst/>
          </a:prstGeom>
          <a:solidFill>
            <a:srgbClr val="00C0A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0F5253E-8BFF-4425-9049-DC1E595CC1F2}"/>
              </a:ext>
            </a:extLst>
          </p:cNvPr>
          <p:cNvGrpSpPr/>
          <p:nvPr userDrawn="1"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3A64F86-940E-4BF7-8CFE-0CD91DA6546A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D96D1650-7DF9-4A3C-AE15-93F8313D84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BF3E607-3C51-46E3-B65F-B1032BD1ABC7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8A7460B-9940-4FF6-8FD1-1FA2EC485E36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경영전략의 의미</a:t>
              </a:r>
              <a:endParaRPr lang="en-US" altLang="ko-KR" sz="22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바른고딕" pitchFamily="50" charset="-127"/>
                <a:ea typeface="나눔바른고딕" pitchFamily="50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6C475E5-2116-402E-B0EF-AA9F67D73153}"/>
              </a:ext>
            </a:extLst>
          </p:cNvPr>
          <p:cNvGrpSpPr/>
          <p:nvPr userDrawn="1"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AD2C70D9-906D-4E59-84F1-BB6F12A3E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38" name="텍스트 개체 틀 7">
              <a:extLst>
                <a:ext uri="{FF2B5EF4-FFF2-40B4-BE49-F238E27FC236}">
                  <a16:creationId xmlns:a16="http://schemas.microsoft.com/office/drawing/2014/main" id="{0FEDE636-6708-4786-9FD4-9CBEE425283E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전략이란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440BAB6-9C99-42FA-AF08-2A23B6473B55}"/>
              </a:ext>
            </a:extLst>
          </p:cNvPr>
          <p:cNvGrpSpPr/>
          <p:nvPr userDrawn="1"/>
        </p:nvGrpSpPr>
        <p:grpSpPr>
          <a:xfrm>
            <a:off x="1001439" y="1481677"/>
            <a:ext cx="5226324" cy="707785"/>
            <a:chOff x="1001439" y="1481677"/>
            <a:chExt cx="5226324" cy="707785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AC77D564-D701-487B-9ED1-A5E80F459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41" name="텍스트 개체 틀 7">
              <a:extLst>
                <a:ext uri="{FF2B5EF4-FFF2-40B4-BE49-F238E27FC236}">
                  <a16:creationId xmlns:a16="http://schemas.microsoft.com/office/drawing/2014/main" id="{3565DC71-9B60-4CEF-9E8D-2DC383DD463F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032853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일반 경영자가 전략 수립을 위해 관계를 창출해야 하는 요소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519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2" r:id="rId1"/>
    <p:sldLayoutId id="2147485083" r:id="rId2"/>
    <p:sldLayoutId id="2147485084" r:id="rId3"/>
    <p:sldLayoutId id="2147485085" r:id="rId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72">
          <p15:clr>
            <a:srgbClr val="F26B43"/>
          </p15:clr>
        </p15:guide>
        <p15:guide id="2" pos="204">
          <p15:clr>
            <a:srgbClr val="F26B43"/>
          </p15:clr>
        </p15:guide>
        <p15:guide id="3" pos="295">
          <p15:clr>
            <a:srgbClr val="F26B43"/>
          </p15:clr>
        </p15:guide>
        <p15:guide id="4" pos="5511">
          <p15:clr>
            <a:srgbClr val="F26B43"/>
          </p15:clr>
        </p15:guide>
        <p15:guide id="5" orient="horz" pos="577">
          <p15:clr>
            <a:srgbClr val="F26B43"/>
          </p15:clr>
        </p15:guide>
        <p15:guide id="6" orient="horz" pos="985" userDrawn="1">
          <p15:clr>
            <a:srgbClr val="F26B43"/>
          </p15:clr>
        </p15:guide>
        <p15:guide id="7" pos="3900">
          <p15:clr>
            <a:srgbClr val="F26B43"/>
          </p15:clr>
        </p15:guide>
        <p15:guide id="8" pos="408">
          <p15:clr>
            <a:srgbClr val="F26B43"/>
          </p15:clr>
        </p15:guide>
        <p15:guide id="9" pos="486">
          <p15:clr>
            <a:srgbClr val="F26B43"/>
          </p15:clr>
        </p15:guide>
        <p15:guide id="10" pos="612">
          <p15:clr>
            <a:srgbClr val="F26B43"/>
          </p15:clr>
        </p15:guide>
        <p15:guide id="11" pos="788">
          <p15:clr>
            <a:srgbClr val="F26B43"/>
          </p15:clr>
        </p15:guide>
        <p15:guide id="12" orient="horz" pos="715">
          <p15:clr>
            <a:srgbClr val="F26B43"/>
          </p15:clr>
        </p15:guide>
        <p15:guide id="13" orient="horz" pos="39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포괄손익계산서</a:t>
            </a:r>
            <a:endParaRPr lang="ko-KR" altLang="en-US" sz="2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손익계산서의 개념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1E9B35B-2581-474F-A24A-7A8102952015}"/>
              </a:ext>
            </a:extLst>
          </p:cNvPr>
          <p:cNvGrpSpPr/>
          <p:nvPr/>
        </p:nvGrpSpPr>
        <p:grpSpPr>
          <a:xfrm>
            <a:off x="-161888" y="972334"/>
            <a:ext cx="2982892" cy="4514784"/>
            <a:chOff x="-161888" y="972334"/>
            <a:chExt cx="2982892" cy="4514784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11BE7045-5F6F-47A4-ADE1-5BFB7A094EE8}"/>
                </a:ext>
              </a:extLst>
            </p:cNvPr>
            <p:cNvGrpSpPr/>
            <p:nvPr/>
          </p:nvGrpSpPr>
          <p:grpSpPr>
            <a:xfrm>
              <a:off x="-161888" y="972334"/>
              <a:ext cx="2979408" cy="4514784"/>
              <a:chOff x="-72012" y="1168511"/>
              <a:chExt cx="2979408" cy="4514784"/>
            </a:xfrm>
          </p:grpSpPr>
          <p:sp>
            <p:nvSpPr>
              <p:cNvPr id="51" name="자유형 30">
                <a:extLst>
                  <a:ext uri="{FF2B5EF4-FFF2-40B4-BE49-F238E27FC236}">
                    <a16:creationId xmlns:a16="http://schemas.microsoft.com/office/drawing/2014/main" id="{70AD0D65-C7D6-41CC-97C9-A243EFB88EEE}"/>
                  </a:ext>
                </a:extLst>
              </p:cNvPr>
              <p:cNvSpPr/>
              <p:nvPr/>
            </p:nvSpPr>
            <p:spPr>
              <a:xfrm rot="18797592">
                <a:off x="-934634" y="2031133"/>
                <a:ext cx="4514784" cy="2789539"/>
              </a:xfrm>
              <a:custGeom>
                <a:avLst/>
                <a:gdLst>
                  <a:gd name="connsiteX0" fmla="*/ 3633188 w 4038883"/>
                  <a:gd name="connsiteY0" fmla="*/ 293843 h 2573710"/>
                  <a:gd name="connsiteX1" fmla="*/ 4038883 w 4038883"/>
                  <a:gd name="connsiteY1" fmla="*/ 1286855 h 2573710"/>
                  <a:gd name="connsiteX2" fmla="*/ 2924121 w 4038883"/>
                  <a:gd name="connsiteY2" fmla="*/ 2573710 h 2573710"/>
                  <a:gd name="connsiteX3" fmla="*/ 919051 w 4038883"/>
                  <a:gd name="connsiteY3" fmla="*/ 2375589 h 2573710"/>
                  <a:gd name="connsiteX4" fmla="*/ 0 w 4038883"/>
                  <a:gd name="connsiteY4" fmla="*/ 1400084 h 2573710"/>
                  <a:gd name="connsiteX5" fmla="*/ 1484797 w 4038883"/>
                  <a:gd name="connsiteY5" fmla="*/ 1214 h 2573710"/>
                  <a:gd name="connsiteX6" fmla="*/ 2924120 w 4038883"/>
                  <a:gd name="connsiteY6" fmla="*/ 0 h 2573710"/>
                  <a:gd name="connsiteX7" fmla="*/ 3358012 w 4038883"/>
                  <a:gd name="connsiteY7" fmla="*/ 101122 h 2573710"/>
                  <a:gd name="connsiteX8" fmla="*/ 3633188 w 4038883"/>
                  <a:gd name="connsiteY8" fmla="*/ 293843 h 2573710"/>
                  <a:gd name="connsiteX0" fmla="*/ 3633188 w 4038883"/>
                  <a:gd name="connsiteY0" fmla="*/ 293843 h 2573710"/>
                  <a:gd name="connsiteX1" fmla="*/ 4038883 w 4038883"/>
                  <a:gd name="connsiteY1" fmla="*/ 1286855 h 2573710"/>
                  <a:gd name="connsiteX2" fmla="*/ 2924121 w 4038883"/>
                  <a:gd name="connsiteY2" fmla="*/ 2573710 h 2573710"/>
                  <a:gd name="connsiteX3" fmla="*/ 919051 w 4038883"/>
                  <a:gd name="connsiteY3" fmla="*/ 2375589 h 2573710"/>
                  <a:gd name="connsiteX4" fmla="*/ 0 w 4038883"/>
                  <a:gd name="connsiteY4" fmla="*/ 1400084 h 2573710"/>
                  <a:gd name="connsiteX5" fmla="*/ 1579048 w 4038883"/>
                  <a:gd name="connsiteY5" fmla="*/ 3805 h 2573710"/>
                  <a:gd name="connsiteX6" fmla="*/ 2924120 w 4038883"/>
                  <a:gd name="connsiteY6" fmla="*/ 0 h 2573710"/>
                  <a:gd name="connsiteX7" fmla="*/ 3358012 w 4038883"/>
                  <a:gd name="connsiteY7" fmla="*/ 101122 h 2573710"/>
                  <a:gd name="connsiteX8" fmla="*/ 3633188 w 4038883"/>
                  <a:gd name="connsiteY8" fmla="*/ 293843 h 2573710"/>
                  <a:gd name="connsiteX0" fmla="*/ 3709449 w 4115144"/>
                  <a:gd name="connsiteY0" fmla="*/ 293843 h 2573710"/>
                  <a:gd name="connsiteX1" fmla="*/ 4115144 w 4115144"/>
                  <a:gd name="connsiteY1" fmla="*/ 1286855 h 2573710"/>
                  <a:gd name="connsiteX2" fmla="*/ 3000382 w 4115144"/>
                  <a:gd name="connsiteY2" fmla="*/ 2573710 h 2573710"/>
                  <a:gd name="connsiteX3" fmla="*/ 995312 w 4115144"/>
                  <a:gd name="connsiteY3" fmla="*/ 2375589 h 2573710"/>
                  <a:gd name="connsiteX4" fmla="*/ 0 w 4115144"/>
                  <a:gd name="connsiteY4" fmla="*/ 1466372 h 2573710"/>
                  <a:gd name="connsiteX5" fmla="*/ 1655309 w 4115144"/>
                  <a:gd name="connsiteY5" fmla="*/ 3805 h 2573710"/>
                  <a:gd name="connsiteX6" fmla="*/ 3000381 w 4115144"/>
                  <a:gd name="connsiteY6" fmla="*/ 0 h 2573710"/>
                  <a:gd name="connsiteX7" fmla="*/ 3434273 w 4115144"/>
                  <a:gd name="connsiteY7" fmla="*/ 101122 h 2573710"/>
                  <a:gd name="connsiteX8" fmla="*/ 3709449 w 4115144"/>
                  <a:gd name="connsiteY8" fmla="*/ 293843 h 2573710"/>
                  <a:gd name="connsiteX0" fmla="*/ 3709449 w 4115144"/>
                  <a:gd name="connsiteY0" fmla="*/ 293843 h 2573710"/>
                  <a:gd name="connsiteX1" fmla="*/ 4115144 w 4115144"/>
                  <a:gd name="connsiteY1" fmla="*/ 1286855 h 2573710"/>
                  <a:gd name="connsiteX2" fmla="*/ 3000382 w 4115144"/>
                  <a:gd name="connsiteY2" fmla="*/ 2573710 h 2573710"/>
                  <a:gd name="connsiteX3" fmla="*/ 946782 w 4115144"/>
                  <a:gd name="connsiteY3" fmla="*/ 2417773 h 2573710"/>
                  <a:gd name="connsiteX4" fmla="*/ 0 w 4115144"/>
                  <a:gd name="connsiteY4" fmla="*/ 1466372 h 2573710"/>
                  <a:gd name="connsiteX5" fmla="*/ 1655309 w 4115144"/>
                  <a:gd name="connsiteY5" fmla="*/ 3805 h 2573710"/>
                  <a:gd name="connsiteX6" fmla="*/ 3000381 w 4115144"/>
                  <a:gd name="connsiteY6" fmla="*/ 0 h 2573710"/>
                  <a:gd name="connsiteX7" fmla="*/ 3434273 w 4115144"/>
                  <a:gd name="connsiteY7" fmla="*/ 101122 h 2573710"/>
                  <a:gd name="connsiteX8" fmla="*/ 3709449 w 4115144"/>
                  <a:gd name="connsiteY8" fmla="*/ 293843 h 2573710"/>
                  <a:gd name="connsiteX0" fmla="*/ 3709449 w 4115144"/>
                  <a:gd name="connsiteY0" fmla="*/ 293843 h 2573710"/>
                  <a:gd name="connsiteX1" fmla="*/ 4115144 w 4115144"/>
                  <a:gd name="connsiteY1" fmla="*/ 1286855 h 2573710"/>
                  <a:gd name="connsiteX2" fmla="*/ 3000382 w 4115144"/>
                  <a:gd name="connsiteY2" fmla="*/ 2573710 h 2573710"/>
                  <a:gd name="connsiteX3" fmla="*/ 946782 w 4115144"/>
                  <a:gd name="connsiteY3" fmla="*/ 2417773 h 2573710"/>
                  <a:gd name="connsiteX4" fmla="*/ 0 w 4115144"/>
                  <a:gd name="connsiteY4" fmla="*/ 1466372 h 2573710"/>
                  <a:gd name="connsiteX5" fmla="*/ 1904200 w 4115144"/>
                  <a:gd name="connsiteY5" fmla="*/ 16864 h 2573710"/>
                  <a:gd name="connsiteX6" fmla="*/ 3000381 w 4115144"/>
                  <a:gd name="connsiteY6" fmla="*/ 0 h 2573710"/>
                  <a:gd name="connsiteX7" fmla="*/ 3434273 w 4115144"/>
                  <a:gd name="connsiteY7" fmla="*/ 101122 h 2573710"/>
                  <a:gd name="connsiteX8" fmla="*/ 3709449 w 4115144"/>
                  <a:gd name="connsiteY8" fmla="*/ 293843 h 2573710"/>
                  <a:gd name="connsiteX0" fmla="*/ 3682006 w 4087701"/>
                  <a:gd name="connsiteY0" fmla="*/ 293843 h 2573710"/>
                  <a:gd name="connsiteX1" fmla="*/ 4087701 w 4087701"/>
                  <a:gd name="connsiteY1" fmla="*/ 1286855 h 2573710"/>
                  <a:gd name="connsiteX2" fmla="*/ 2972939 w 4087701"/>
                  <a:gd name="connsiteY2" fmla="*/ 2573710 h 2573710"/>
                  <a:gd name="connsiteX3" fmla="*/ 919339 w 4087701"/>
                  <a:gd name="connsiteY3" fmla="*/ 2417773 h 2573710"/>
                  <a:gd name="connsiteX4" fmla="*/ 0 w 4087701"/>
                  <a:gd name="connsiteY4" fmla="*/ 1659849 h 2573710"/>
                  <a:gd name="connsiteX5" fmla="*/ 1876757 w 4087701"/>
                  <a:gd name="connsiteY5" fmla="*/ 16864 h 2573710"/>
                  <a:gd name="connsiteX6" fmla="*/ 2972938 w 4087701"/>
                  <a:gd name="connsiteY6" fmla="*/ 0 h 2573710"/>
                  <a:gd name="connsiteX7" fmla="*/ 3406830 w 4087701"/>
                  <a:gd name="connsiteY7" fmla="*/ 101122 h 2573710"/>
                  <a:gd name="connsiteX8" fmla="*/ 3682006 w 4087701"/>
                  <a:gd name="connsiteY8" fmla="*/ 293843 h 2573710"/>
                  <a:gd name="connsiteX0" fmla="*/ 3682006 w 4087701"/>
                  <a:gd name="connsiteY0" fmla="*/ 293843 h 2573710"/>
                  <a:gd name="connsiteX1" fmla="*/ 4087701 w 4087701"/>
                  <a:gd name="connsiteY1" fmla="*/ 1286855 h 2573710"/>
                  <a:gd name="connsiteX2" fmla="*/ 2972939 w 4087701"/>
                  <a:gd name="connsiteY2" fmla="*/ 2573710 h 2573710"/>
                  <a:gd name="connsiteX3" fmla="*/ 829614 w 4087701"/>
                  <a:gd name="connsiteY3" fmla="*/ 2483691 h 2573710"/>
                  <a:gd name="connsiteX4" fmla="*/ 0 w 4087701"/>
                  <a:gd name="connsiteY4" fmla="*/ 1659849 h 2573710"/>
                  <a:gd name="connsiteX5" fmla="*/ 1876757 w 4087701"/>
                  <a:gd name="connsiteY5" fmla="*/ 16864 h 2573710"/>
                  <a:gd name="connsiteX6" fmla="*/ 2972938 w 4087701"/>
                  <a:gd name="connsiteY6" fmla="*/ 0 h 2573710"/>
                  <a:gd name="connsiteX7" fmla="*/ 3406830 w 4087701"/>
                  <a:gd name="connsiteY7" fmla="*/ 101122 h 2573710"/>
                  <a:gd name="connsiteX8" fmla="*/ 3682006 w 4087701"/>
                  <a:gd name="connsiteY8" fmla="*/ 293843 h 2573710"/>
                  <a:gd name="connsiteX0" fmla="*/ 3682006 w 4087701"/>
                  <a:gd name="connsiteY0" fmla="*/ 293843 h 2573710"/>
                  <a:gd name="connsiteX1" fmla="*/ 4087701 w 4087701"/>
                  <a:gd name="connsiteY1" fmla="*/ 1286855 h 2573710"/>
                  <a:gd name="connsiteX2" fmla="*/ 2972939 w 4087701"/>
                  <a:gd name="connsiteY2" fmla="*/ 2573710 h 2573710"/>
                  <a:gd name="connsiteX3" fmla="*/ 829614 w 4087701"/>
                  <a:gd name="connsiteY3" fmla="*/ 2483691 h 2573710"/>
                  <a:gd name="connsiteX4" fmla="*/ 0 w 4087701"/>
                  <a:gd name="connsiteY4" fmla="*/ 1659849 h 2573710"/>
                  <a:gd name="connsiteX5" fmla="*/ 1724191 w 4087701"/>
                  <a:gd name="connsiteY5" fmla="*/ 18448 h 2573710"/>
                  <a:gd name="connsiteX6" fmla="*/ 2972938 w 4087701"/>
                  <a:gd name="connsiteY6" fmla="*/ 0 h 2573710"/>
                  <a:gd name="connsiteX7" fmla="*/ 3406830 w 4087701"/>
                  <a:gd name="connsiteY7" fmla="*/ 101122 h 2573710"/>
                  <a:gd name="connsiteX8" fmla="*/ 3682006 w 4087701"/>
                  <a:gd name="connsiteY8" fmla="*/ 293843 h 2573710"/>
                  <a:gd name="connsiteX0" fmla="*/ 3682006 w 4087701"/>
                  <a:gd name="connsiteY0" fmla="*/ 293843 h 2573710"/>
                  <a:gd name="connsiteX1" fmla="*/ 4087701 w 4087701"/>
                  <a:gd name="connsiteY1" fmla="*/ 1286855 h 2573710"/>
                  <a:gd name="connsiteX2" fmla="*/ 2972939 w 4087701"/>
                  <a:gd name="connsiteY2" fmla="*/ 2573710 h 2573710"/>
                  <a:gd name="connsiteX3" fmla="*/ 792315 w 4087701"/>
                  <a:gd name="connsiteY3" fmla="*/ 2507425 h 2573710"/>
                  <a:gd name="connsiteX4" fmla="*/ 0 w 4087701"/>
                  <a:gd name="connsiteY4" fmla="*/ 1659849 h 2573710"/>
                  <a:gd name="connsiteX5" fmla="*/ 1724191 w 4087701"/>
                  <a:gd name="connsiteY5" fmla="*/ 18448 h 2573710"/>
                  <a:gd name="connsiteX6" fmla="*/ 2972938 w 4087701"/>
                  <a:gd name="connsiteY6" fmla="*/ 0 h 2573710"/>
                  <a:gd name="connsiteX7" fmla="*/ 3406830 w 4087701"/>
                  <a:gd name="connsiteY7" fmla="*/ 101122 h 2573710"/>
                  <a:gd name="connsiteX8" fmla="*/ 3682006 w 4087701"/>
                  <a:gd name="connsiteY8" fmla="*/ 293843 h 2573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87701" h="2573710">
                    <a:moveTo>
                      <a:pt x="3682006" y="293843"/>
                    </a:moveTo>
                    <a:cubicBezTo>
                      <a:pt x="3929765" y="529865"/>
                      <a:pt x="4087701" y="887059"/>
                      <a:pt x="4087701" y="1286855"/>
                    </a:cubicBezTo>
                    <a:cubicBezTo>
                      <a:pt x="4087701" y="1997604"/>
                      <a:pt x="3588545" y="2573710"/>
                      <a:pt x="2972939" y="2573710"/>
                    </a:cubicBezTo>
                    <a:lnTo>
                      <a:pt x="792315" y="2507425"/>
                    </a:lnTo>
                    <a:lnTo>
                      <a:pt x="0" y="1659849"/>
                    </a:lnTo>
                    <a:lnTo>
                      <a:pt x="1724191" y="18448"/>
                    </a:lnTo>
                    <a:lnTo>
                      <a:pt x="2972938" y="0"/>
                    </a:lnTo>
                    <a:cubicBezTo>
                      <a:pt x="3126839" y="0"/>
                      <a:pt x="3273463" y="36007"/>
                      <a:pt x="3406830" y="101122"/>
                    </a:cubicBezTo>
                    <a:cubicBezTo>
                      <a:pt x="3506853" y="149959"/>
                      <a:pt x="3599420" y="215169"/>
                      <a:pt x="3682006" y="293843"/>
                    </a:cubicBezTo>
                    <a:close/>
                  </a:path>
                </a:pathLst>
              </a:custGeom>
              <a:solidFill>
                <a:srgbClr val="8B5DD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n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52" name="자유형 31">
                <a:extLst>
                  <a:ext uri="{FF2B5EF4-FFF2-40B4-BE49-F238E27FC236}">
                    <a16:creationId xmlns:a16="http://schemas.microsoft.com/office/drawing/2014/main" id="{8320B1CE-6C66-464E-B92B-BBACACD2FB67}"/>
                  </a:ext>
                </a:extLst>
              </p:cNvPr>
              <p:cNvSpPr/>
              <p:nvPr/>
            </p:nvSpPr>
            <p:spPr>
              <a:xfrm rot="18926070">
                <a:off x="664544" y="4458883"/>
                <a:ext cx="2242852" cy="708070"/>
              </a:xfrm>
              <a:custGeom>
                <a:avLst/>
                <a:gdLst>
                  <a:gd name="connsiteX0" fmla="*/ 2022750 w 2094682"/>
                  <a:gd name="connsiteY0" fmla="*/ 156086 h 708070"/>
                  <a:gd name="connsiteX1" fmla="*/ 2094682 w 2094682"/>
                  <a:gd name="connsiteY1" fmla="*/ 354035 h 708070"/>
                  <a:gd name="connsiteX2" fmla="*/ 1673532 w 2094682"/>
                  <a:gd name="connsiteY2" fmla="*/ 708070 h 708070"/>
                  <a:gd name="connsiteX3" fmla="*/ 572150 w 2094682"/>
                  <a:gd name="connsiteY3" fmla="*/ 708070 h 708070"/>
                  <a:gd name="connsiteX4" fmla="*/ 0 w 2094682"/>
                  <a:gd name="connsiteY4" fmla="*/ 0 h 708070"/>
                  <a:gd name="connsiteX5" fmla="*/ 1673532 w 2094682"/>
                  <a:gd name="connsiteY5" fmla="*/ 0 h 708070"/>
                  <a:gd name="connsiteX6" fmla="*/ 2022750 w 2094682"/>
                  <a:gd name="connsiteY6" fmla="*/ 156086 h 708070"/>
                  <a:gd name="connsiteX0" fmla="*/ 2170920 w 2242852"/>
                  <a:gd name="connsiteY0" fmla="*/ 156086 h 708070"/>
                  <a:gd name="connsiteX1" fmla="*/ 2242852 w 2242852"/>
                  <a:gd name="connsiteY1" fmla="*/ 354035 h 708070"/>
                  <a:gd name="connsiteX2" fmla="*/ 1821702 w 2242852"/>
                  <a:gd name="connsiteY2" fmla="*/ 708070 h 708070"/>
                  <a:gd name="connsiteX3" fmla="*/ 720320 w 2242852"/>
                  <a:gd name="connsiteY3" fmla="*/ 708070 h 708070"/>
                  <a:gd name="connsiteX4" fmla="*/ 0 w 2242852"/>
                  <a:gd name="connsiteY4" fmla="*/ 1124 h 708070"/>
                  <a:gd name="connsiteX5" fmla="*/ 1821702 w 2242852"/>
                  <a:gd name="connsiteY5" fmla="*/ 0 h 708070"/>
                  <a:gd name="connsiteX6" fmla="*/ 2170920 w 2242852"/>
                  <a:gd name="connsiteY6" fmla="*/ 156086 h 708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42852" h="708070">
                    <a:moveTo>
                      <a:pt x="2170920" y="156086"/>
                    </a:moveTo>
                    <a:cubicBezTo>
                      <a:pt x="2216333" y="212590"/>
                      <a:pt x="2242852" y="280708"/>
                      <a:pt x="2242852" y="354035"/>
                    </a:cubicBezTo>
                    <a:cubicBezTo>
                      <a:pt x="2242852" y="549574"/>
                      <a:pt x="2054274" y="708070"/>
                      <a:pt x="1821702" y="708070"/>
                    </a:cubicBezTo>
                    <a:lnTo>
                      <a:pt x="720320" y="708070"/>
                    </a:lnTo>
                    <a:lnTo>
                      <a:pt x="0" y="1124"/>
                    </a:lnTo>
                    <a:lnTo>
                      <a:pt x="1821702" y="0"/>
                    </a:lnTo>
                    <a:cubicBezTo>
                      <a:pt x="1967060" y="0"/>
                      <a:pt x="2095232" y="61913"/>
                      <a:pt x="2170920" y="156086"/>
                    </a:cubicBezTo>
                    <a:close/>
                  </a:path>
                </a:pathLst>
              </a:custGeom>
              <a:solidFill>
                <a:srgbClr val="673BB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n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53" name="자유형 32">
                <a:extLst>
                  <a:ext uri="{FF2B5EF4-FFF2-40B4-BE49-F238E27FC236}">
                    <a16:creationId xmlns:a16="http://schemas.microsoft.com/office/drawing/2014/main" id="{98EEF6D4-6B3A-4323-9172-BA423F5432AE}"/>
                  </a:ext>
                </a:extLst>
              </p:cNvPr>
              <p:cNvSpPr/>
              <p:nvPr/>
            </p:nvSpPr>
            <p:spPr>
              <a:xfrm rot="18701312">
                <a:off x="575631" y="4802273"/>
                <a:ext cx="1254206" cy="489849"/>
              </a:xfrm>
              <a:custGeom>
                <a:avLst/>
                <a:gdLst>
                  <a:gd name="connsiteX0" fmla="*/ 1713464 w 1753285"/>
                  <a:gd name="connsiteY0" fmla="*/ 145058 h 475021"/>
                  <a:gd name="connsiteX1" fmla="*/ 1753285 w 1753285"/>
                  <a:gd name="connsiteY1" fmla="*/ 237510 h 475021"/>
                  <a:gd name="connsiteX2" fmla="*/ 1246615 w 1753285"/>
                  <a:gd name="connsiteY2" fmla="*/ 475021 h 475021"/>
                  <a:gd name="connsiteX3" fmla="*/ 469088 w 1753285"/>
                  <a:gd name="connsiteY3" fmla="*/ 475021 h 475021"/>
                  <a:gd name="connsiteX4" fmla="*/ 0 w 1753285"/>
                  <a:gd name="connsiteY4" fmla="*/ 0 h 475021"/>
                  <a:gd name="connsiteX5" fmla="*/ 1246615 w 1753285"/>
                  <a:gd name="connsiteY5" fmla="*/ 0 h 475021"/>
                  <a:gd name="connsiteX6" fmla="*/ 1604874 w 1753285"/>
                  <a:gd name="connsiteY6" fmla="*/ 69563 h 475021"/>
                  <a:gd name="connsiteX7" fmla="*/ 1713464 w 1753285"/>
                  <a:gd name="connsiteY7" fmla="*/ 145058 h 475021"/>
                  <a:gd name="connsiteX0" fmla="*/ 1713464 w 1753285"/>
                  <a:gd name="connsiteY0" fmla="*/ 145058 h 481291"/>
                  <a:gd name="connsiteX1" fmla="*/ 1753285 w 1753285"/>
                  <a:gd name="connsiteY1" fmla="*/ 237510 h 481291"/>
                  <a:gd name="connsiteX2" fmla="*/ 1246615 w 1753285"/>
                  <a:gd name="connsiteY2" fmla="*/ 475021 h 481291"/>
                  <a:gd name="connsiteX3" fmla="*/ 405142 w 1753285"/>
                  <a:gd name="connsiteY3" fmla="*/ 481291 h 481291"/>
                  <a:gd name="connsiteX4" fmla="*/ 0 w 1753285"/>
                  <a:gd name="connsiteY4" fmla="*/ 0 h 481291"/>
                  <a:gd name="connsiteX5" fmla="*/ 1246615 w 1753285"/>
                  <a:gd name="connsiteY5" fmla="*/ 0 h 481291"/>
                  <a:gd name="connsiteX6" fmla="*/ 1604874 w 1753285"/>
                  <a:gd name="connsiteY6" fmla="*/ 69563 h 481291"/>
                  <a:gd name="connsiteX7" fmla="*/ 1713464 w 1753285"/>
                  <a:gd name="connsiteY7" fmla="*/ 145058 h 481291"/>
                  <a:gd name="connsiteX0" fmla="*/ 1713464 w 1753285"/>
                  <a:gd name="connsiteY0" fmla="*/ 145058 h 481291"/>
                  <a:gd name="connsiteX1" fmla="*/ 1753285 w 1753285"/>
                  <a:gd name="connsiteY1" fmla="*/ 237510 h 481291"/>
                  <a:gd name="connsiteX2" fmla="*/ 1246615 w 1753285"/>
                  <a:gd name="connsiteY2" fmla="*/ 475021 h 481291"/>
                  <a:gd name="connsiteX3" fmla="*/ 405142 w 1753285"/>
                  <a:gd name="connsiteY3" fmla="*/ 481291 h 481291"/>
                  <a:gd name="connsiteX4" fmla="*/ 0 w 1753285"/>
                  <a:gd name="connsiteY4" fmla="*/ 0 h 481291"/>
                  <a:gd name="connsiteX5" fmla="*/ 1246615 w 1753285"/>
                  <a:gd name="connsiteY5" fmla="*/ 0 h 481291"/>
                  <a:gd name="connsiteX6" fmla="*/ 1604874 w 1753285"/>
                  <a:gd name="connsiteY6" fmla="*/ 69563 h 481291"/>
                  <a:gd name="connsiteX7" fmla="*/ 1713464 w 1753285"/>
                  <a:gd name="connsiteY7" fmla="*/ 145058 h 481291"/>
                  <a:gd name="connsiteX0" fmla="*/ 1713464 w 1754768"/>
                  <a:gd name="connsiteY0" fmla="*/ 145058 h 481291"/>
                  <a:gd name="connsiteX1" fmla="*/ 1753285 w 1754768"/>
                  <a:gd name="connsiteY1" fmla="*/ 237510 h 481291"/>
                  <a:gd name="connsiteX2" fmla="*/ 1246615 w 1754768"/>
                  <a:gd name="connsiteY2" fmla="*/ 475021 h 481291"/>
                  <a:gd name="connsiteX3" fmla="*/ 405142 w 1754768"/>
                  <a:gd name="connsiteY3" fmla="*/ 481291 h 481291"/>
                  <a:gd name="connsiteX4" fmla="*/ 0 w 1754768"/>
                  <a:gd name="connsiteY4" fmla="*/ 0 h 481291"/>
                  <a:gd name="connsiteX5" fmla="*/ 1246615 w 1754768"/>
                  <a:gd name="connsiteY5" fmla="*/ 0 h 481291"/>
                  <a:gd name="connsiteX6" fmla="*/ 1604874 w 1754768"/>
                  <a:gd name="connsiteY6" fmla="*/ 69563 h 481291"/>
                  <a:gd name="connsiteX7" fmla="*/ 1713464 w 1754768"/>
                  <a:gd name="connsiteY7" fmla="*/ 145058 h 481291"/>
                  <a:gd name="connsiteX0" fmla="*/ 1667062 w 1708366"/>
                  <a:gd name="connsiteY0" fmla="*/ 145058 h 481291"/>
                  <a:gd name="connsiteX1" fmla="*/ 1706883 w 1708366"/>
                  <a:gd name="connsiteY1" fmla="*/ 237510 h 481291"/>
                  <a:gd name="connsiteX2" fmla="*/ 1200213 w 1708366"/>
                  <a:gd name="connsiteY2" fmla="*/ 475021 h 481291"/>
                  <a:gd name="connsiteX3" fmla="*/ 358740 w 1708366"/>
                  <a:gd name="connsiteY3" fmla="*/ 481291 h 481291"/>
                  <a:gd name="connsiteX4" fmla="*/ 0 w 1708366"/>
                  <a:gd name="connsiteY4" fmla="*/ 3113 h 481291"/>
                  <a:gd name="connsiteX5" fmla="*/ 1200213 w 1708366"/>
                  <a:gd name="connsiteY5" fmla="*/ 0 h 481291"/>
                  <a:gd name="connsiteX6" fmla="*/ 1558472 w 1708366"/>
                  <a:gd name="connsiteY6" fmla="*/ 69563 h 481291"/>
                  <a:gd name="connsiteX7" fmla="*/ 1667062 w 1708366"/>
                  <a:gd name="connsiteY7" fmla="*/ 145058 h 481291"/>
                  <a:gd name="connsiteX0" fmla="*/ 1667062 w 1708366"/>
                  <a:gd name="connsiteY0" fmla="*/ 145058 h 475021"/>
                  <a:gd name="connsiteX1" fmla="*/ 1706883 w 1708366"/>
                  <a:gd name="connsiteY1" fmla="*/ 237510 h 475021"/>
                  <a:gd name="connsiteX2" fmla="*/ 1200213 w 1708366"/>
                  <a:gd name="connsiteY2" fmla="*/ 475021 h 475021"/>
                  <a:gd name="connsiteX3" fmla="*/ 536505 w 1708366"/>
                  <a:gd name="connsiteY3" fmla="*/ 468511 h 475021"/>
                  <a:gd name="connsiteX4" fmla="*/ 0 w 1708366"/>
                  <a:gd name="connsiteY4" fmla="*/ 3113 h 475021"/>
                  <a:gd name="connsiteX5" fmla="*/ 1200213 w 1708366"/>
                  <a:gd name="connsiteY5" fmla="*/ 0 h 475021"/>
                  <a:gd name="connsiteX6" fmla="*/ 1558472 w 1708366"/>
                  <a:gd name="connsiteY6" fmla="*/ 69563 h 475021"/>
                  <a:gd name="connsiteX7" fmla="*/ 1667062 w 1708366"/>
                  <a:gd name="connsiteY7" fmla="*/ 145058 h 475021"/>
                  <a:gd name="connsiteX0" fmla="*/ 1667062 w 1708366"/>
                  <a:gd name="connsiteY0" fmla="*/ 145058 h 493850"/>
                  <a:gd name="connsiteX1" fmla="*/ 1706883 w 1708366"/>
                  <a:gd name="connsiteY1" fmla="*/ 237510 h 493850"/>
                  <a:gd name="connsiteX2" fmla="*/ 1200213 w 1708366"/>
                  <a:gd name="connsiteY2" fmla="*/ 475021 h 493850"/>
                  <a:gd name="connsiteX3" fmla="*/ 504841 w 1708366"/>
                  <a:gd name="connsiteY3" fmla="*/ 493850 h 493850"/>
                  <a:gd name="connsiteX4" fmla="*/ 0 w 1708366"/>
                  <a:gd name="connsiteY4" fmla="*/ 3113 h 493850"/>
                  <a:gd name="connsiteX5" fmla="*/ 1200213 w 1708366"/>
                  <a:gd name="connsiteY5" fmla="*/ 0 h 493850"/>
                  <a:gd name="connsiteX6" fmla="*/ 1558472 w 1708366"/>
                  <a:gd name="connsiteY6" fmla="*/ 69563 h 493850"/>
                  <a:gd name="connsiteX7" fmla="*/ 1667062 w 1708366"/>
                  <a:gd name="connsiteY7" fmla="*/ 145058 h 493850"/>
                  <a:gd name="connsiteX0" fmla="*/ 1667062 w 1708366"/>
                  <a:gd name="connsiteY0" fmla="*/ 145058 h 489849"/>
                  <a:gd name="connsiteX1" fmla="*/ 1706883 w 1708366"/>
                  <a:gd name="connsiteY1" fmla="*/ 237510 h 489849"/>
                  <a:gd name="connsiteX2" fmla="*/ 1200213 w 1708366"/>
                  <a:gd name="connsiteY2" fmla="*/ 475021 h 489849"/>
                  <a:gd name="connsiteX3" fmla="*/ 569482 w 1708366"/>
                  <a:gd name="connsiteY3" fmla="*/ 489849 h 489849"/>
                  <a:gd name="connsiteX4" fmla="*/ 0 w 1708366"/>
                  <a:gd name="connsiteY4" fmla="*/ 3113 h 489849"/>
                  <a:gd name="connsiteX5" fmla="*/ 1200213 w 1708366"/>
                  <a:gd name="connsiteY5" fmla="*/ 0 h 489849"/>
                  <a:gd name="connsiteX6" fmla="*/ 1558472 w 1708366"/>
                  <a:gd name="connsiteY6" fmla="*/ 69563 h 489849"/>
                  <a:gd name="connsiteX7" fmla="*/ 1667062 w 1708366"/>
                  <a:gd name="connsiteY7" fmla="*/ 145058 h 489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08366" h="489849">
                    <a:moveTo>
                      <a:pt x="1667062" y="145058"/>
                    </a:moveTo>
                    <a:cubicBezTo>
                      <a:pt x="1691797" y="173049"/>
                      <a:pt x="1702149" y="205060"/>
                      <a:pt x="1706883" y="237510"/>
                    </a:cubicBezTo>
                    <a:cubicBezTo>
                      <a:pt x="1729976" y="395801"/>
                      <a:pt x="1480011" y="475021"/>
                      <a:pt x="1200213" y="475021"/>
                    </a:cubicBezTo>
                    <a:lnTo>
                      <a:pt x="569482" y="489849"/>
                    </a:lnTo>
                    <a:lnTo>
                      <a:pt x="0" y="3113"/>
                    </a:lnTo>
                    <a:lnTo>
                      <a:pt x="1200213" y="0"/>
                    </a:lnTo>
                    <a:cubicBezTo>
                      <a:pt x="1340112" y="0"/>
                      <a:pt x="1466780" y="26582"/>
                      <a:pt x="1558472" y="69563"/>
                    </a:cubicBezTo>
                    <a:cubicBezTo>
                      <a:pt x="1604319" y="91053"/>
                      <a:pt x="1642327" y="117067"/>
                      <a:pt x="1667062" y="145058"/>
                    </a:cubicBezTo>
                    <a:close/>
                  </a:path>
                </a:pathLst>
              </a:custGeom>
              <a:solidFill>
                <a:srgbClr val="4527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n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</p:grp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DD0F30AB-FC78-4471-8CFC-0972F82B16FC}"/>
                </a:ext>
              </a:extLst>
            </p:cNvPr>
            <p:cNvCxnSpPr/>
            <p:nvPr/>
          </p:nvCxnSpPr>
          <p:spPr>
            <a:xfrm>
              <a:off x="1320294" y="2442118"/>
              <a:ext cx="428920" cy="0"/>
            </a:xfrm>
            <a:prstGeom prst="line">
              <a:avLst/>
            </a:prstGeom>
            <a:ln w="38100">
              <a:solidFill>
                <a:srgbClr val="4527A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10E60EA-9F3D-4497-826E-E978B63E0F09}"/>
                </a:ext>
              </a:extLst>
            </p:cNvPr>
            <p:cNvSpPr txBox="1"/>
            <p:nvPr/>
          </p:nvSpPr>
          <p:spPr>
            <a:xfrm>
              <a:off x="248505" y="2460682"/>
              <a:ext cx="25724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손익계산서</a:t>
              </a:r>
            </a:p>
          </p:txBody>
        </p:sp>
      </p:grpSp>
      <p:sp>
        <p:nvSpPr>
          <p:cNvPr id="54" name="텍스트 개체 틀 7">
            <a:extLst>
              <a:ext uri="{FF2B5EF4-FFF2-40B4-BE49-F238E27FC236}">
                <a16:creationId xmlns:a16="http://schemas.microsoft.com/office/drawing/2014/main" id="{C6AEE5C3-ECAE-4EAE-8F80-2A956A80EF7D}"/>
              </a:ext>
            </a:extLst>
          </p:cNvPr>
          <p:cNvSpPr txBox="1">
            <a:spLocks/>
          </p:cNvSpPr>
          <p:nvPr/>
        </p:nvSpPr>
        <p:spPr>
          <a:xfrm>
            <a:off x="3354309" y="1455410"/>
            <a:ext cx="2736304" cy="2145763"/>
          </a:xfrm>
          <a:prstGeom prst="rect">
            <a:avLst/>
          </a:prstGeom>
          <a:noFill/>
          <a:ln w="19050">
            <a:solidFill>
              <a:srgbClr val="8B5DD9"/>
            </a:solidFill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algn="l">
              <a:spcBef>
                <a:spcPts val="500"/>
              </a:spcBef>
              <a:spcAft>
                <a:spcPts val="500"/>
              </a:spcAft>
              <a:buClr>
                <a:srgbClr val="07038C"/>
              </a:buClr>
            </a:pPr>
            <a:r>
              <a: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 동안 </a:t>
            </a:r>
            <a:endParaRPr lang="en-US" altLang="ko-KR" sz="2000" b="0" spc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l">
              <a:spcBef>
                <a:spcPts val="500"/>
              </a:spcBef>
              <a:spcAft>
                <a:spcPts val="500"/>
              </a:spcAft>
              <a:buClr>
                <a:srgbClr val="07038C"/>
              </a:buClr>
            </a:pP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수익</a:t>
            </a:r>
            <a:r>
              <a: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buClr>
                <a:srgbClr val="07038C"/>
              </a:buClr>
            </a:pP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비용</a:t>
            </a:r>
            <a:r>
              <a: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buClr>
                <a:srgbClr val="07038C"/>
              </a:buClr>
            </a:pP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이익</a:t>
            </a: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분석하여 </a:t>
            </a:r>
            <a:endParaRPr lang="en-US" altLang="ko-KR" sz="2000" b="0" spc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l">
              <a:spcBef>
                <a:spcPts val="500"/>
              </a:spcBef>
              <a:spcAft>
                <a:spcPts val="500"/>
              </a:spcAft>
              <a:buClr>
                <a:srgbClr val="07038C"/>
              </a:buClr>
            </a:pP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기업의 경영성과를 표시</a:t>
            </a:r>
          </a:p>
        </p:txBody>
      </p:sp>
      <p:sp>
        <p:nvSpPr>
          <p:cNvPr id="16" name="텍스트 개체 틀 7">
            <a:extLst>
              <a:ext uri="{FF2B5EF4-FFF2-40B4-BE49-F238E27FC236}">
                <a16:creationId xmlns:a16="http://schemas.microsoft.com/office/drawing/2014/main" id="{C6AEE5C3-ECAE-4EAE-8F80-2A956A80EF7D}"/>
              </a:ext>
            </a:extLst>
          </p:cNvPr>
          <p:cNvSpPr txBox="1">
            <a:spLocks/>
          </p:cNvSpPr>
          <p:nvPr/>
        </p:nvSpPr>
        <p:spPr>
          <a:xfrm>
            <a:off x="6137434" y="1455410"/>
            <a:ext cx="3006566" cy="2144076"/>
          </a:xfrm>
          <a:prstGeom prst="rect">
            <a:avLst/>
          </a:prstGeom>
          <a:noFill/>
          <a:ln w="19050">
            <a:solidFill>
              <a:srgbClr val="8B5DD9"/>
            </a:solidFill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algn="l">
              <a:spcBef>
                <a:spcPts val="500"/>
              </a:spcBef>
              <a:spcAft>
                <a:spcPts val="500"/>
              </a:spcAft>
              <a:buClr>
                <a:srgbClr val="07038C"/>
              </a:buClr>
            </a:pP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2000" b="0" spc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l">
              <a:spcBef>
                <a:spcPts val="500"/>
              </a:spcBef>
              <a:spcAft>
                <a:spcPts val="500"/>
              </a:spcAft>
              <a:buClr>
                <a:srgbClr val="07038C"/>
              </a:buClr>
            </a:pP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매출액</a:t>
            </a:r>
            <a:r>
              <a: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buClr>
                <a:srgbClr val="07038C"/>
              </a:buClr>
            </a:pP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매출원가</a:t>
            </a:r>
            <a:r>
              <a: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영업비용</a:t>
            </a:r>
            <a:r>
              <a: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등</a:t>
            </a:r>
            <a:r>
              <a: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buClr>
                <a:srgbClr val="07038C"/>
              </a:buClr>
            </a:pPr>
            <a:r>
              <a:rPr lang="ko-KR" altLang="en-US" sz="2000" b="0" spc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매출총이익</a:t>
            </a:r>
            <a:r>
              <a: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b="0" spc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당기순이익</a:t>
            </a: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등 </a:t>
            </a:r>
            <a:endParaRPr lang="en-US" altLang="ko-KR" sz="2000" b="0" spc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l">
              <a:spcBef>
                <a:spcPts val="500"/>
              </a:spcBef>
              <a:spcAft>
                <a:spcPts val="500"/>
              </a:spcAft>
              <a:buClr>
                <a:srgbClr val="07038C"/>
              </a:buClr>
            </a:pPr>
            <a:endParaRPr lang="ko-KR" altLang="en-US" sz="2000" b="0" spc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텍스트 개체 틀 7">
            <a:extLst>
              <a:ext uri="{FF2B5EF4-FFF2-40B4-BE49-F238E27FC236}">
                <a16:creationId xmlns:a16="http://schemas.microsoft.com/office/drawing/2014/main" id="{C6AEE5C3-ECAE-4EAE-8F80-2A956A80EF7D}"/>
              </a:ext>
            </a:extLst>
          </p:cNvPr>
          <p:cNvSpPr txBox="1">
            <a:spLocks/>
          </p:cNvSpPr>
          <p:nvPr/>
        </p:nvSpPr>
        <p:spPr>
          <a:xfrm>
            <a:off x="3401130" y="3852736"/>
            <a:ext cx="5635366" cy="836025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algn="l">
              <a:spcBef>
                <a:spcPts val="500"/>
              </a:spcBef>
              <a:spcAft>
                <a:spcPts val="500"/>
              </a:spcAft>
              <a:buClr>
                <a:srgbClr val="07038C"/>
              </a:buClr>
            </a:pP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손익계산서에 </a:t>
            </a: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기타이익</a:t>
            </a:r>
            <a:r>
              <a: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기타포괄이익</a:t>
            </a:r>
            <a:r>
              <a: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추가하면 </a:t>
            </a:r>
            <a:endParaRPr lang="en-US" altLang="ko-KR" sz="2000" b="0" spc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l">
              <a:spcBef>
                <a:spcPts val="500"/>
              </a:spcBef>
              <a:spcAft>
                <a:spcPts val="500"/>
              </a:spcAft>
              <a:buClr>
                <a:srgbClr val="07038C"/>
              </a:buClr>
            </a:pP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포괄손익계산서</a:t>
            </a:r>
          </a:p>
        </p:txBody>
      </p:sp>
    </p:spTree>
    <p:extLst>
      <p:ext uri="{BB962C8B-B14F-4D97-AF65-F5344CB8AC3E}">
        <p14:creationId xmlns:p14="http://schemas.microsoft.com/office/powerpoint/2010/main" val="21602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53163" y="37881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포괄손익계산서</a:t>
            </a:r>
            <a:endParaRPr lang="ko-KR" altLang="en-US" sz="2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포괄손익계산서의</a:t>
              </a:r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 개념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1E9B35B-2581-474F-A24A-7A8102952015}"/>
              </a:ext>
            </a:extLst>
          </p:cNvPr>
          <p:cNvGrpSpPr/>
          <p:nvPr/>
        </p:nvGrpSpPr>
        <p:grpSpPr>
          <a:xfrm>
            <a:off x="-161888" y="972334"/>
            <a:ext cx="2982892" cy="4514784"/>
            <a:chOff x="-161888" y="972334"/>
            <a:chExt cx="2982892" cy="4514784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11BE7045-5F6F-47A4-ADE1-5BFB7A094EE8}"/>
                </a:ext>
              </a:extLst>
            </p:cNvPr>
            <p:cNvGrpSpPr/>
            <p:nvPr/>
          </p:nvGrpSpPr>
          <p:grpSpPr>
            <a:xfrm>
              <a:off x="-161888" y="972334"/>
              <a:ext cx="2979408" cy="4514784"/>
              <a:chOff x="-72012" y="1168511"/>
              <a:chExt cx="2979408" cy="4514784"/>
            </a:xfrm>
          </p:grpSpPr>
          <p:sp>
            <p:nvSpPr>
              <p:cNvPr id="51" name="자유형 30">
                <a:extLst>
                  <a:ext uri="{FF2B5EF4-FFF2-40B4-BE49-F238E27FC236}">
                    <a16:creationId xmlns:a16="http://schemas.microsoft.com/office/drawing/2014/main" id="{70AD0D65-C7D6-41CC-97C9-A243EFB88EEE}"/>
                  </a:ext>
                </a:extLst>
              </p:cNvPr>
              <p:cNvSpPr/>
              <p:nvPr/>
            </p:nvSpPr>
            <p:spPr>
              <a:xfrm rot="18797592">
                <a:off x="-934634" y="2031133"/>
                <a:ext cx="4514784" cy="2789539"/>
              </a:xfrm>
              <a:custGeom>
                <a:avLst/>
                <a:gdLst>
                  <a:gd name="connsiteX0" fmla="*/ 3633188 w 4038883"/>
                  <a:gd name="connsiteY0" fmla="*/ 293843 h 2573710"/>
                  <a:gd name="connsiteX1" fmla="*/ 4038883 w 4038883"/>
                  <a:gd name="connsiteY1" fmla="*/ 1286855 h 2573710"/>
                  <a:gd name="connsiteX2" fmla="*/ 2924121 w 4038883"/>
                  <a:gd name="connsiteY2" fmla="*/ 2573710 h 2573710"/>
                  <a:gd name="connsiteX3" fmla="*/ 919051 w 4038883"/>
                  <a:gd name="connsiteY3" fmla="*/ 2375589 h 2573710"/>
                  <a:gd name="connsiteX4" fmla="*/ 0 w 4038883"/>
                  <a:gd name="connsiteY4" fmla="*/ 1400084 h 2573710"/>
                  <a:gd name="connsiteX5" fmla="*/ 1484797 w 4038883"/>
                  <a:gd name="connsiteY5" fmla="*/ 1214 h 2573710"/>
                  <a:gd name="connsiteX6" fmla="*/ 2924120 w 4038883"/>
                  <a:gd name="connsiteY6" fmla="*/ 0 h 2573710"/>
                  <a:gd name="connsiteX7" fmla="*/ 3358012 w 4038883"/>
                  <a:gd name="connsiteY7" fmla="*/ 101122 h 2573710"/>
                  <a:gd name="connsiteX8" fmla="*/ 3633188 w 4038883"/>
                  <a:gd name="connsiteY8" fmla="*/ 293843 h 2573710"/>
                  <a:gd name="connsiteX0" fmla="*/ 3633188 w 4038883"/>
                  <a:gd name="connsiteY0" fmla="*/ 293843 h 2573710"/>
                  <a:gd name="connsiteX1" fmla="*/ 4038883 w 4038883"/>
                  <a:gd name="connsiteY1" fmla="*/ 1286855 h 2573710"/>
                  <a:gd name="connsiteX2" fmla="*/ 2924121 w 4038883"/>
                  <a:gd name="connsiteY2" fmla="*/ 2573710 h 2573710"/>
                  <a:gd name="connsiteX3" fmla="*/ 919051 w 4038883"/>
                  <a:gd name="connsiteY3" fmla="*/ 2375589 h 2573710"/>
                  <a:gd name="connsiteX4" fmla="*/ 0 w 4038883"/>
                  <a:gd name="connsiteY4" fmla="*/ 1400084 h 2573710"/>
                  <a:gd name="connsiteX5" fmla="*/ 1579048 w 4038883"/>
                  <a:gd name="connsiteY5" fmla="*/ 3805 h 2573710"/>
                  <a:gd name="connsiteX6" fmla="*/ 2924120 w 4038883"/>
                  <a:gd name="connsiteY6" fmla="*/ 0 h 2573710"/>
                  <a:gd name="connsiteX7" fmla="*/ 3358012 w 4038883"/>
                  <a:gd name="connsiteY7" fmla="*/ 101122 h 2573710"/>
                  <a:gd name="connsiteX8" fmla="*/ 3633188 w 4038883"/>
                  <a:gd name="connsiteY8" fmla="*/ 293843 h 2573710"/>
                  <a:gd name="connsiteX0" fmla="*/ 3709449 w 4115144"/>
                  <a:gd name="connsiteY0" fmla="*/ 293843 h 2573710"/>
                  <a:gd name="connsiteX1" fmla="*/ 4115144 w 4115144"/>
                  <a:gd name="connsiteY1" fmla="*/ 1286855 h 2573710"/>
                  <a:gd name="connsiteX2" fmla="*/ 3000382 w 4115144"/>
                  <a:gd name="connsiteY2" fmla="*/ 2573710 h 2573710"/>
                  <a:gd name="connsiteX3" fmla="*/ 995312 w 4115144"/>
                  <a:gd name="connsiteY3" fmla="*/ 2375589 h 2573710"/>
                  <a:gd name="connsiteX4" fmla="*/ 0 w 4115144"/>
                  <a:gd name="connsiteY4" fmla="*/ 1466372 h 2573710"/>
                  <a:gd name="connsiteX5" fmla="*/ 1655309 w 4115144"/>
                  <a:gd name="connsiteY5" fmla="*/ 3805 h 2573710"/>
                  <a:gd name="connsiteX6" fmla="*/ 3000381 w 4115144"/>
                  <a:gd name="connsiteY6" fmla="*/ 0 h 2573710"/>
                  <a:gd name="connsiteX7" fmla="*/ 3434273 w 4115144"/>
                  <a:gd name="connsiteY7" fmla="*/ 101122 h 2573710"/>
                  <a:gd name="connsiteX8" fmla="*/ 3709449 w 4115144"/>
                  <a:gd name="connsiteY8" fmla="*/ 293843 h 2573710"/>
                  <a:gd name="connsiteX0" fmla="*/ 3709449 w 4115144"/>
                  <a:gd name="connsiteY0" fmla="*/ 293843 h 2573710"/>
                  <a:gd name="connsiteX1" fmla="*/ 4115144 w 4115144"/>
                  <a:gd name="connsiteY1" fmla="*/ 1286855 h 2573710"/>
                  <a:gd name="connsiteX2" fmla="*/ 3000382 w 4115144"/>
                  <a:gd name="connsiteY2" fmla="*/ 2573710 h 2573710"/>
                  <a:gd name="connsiteX3" fmla="*/ 946782 w 4115144"/>
                  <a:gd name="connsiteY3" fmla="*/ 2417773 h 2573710"/>
                  <a:gd name="connsiteX4" fmla="*/ 0 w 4115144"/>
                  <a:gd name="connsiteY4" fmla="*/ 1466372 h 2573710"/>
                  <a:gd name="connsiteX5" fmla="*/ 1655309 w 4115144"/>
                  <a:gd name="connsiteY5" fmla="*/ 3805 h 2573710"/>
                  <a:gd name="connsiteX6" fmla="*/ 3000381 w 4115144"/>
                  <a:gd name="connsiteY6" fmla="*/ 0 h 2573710"/>
                  <a:gd name="connsiteX7" fmla="*/ 3434273 w 4115144"/>
                  <a:gd name="connsiteY7" fmla="*/ 101122 h 2573710"/>
                  <a:gd name="connsiteX8" fmla="*/ 3709449 w 4115144"/>
                  <a:gd name="connsiteY8" fmla="*/ 293843 h 2573710"/>
                  <a:gd name="connsiteX0" fmla="*/ 3709449 w 4115144"/>
                  <a:gd name="connsiteY0" fmla="*/ 293843 h 2573710"/>
                  <a:gd name="connsiteX1" fmla="*/ 4115144 w 4115144"/>
                  <a:gd name="connsiteY1" fmla="*/ 1286855 h 2573710"/>
                  <a:gd name="connsiteX2" fmla="*/ 3000382 w 4115144"/>
                  <a:gd name="connsiteY2" fmla="*/ 2573710 h 2573710"/>
                  <a:gd name="connsiteX3" fmla="*/ 946782 w 4115144"/>
                  <a:gd name="connsiteY3" fmla="*/ 2417773 h 2573710"/>
                  <a:gd name="connsiteX4" fmla="*/ 0 w 4115144"/>
                  <a:gd name="connsiteY4" fmla="*/ 1466372 h 2573710"/>
                  <a:gd name="connsiteX5" fmla="*/ 1904200 w 4115144"/>
                  <a:gd name="connsiteY5" fmla="*/ 16864 h 2573710"/>
                  <a:gd name="connsiteX6" fmla="*/ 3000381 w 4115144"/>
                  <a:gd name="connsiteY6" fmla="*/ 0 h 2573710"/>
                  <a:gd name="connsiteX7" fmla="*/ 3434273 w 4115144"/>
                  <a:gd name="connsiteY7" fmla="*/ 101122 h 2573710"/>
                  <a:gd name="connsiteX8" fmla="*/ 3709449 w 4115144"/>
                  <a:gd name="connsiteY8" fmla="*/ 293843 h 2573710"/>
                  <a:gd name="connsiteX0" fmla="*/ 3682006 w 4087701"/>
                  <a:gd name="connsiteY0" fmla="*/ 293843 h 2573710"/>
                  <a:gd name="connsiteX1" fmla="*/ 4087701 w 4087701"/>
                  <a:gd name="connsiteY1" fmla="*/ 1286855 h 2573710"/>
                  <a:gd name="connsiteX2" fmla="*/ 2972939 w 4087701"/>
                  <a:gd name="connsiteY2" fmla="*/ 2573710 h 2573710"/>
                  <a:gd name="connsiteX3" fmla="*/ 919339 w 4087701"/>
                  <a:gd name="connsiteY3" fmla="*/ 2417773 h 2573710"/>
                  <a:gd name="connsiteX4" fmla="*/ 0 w 4087701"/>
                  <a:gd name="connsiteY4" fmla="*/ 1659849 h 2573710"/>
                  <a:gd name="connsiteX5" fmla="*/ 1876757 w 4087701"/>
                  <a:gd name="connsiteY5" fmla="*/ 16864 h 2573710"/>
                  <a:gd name="connsiteX6" fmla="*/ 2972938 w 4087701"/>
                  <a:gd name="connsiteY6" fmla="*/ 0 h 2573710"/>
                  <a:gd name="connsiteX7" fmla="*/ 3406830 w 4087701"/>
                  <a:gd name="connsiteY7" fmla="*/ 101122 h 2573710"/>
                  <a:gd name="connsiteX8" fmla="*/ 3682006 w 4087701"/>
                  <a:gd name="connsiteY8" fmla="*/ 293843 h 2573710"/>
                  <a:gd name="connsiteX0" fmla="*/ 3682006 w 4087701"/>
                  <a:gd name="connsiteY0" fmla="*/ 293843 h 2573710"/>
                  <a:gd name="connsiteX1" fmla="*/ 4087701 w 4087701"/>
                  <a:gd name="connsiteY1" fmla="*/ 1286855 h 2573710"/>
                  <a:gd name="connsiteX2" fmla="*/ 2972939 w 4087701"/>
                  <a:gd name="connsiteY2" fmla="*/ 2573710 h 2573710"/>
                  <a:gd name="connsiteX3" fmla="*/ 829614 w 4087701"/>
                  <a:gd name="connsiteY3" fmla="*/ 2483691 h 2573710"/>
                  <a:gd name="connsiteX4" fmla="*/ 0 w 4087701"/>
                  <a:gd name="connsiteY4" fmla="*/ 1659849 h 2573710"/>
                  <a:gd name="connsiteX5" fmla="*/ 1876757 w 4087701"/>
                  <a:gd name="connsiteY5" fmla="*/ 16864 h 2573710"/>
                  <a:gd name="connsiteX6" fmla="*/ 2972938 w 4087701"/>
                  <a:gd name="connsiteY6" fmla="*/ 0 h 2573710"/>
                  <a:gd name="connsiteX7" fmla="*/ 3406830 w 4087701"/>
                  <a:gd name="connsiteY7" fmla="*/ 101122 h 2573710"/>
                  <a:gd name="connsiteX8" fmla="*/ 3682006 w 4087701"/>
                  <a:gd name="connsiteY8" fmla="*/ 293843 h 2573710"/>
                  <a:gd name="connsiteX0" fmla="*/ 3682006 w 4087701"/>
                  <a:gd name="connsiteY0" fmla="*/ 293843 h 2573710"/>
                  <a:gd name="connsiteX1" fmla="*/ 4087701 w 4087701"/>
                  <a:gd name="connsiteY1" fmla="*/ 1286855 h 2573710"/>
                  <a:gd name="connsiteX2" fmla="*/ 2972939 w 4087701"/>
                  <a:gd name="connsiteY2" fmla="*/ 2573710 h 2573710"/>
                  <a:gd name="connsiteX3" fmla="*/ 829614 w 4087701"/>
                  <a:gd name="connsiteY3" fmla="*/ 2483691 h 2573710"/>
                  <a:gd name="connsiteX4" fmla="*/ 0 w 4087701"/>
                  <a:gd name="connsiteY4" fmla="*/ 1659849 h 2573710"/>
                  <a:gd name="connsiteX5" fmla="*/ 1724191 w 4087701"/>
                  <a:gd name="connsiteY5" fmla="*/ 18448 h 2573710"/>
                  <a:gd name="connsiteX6" fmla="*/ 2972938 w 4087701"/>
                  <a:gd name="connsiteY6" fmla="*/ 0 h 2573710"/>
                  <a:gd name="connsiteX7" fmla="*/ 3406830 w 4087701"/>
                  <a:gd name="connsiteY7" fmla="*/ 101122 h 2573710"/>
                  <a:gd name="connsiteX8" fmla="*/ 3682006 w 4087701"/>
                  <a:gd name="connsiteY8" fmla="*/ 293843 h 2573710"/>
                  <a:gd name="connsiteX0" fmla="*/ 3682006 w 4087701"/>
                  <a:gd name="connsiteY0" fmla="*/ 293843 h 2573710"/>
                  <a:gd name="connsiteX1" fmla="*/ 4087701 w 4087701"/>
                  <a:gd name="connsiteY1" fmla="*/ 1286855 h 2573710"/>
                  <a:gd name="connsiteX2" fmla="*/ 2972939 w 4087701"/>
                  <a:gd name="connsiteY2" fmla="*/ 2573710 h 2573710"/>
                  <a:gd name="connsiteX3" fmla="*/ 792315 w 4087701"/>
                  <a:gd name="connsiteY3" fmla="*/ 2507425 h 2573710"/>
                  <a:gd name="connsiteX4" fmla="*/ 0 w 4087701"/>
                  <a:gd name="connsiteY4" fmla="*/ 1659849 h 2573710"/>
                  <a:gd name="connsiteX5" fmla="*/ 1724191 w 4087701"/>
                  <a:gd name="connsiteY5" fmla="*/ 18448 h 2573710"/>
                  <a:gd name="connsiteX6" fmla="*/ 2972938 w 4087701"/>
                  <a:gd name="connsiteY6" fmla="*/ 0 h 2573710"/>
                  <a:gd name="connsiteX7" fmla="*/ 3406830 w 4087701"/>
                  <a:gd name="connsiteY7" fmla="*/ 101122 h 2573710"/>
                  <a:gd name="connsiteX8" fmla="*/ 3682006 w 4087701"/>
                  <a:gd name="connsiteY8" fmla="*/ 293843 h 2573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87701" h="2573710">
                    <a:moveTo>
                      <a:pt x="3682006" y="293843"/>
                    </a:moveTo>
                    <a:cubicBezTo>
                      <a:pt x="3929765" y="529865"/>
                      <a:pt x="4087701" y="887059"/>
                      <a:pt x="4087701" y="1286855"/>
                    </a:cubicBezTo>
                    <a:cubicBezTo>
                      <a:pt x="4087701" y="1997604"/>
                      <a:pt x="3588545" y="2573710"/>
                      <a:pt x="2972939" y="2573710"/>
                    </a:cubicBezTo>
                    <a:lnTo>
                      <a:pt x="792315" y="2507425"/>
                    </a:lnTo>
                    <a:lnTo>
                      <a:pt x="0" y="1659849"/>
                    </a:lnTo>
                    <a:lnTo>
                      <a:pt x="1724191" y="18448"/>
                    </a:lnTo>
                    <a:lnTo>
                      <a:pt x="2972938" y="0"/>
                    </a:lnTo>
                    <a:cubicBezTo>
                      <a:pt x="3126839" y="0"/>
                      <a:pt x="3273463" y="36007"/>
                      <a:pt x="3406830" y="101122"/>
                    </a:cubicBezTo>
                    <a:cubicBezTo>
                      <a:pt x="3506853" y="149959"/>
                      <a:pt x="3599420" y="215169"/>
                      <a:pt x="3682006" y="293843"/>
                    </a:cubicBezTo>
                    <a:close/>
                  </a:path>
                </a:pathLst>
              </a:custGeom>
              <a:solidFill>
                <a:srgbClr val="8B5DD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n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52" name="자유형 31">
                <a:extLst>
                  <a:ext uri="{FF2B5EF4-FFF2-40B4-BE49-F238E27FC236}">
                    <a16:creationId xmlns:a16="http://schemas.microsoft.com/office/drawing/2014/main" id="{8320B1CE-6C66-464E-B92B-BBACACD2FB67}"/>
                  </a:ext>
                </a:extLst>
              </p:cNvPr>
              <p:cNvSpPr/>
              <p:nvPr/>
            </p:nvSpPr>
            <p:spPr>
              <a:xfrm rot="18926070">
                <a:off x="664544" y="4458883"/>
                <a:ext cx="2242852" cy="708070"/>
              </a:xfrm>
              <a:custGeom>
                <a:avLst/>
                <a:gdLst>
                  <a:gd name="connsiteX0" fmla="*/ 2022750 w 2094682"/>
                  <a:gd name="connsiteY0" fmla="*/ 156086 h 708070"/>
                  <a:gd name="connsiteX1" fmla="*/ 2094682 w 2094682"/>
                  <a:gd name="connsiteY1" fmla="*/ 354035 h 708070"/>
                  <a:gd name="connsiteX2" fmla="*/ 1673532 w 2094682"/>
                  <a:gd name="connsiteY2" fmla="*/ 708070 h 708070"/>
                  <a:gd name="connsiteX3" fmla="*/ 572150 w 2094682"/>
                  <a:gd name="connsiteY3" fmla="*/ 708070 h 708070"/>
                  <a:gd name="connsiteX4" fmla="*/ 0 w 2094682"/>
                  <a:gd name="connsiteY4" fmla="*/ 0 h 708070"/>
                  <a:gd name="connsiteX5" fmla="*/ 1673532 w 2094682"/>
                  <a:gd name="connsiteY5" fmla="*/ 0 h 708070"/>
                  <a:gd name="connsiteX6" fmla="*/ 2022750 w 2094682"/>
                  <a:gd name="connsiteY6" fmla="*/ 156086 h 708070"/>
                  <a:gd name="connsiteX0" fmla="*/ 2170920 w 2242852"/>
                  <a:gd name="connsiteY0" fmla="*/ 156086 h 708070"/>
                  <a:gd name="connsiteX1" fmla="*/ 2242852 w 2242852"/>
                  <a:gd name="connsiteY1" fmla="*/ 354035 h 708070"/>
                  <a:gd name="connsiteX2" fmla="*/ 1821702 w 2242852"/>
                  <a:gd name="connsiteY2" fmla="*/ 708070 h 708070"/>
                  <a:gd name="connsiteX3" fmla="*/ 720320 w 2242852"/>
                  <a:gd name="connsiteY3" fmla="*/ 708070 h 708070"/>
                  <a:gd name="connsiteX4" fmla="*/ 0 w 2242852"/>
                  <a:gd name="connsiteY4" fmla="*/ 1124 h 708070"/>
                  <a:gd name="connsiteX5" fmla="*/ 1821702 w 2242852"/>
                  <a:gd name="connsiteY5" fmla="*/ 0 h 708070"/>
                  <a:gd name="connsiteX6" fmla="*/ 2170920 w 2242852"/>
                  <a:gd name="connsiteY6" fmla="*/ 156086 h 708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42852" h="708070">
                    <a:moveTo>
                      <a:pt x="2170920" y="156086"/>
                    </a:moveTo>
                    <a:cubicBezTo>
                      <a:pt x="2216333" y="212590"/>
                      <a:pt x="2242852" y="280708"/>
                      <a:pt x="2242852" y="354035"/>
                    </a:cubicBezTo>
                    <a:cubicBezTo>
                      <a:pt x="2242852" y="549574"/>
                      <a:pt x="2054274" y="708070"/>
                      <a:pt x="1821702" y="708070"/>
                    </a:cubicBezTo>
                    <a:lnTo>
                      <a:pt x="720320" y="708070"/>
                    </a:lnTo>
                    <a:lnTo>
                      <a:pt x="0" y="1124"/>
                    </a:lnTo>
                    <a:lnTo>
                      <a:pt x="1821702" y="0"/>
                    </a:lnTo>
                    <a:cubicBezTo>
                      <a:pt x="1967060" y="0"/>
                      <a:pt x="2095232" y="61913"/>
                      <a:pt x="2170920" y="156086"/>
                    </a:cubicBezTo>
                    <a:close/>
                  </a:path>
                </a:pathLst>
              </a:custGeom>
              <a:solidFill>
                <a:srgbClr val="673BB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n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53" name="자유형 32">
                <a:extLst>
                  <a:ext uri="{FF2B5EF4-FFF2-40B4-BE49-F238E27FC236}">
                    <a16:creationId xmlns:a16="http://schemas.microsoft.com/office/drawing/2014/main" id="{98EEF6D4-6B3A-4323-9172-BA423F5432AE}"/>
                  </a:ext>
                </a:extLst>
              </p:cNvPr>
              <p:cNvSpPr/>
              <p:nvPr/>
            </p:nvSpPr>
            <p:spPr>
              <a:xfrm rot="18701312">
                <a:off x="575631" y="4802273"/>
                <a:ext cx="1254206" cy="489849"/>
              </a:xfrm>
              <a:custGeom>
                <a:avLst/>
                <a:gdLst>
                  <a:gd name="connsiteX0" fmla="*/ 1713464 w 1753285"/>
                  <a:gd name="connsiteY0" fmla="*/ 145058 h 475021"/>
                  <a:gd name="connsiteX1" fmla="*/ 1753285 w 1753285"/>
                  <a:gd name="connsiteY1" fmla="*/ 237510 h 475021"/>
                  <a:gd name="connsiteX2" fmla="*/ 1246615 w 1753285"/>
                  <a:gd name="connsiteY2" fmla="*/ 475021 h 475021"/>
                  <a:gd name="connsiteX3" fmla="*/ 469088 w 1753285"/>
                  <a:gd name="connsiteY3" fmla="*/ 475021 h 475021"/>
                  <a:gd name="connsiteX4" fmla="*/ 0 w 1753285"/>
                  <a:gd name="connsiteY4" fmla="*/ 0 h 475021"/>
                  <a:gd name="connsiteX5" fmla="*/ 1246615 w 1753285"/>
                  <a:gd name="connsiteY5" fmla="*/ 0 h 475021"/>
                  <a:gd name="connsiteX6" fmla="*/ 1604874 w 1753285"/>
                  <a:gd name="connsiteY6" fmla="*/ 69563 h 475021"/>
                  <a:gd name="connsiteX7" fmla="*/ 1713464 w 1753285"/>
                  <a:gd name="connsiteY7" fmla="*/ 145058 h 475021"/>
                  <a:gd name="connsiteX0" fmla="*/ 1713464 w 1753285"/>
                  <a:gd name="connsiteY0" fmla="*/ 145058 h 481291"/>
                  <a:gd name="connsiteX1" fmla="*/ 1753285 w 1753285"/>
                  <a:gd name="connsiteY1" fmla="*/ 237510 h 481291"/>
                  <a:gd name="connsiteX2" fmla="*/ 1246615 w 1753285"/>
                  <a:gd name="connsiteY2" fmla="*/ 475021 h 481291"/>
                  <a:gd name="connsiteX3" fmla="*/ 405142 w 1753285"/>
                  <a:gd name="connsiteY3" fmla="*/ 481291 h 481291"/>
                  <a:gd name="connsiteX4" fmla="*/ 0 w 1753285"/>
                  <a:gd name="connsiteY4" fmla="*/ 0 h 481291"/>
                  <a:gd name="connsiteX5" fmla="*/ 1246615 w 1753285"/>
                  <a:gd name="connsiteY5" fmla="*/ 0 h 481291"/>
                  <a:gd name="connsiteX6" fmla="*/ 1604874 w 1753285"/>
                  <a:gd name="connsiteY6" fmla="*/ 69563 h 481291"/>
                  <a:gd name="connsiteX7" fmla="*/ 1713464 w 1753285"/>
                  <a:gd name="connsiteY7" fmla="*/ 145058 h 481291"/>
                  <a:gd name="connsiteX0" fmla="*/ 1713464 w 1753285"/>
                  <a:gd name="connsiteY0" fmla="*/ 145058 h 481291"/>
                  <a:gd name="connsiteX1" fmla="*/ 1753285 w 1753285"/>
                  <a:gd name="connsiteY1" fmla="*/ 237510 h 481291"/>
                  <a:gd name="connsiteX2" fmla="*/ 1246615 w 1753285"/>
                  <a:gd name="connsiteY2" fmla="*/ 475021 h 481291"/>
                  <a:gd name="connsiteX3" fmla="*/ 405142 w 1753285"/>
                  <a:gd name="connsiteY3" fmla="*/ 481291 h 481291"/>
                  <a:gd name="connsiteX4" fmla="*/ 0 w 1753285"/>
                  <a:gd name="connsiteY4" fmla="*/ 0 h 481291"/>
                  <a:gd name="connsiteX5" fmla="*/ 1246615 w 1753285"/>
                  <a:gd name="connsiteY5" fmla="*/ 0 h 481291"/>
                  <a:gd name="connsiteX6" fmla="*/ 1604874 w 1753285"/>
                  <a:gd name="connsiteY6" fmla="*/ 69563 h 481291"/>
                  <a:gd name="connsiteX7" fmla="*/ 1713464 w 1753285"/>
                  <a:gd name="connsiteY7" fmla="*/ 145058 h 481291"/>
                  <a:gd name="connsiteX0" fmla="*/ 1713464 w 1754768"/>
                  <a:gd name="connsiteY0" fmla="*/ 145058 h 481291"/>
                  <a:gd name="connsiteX1" fmla="*/ 1753285 w 1754768"/>
                  <a:gd name="connsiteY1" fmla="*/ 237510 h 481291"/>
                  <a:gd name="connsiteX2" fmla="*/ 1246615 w 1754768"/>
                  <a:gd name="connsiteY2" fmla="*/ 475021 h 481291"/>
                  <a:gd name="connsiteX3" fmla="*/ 405142 w 1754768"/>
                  <a:gd name="connsiteY3" fmla="*/ 481291 h 481291"/>
                  <a:gd name="connsiteX4" fmla="*/ 0 w 1754768"/>
                  <a:gd name="connsiteY4" fmla="*/ 0 h 481291"/>
                  <a:gd name="connsiteX5" fmla="*/ 1246615 w 1754768"/>
                  <a:gd name="connsiteY5" fmla="*/ 0 h 481291"/>
                  <a:gd name="connsiteX6" fmla="*/ 1604874 w 1754768"/>
                  <a:gd name="connsiteY6" fmla="*/ 69563 h 481291"/>
                  <a:gd name="connsiteX7" fmla="*/ 1713464 w 1754768"/>
                  <a:gd name="connsiteY7" fmla="*/ 145058 h 481291"/>
                  <a:gd name="connsiteX0" fmla="*/ 1667062 w 1708366"/>
                  <a:gd name="connsiteY0" fmla="*/ 145058 h 481291"/>
                  <a:gd name="connsiteX1" fmla="*/ 1706883 w 1708366"/>
                  <a:gd name="connsiteY1" fmla="*/ 237510 h 481291"/>
                  <a:gd name="connsiteX2" fmla="*/ 1200213 w 1708366"/>
                  <a:gd name="connsiteY2" fmla="*/ 475021 h 481291"/>
                  <a:gd name="connsiteX3" fmla="*/ 358740 w 1708366"/>
                  <a:gd name="connsiteY3" fmla="*/ 481291 h 481291"/>
                  <a:gd name="connsiteX4" fmla="*/ 0 w 1708366"/>
                  <a:gd name="connsiteY4" fmla="*/ 3113 h 481291"/>
                  <a:gd name="connsiteX5" fmla="*/ 1200213 w 1708366"/>
                  <a:gd name="connsiteY5" fmla="*/ 0 h 481291"/>
                  <a:gd name="connsiteX6" fmla="*/ 1558472 w 1708366"/>
                  <a:gd name="connsiteY6" fmla="*/ 69563 h 481291"/>
                  <a:gd name="connsiteX7" fmla="*/ 1667062 w 1708366"/>
                  <a:gd name="connsiteY7" fmla="*/ 145058 h 481291"/>
                  <a:gd name="connsiteX0" fmla="*/ 1667062 w 1708366"/>
                  <a:gd name="connsiteY0" fmla="*/ 145058 h 475021"/>
                  <a:gd name="connsiteX1" fmla="*/ 1706883 w 1708366"/>
                  <a:gd name="connsiteY1" fmla="*/ 237510 h 475021"/>
                  <a:gd name="connsiteX2" fmla="*/ 1200213 w 1708366"/>
                  <a:gd name="connsiteY2" fmla="*/ 475021 h 475021"/>
                  <a:gd name="connsiteX3" fmla="*/ 536505 w 1708366"/>
                  <a:gd name="connsiteY3" fmla="*/ 468511 h 475021"/>
                  <a:gd name="connsiteX4" fmla="*/ 0 w 1708366"/>
                  <a:gd name="connsiteY4" fmla="*/ 3113 h 475021"/>
                  <a:gd name="connsiteX5" fmla="*/ 1200213 w 1708366"/>
                  <a:gd name="connsiteY5" fmla="*/ 0 h 475021"/>
                  <a:gd name="connsiteX6" fmla="*/ 1558472 w 1708366"/>
                  <a:gd name="connsiteY6" fmla="*/ 69563 h 475021"/>
                  <a:gd name="connsiteX7" fmla="*/ 1667062 w 1708366"/>
                  <a:gd name="connsiteY7" fmla="*/ 145058 h 475021"/>
                  <a:gd name="connsiteX0" fmla="*/ 1667062 w 1708366"/>
                  <a:gd name="connsiteY0" fmla="*/ 145058 h 493850"/>
                  <a:gd name="connsiteX1" fmla="*/ 1706883 w 1708366"/>
                  <a:gd name="connsiteY1" fmla="*/ 237510 h 493850"/>
                  <a:gd name="connsiteX2" fmla="*/ 1200213 w 1708366"/>
                  <a:gd name="connsiteY2" fmla="*/ 475021 h 493850"/>
                  <a:gd name="connsiteX3" fmla="*/ 504841 w 1708366"/>
                  <a:gd name="connsiteY3" fmla="*/ 493850 h 493850"/>
                  <a:gd name="connsiteX4" fmla="*/ 0 w 1708366"/>
                  <a:gd name="connsiteY4" fmla="*/ 3113 h 493850"/>
                  <a:gd name="connsiteX5" fmla="*/ 1200213 w 1708366"/>
                  <a:gd name="connsiteY5" fmla="*/ 0 h 493850"/>
                  <a:gd name="connsiteX6" fmla="*/ 1558472 w 1708366"/>
                  <a:gd name="connsiteY6" fmla="*/ 69563 h 493850"/>
                  <a:gd name="connsiteX7" fmla="*/ 1667062 w 1708366"/>
                  <a:gd name="connsiteY7" fmla="*/ 145058 h 493850"/>
                  <a:gd name="connsiteX0" fmla="*/ 1667062 w 1708366"/>
                  <a:gd name="connsiteY0" fmla="*/ 145058 h 489849"/>
                  <a:gd name="connsiteX1" fmla="*/ 1706883 w 1708366"/>
                  <a:gd name="connsiteY1" fmla="*/ 237510 h 489849"/>
                  <a:gd name="connsiteX2" fmla="*/ 1200213 w 1708366"/>
                  <a:gd name="connsiteY2" fmla="*/ 475021 h 489849"/>
                  <a:gd name="connsiteX3" fmla="*/ 569482 w 1708366"/>
                  <a:gd name="connsiteY3" fmla="*/ 489849 h 489849"/>
                  <a:gd name="connsiteX4" fmla="*/ 0 w 1708366"/>
                  <a:gd name="connsiteY4" fmla="*/ 3113 h 489849"/>
                  <a:gd name="connsiteX5" fmla="*/ 1200213 w 1708366"/>
                  <a:gd name="connsiteY5" fmla="*/ 0 h 489849"/>
                  <a:gd name="connsiteX6" fmla="*/ 1558472 w 1708366"/>
                  <a:gd name="connsiteY6" fmla="*/ 69563 h 489849"/>
                  <a:gd name="connsiteX7" fmla="*/ 1667062 w 1708366"/>
                  <a:gd name="connsiteY7" fmla="*/ 145058 h 489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08366" h="489849">
                    <a:moveTo>
                      <a:pt x="1667062" y="145058"/>
                    </a:moveTo>
                    <a:cubicBezTo>
                      <a:pt x="1691797" y="173049"/>
                      <a:pt x="1702149" y="205060"/>
                      <a:pt x="1706883" y="237510"/>
                    </a:cubicBezTo>
                    <a:cubicBezTo>
                      <a:pt x="1729976" y="395801"/>
                      <a:pt x="1480011" y="475021"/>
                      <a:pt x="1200213" y="475021"/>
                    </a:cubicBezTo>
                    <a:lnTo>
                      <a:pt x="569482" y="489849"/>
                    </a:lnTo>
                    <a:lnTo>
                      <a:pt x="0" y="3113"/>
                    </a:lnTo>
                    <a:lnTo>
                      <a:pt x="1200213" y="0"/>
                    </a:lnTo>
                    <a:cubicBezTo>
                      <a:pt x="1340112" y="0"/>
                      <a:pt x="1466780" y="26582"/>
                      <a:pt x="1558472" y="69563"/>
                    </a:cubicBezTo>
                    <a:cubicBezTo>
                      <a:pt x="1604319" y="91053"/>
                      <a:pt x="1642327" y="117067"/>
                      <a:pt x="1667062" y="145058"/>
                    </a:cubicBezTo>
                    <a:close/>
                  </a:path>
                </a:pathLst>
              </a:custGeom>
              <a:solidFill>
                <a:srgbClr val="4527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n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</p:grp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DD0F30AB-FC78-4471-8CFC-0972F82B16FC}"/>
                </a:ext>
              </a:extLst>
            </p:cNvPr>
            <p:cNvCxnSpPr/>
            <p:nvPr/>
          </p:nvCxnSpPr>
          <p:spPr>
            <a:xfrm>
              <a:off x="1320294" y="2442118"/>
              <a:ext cx="428920" cy="0"/>
            </a:xfrm>
            <a:prstGeom prst="line">
              <a:avLst/>
            </a:prstGeom>
            <a:ln w="38100">
              <a:solidFill>
                <a:srgbClr val="4527A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10E60EA-9F3D-4497-826E-E978B63E0F09}"/>
                </a:ext>
              </a:extLst>
            </p:cNvPr>
            <p:cNvSpPr txBox="1"/>
            <p:nvPr/>
          </p:nvSpPr>
          <p:spPr>
            <a:xfrm>
              <a:off x="248505" y="2460682"/>
              <a:ext cx="257249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포괄손익</a:t>
              </a:r>
              <a:br>
                <a:rPr lang="en-US" altLang="ko-KR" sz="3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3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계산서</a:t>
              </a:r>
            </a:p>
          </p:txBody>
        </p:sp>
      </p:grpSp>
      <p:sp>
        <p:nvSpPr>
          <p:cNvPr id="54" name="텍스트 개체 틀 7">
            <a:extLst>
              <a:ext uri="{FF2B5EF4-FFF2-40B4-BE49-F238E27FC236}">
                <a16:creationId xmlns:a16="http://schemas.microsoft.com/office/drawing/2014/main" id="{C6AEE5C3-ECAE-4EAE-8F80-2A956A80EF7D}"/>
              </a:ext>
            </a:extLst>
          </p:cNvPr>
          <p:cNvSpPr txBox="1">
            <a:spLocks/>
          </p:cNvSpPr>
          <p:nvPr/>
        </p:nvSpPr>
        <p:spPr>
          <a:xfrm>
            <a:off x="3347864" y="1431814"/>
            <a:ext cx="2663999" cy="132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algn="l">
              <a:spcBef>
                <a:spcPts val="500"/>
              </a:spcBef>
              <a:spcAft>
                <a:spcPts val="500"/>
              </a:spcAft>
              <a:buClr>
                <a:srgbClr val="07038C"/>
              </a:buClr>
            </a:pPr>
            <a:r>
              <a: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 동안 </a:t>
            </a: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당기순이익</a:t>
            </a: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 </a:t>
            </a: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기타이익</a:t>
            </a:r>
            <a:r>
              <a: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포괄하여 기업의 경영성과를 보여주는 표</a:t>
            </a:r>
          </a:p>
        </p:txBody>
      </p:sp>
    </p:spTree>
    <p:extLst>
      <p:ext uri="{BB962C8B-B14F-4D97-AF65-F5344CB8AC3E}">
        <p14:creationId xmlns:p14="http://schemas.microsoft.com/office/powerpoint/2010/main" val="28408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포괄손익계산서</a:t>
            </a:r>
            <a:endParaRPr lang="ko-KR" altLang="en-US" sz="2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포괄손익계산서의</a:t>
              </a:r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 개념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315EB5B-38D6-4C4D-B540-825B199DC3C3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7670F00-8FA5-4113-AB23-D09FE102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19" name="텍스트 개체 틀 7">
              <a:extLst>
                <a:ext uri="{FF2B5EF4-FFF2-40B4-BE49-F238E27FC236}">
                  <a16:creationId xmlns:a16="http://schemas.microsoft.com/office/drawing/2014/main" id="{4C722A56-549B-48C6-9123-DC630D93243F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당기순이익과 기타이익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기타포괄이익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비교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BF06DAF-E0F7-42EB-B330-7D9F42471BFB}"/>
              </a:ext>
            </a:extLst>
          </p:cNvPr>
          <p:cNvGrpSpPr/>
          <p:nvPr/>
        </p:nvGrpSpPr>
        <p:grpSpPr>
          <a:xfrm>
            <a:off x="3501966" y="1564963"/>
            <a:ext cx="2389391" cy="1942891"/>
            <a:chOff x="3203845" y="1203598"/>
            <a:chExt cx="2389391" cy="1942891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02748A95-2D8D-4AA4-9591-8C042848D763}"/>
                </a:ext>
              </a:extLst>
            </p:cNvPr>
            <p:cNvGrpSpPr/>
            <p:nvPr/>
          </p:nvGrpSpPr>
          <p:grpSpPr>
            <a:xfrm>
              <a:off x="3203848" y="1203598"/>
              <a:ext cx="2389388" cy="1942891"/>
              <a:chOff x="3203848" y="1203598"/>
              <a:chExt cx="2389388" cy="1942891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D706E206-8270-44EC-8D98-EAB2FD2A2873}"/>
                  </a:ext>
                </a:extLst>
              </p:cNvPr>
              <p:cNvSpPr/>
              <p:nvPr/>
            </p:nvSpPr>
            <p:spPr bwMode="auto">
              <a:xfrm>
                <a:off x="3203848" y="1203598"/>
                <a:ext cx="2389384" cy="1942891"/>
              </a:xfrm>
              <a:prstGeom prst="rect">
                <a:avLst/>
              </a:prstGeom>
              <a:solidFill>
                <a:schemeClr val="bg1"/>
              </a:solidFill>
              <a:ln w="38100">
                <a:noFill/>
                <a:headEnd type="none" w="med" len="med"/>
                <a:tailEnd type="triangle" w="med" len="med"/>
              </a:ln>
              <a:effectLst>
                <a:outerShdw blurRad="50800" dist="38100" dir="5400000" algn="t" rotWithShape="0">
                  <a:prstClr val="black">
                    <a:alpha val="41000"/>
                  </a:prstClr>
                </a:outerShdw>
              </a:effectLst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860C3F1F-BCE7-4303-A7B4-D5D7EAB61C1E}"/>
                  </a:ext>
                </a:extLst>
              </p:cNvPr>
              <p:cNvSpPr/>
              <p:nvPr/>
            </p:nvSpPr>
            <p:spPr bwMode="auto">
              <a:xfrm>
                <a:off x="3203849" y="1209199"/>
                <a:ext cx="2389387" cy="575056"/>
              </a:xfrm>
              <a:prstGeom prst="rect">
                <a:avLst/>
              </a:prstGeom>
              <a:solidFill>
                <a:srgbClr val="215BFF"/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29" name="텍스트 개체 틀 7">
              <a:extLst>
                <a:ext uri="{FF2B5EF4-FFF2-40B4-BE49-F238E27FC236}">
                  <a16:creationId xmlns:a16="http://schemas.microsoft.com/office/drawing/2014/main" id="{C4B0009D-0106-4175-A5BF-A45D71C19F9B}"/>
                </a:ext>
              </a:extLst>
            </p:cNvPr>
            <p:cNvSpPr txBox="1">
              <a:spLocks/>
            </p:cNvSpPr>
            <p:nvPr/>
          </p:nvSpPr>
          <p:spPr>
            <a:xfrm>
              <a:off x="3203845" y="1301061"/>
              <a:ext cx="2389387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기타포괄이익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BAFB9B8-8119-4378-8042-FE6639692A0C}"/>
              </a:ext>
            </a:extLst>
          </p:cNvPr>
          <p:cNvGrpSpPr/>
          <p:nvPr/>
        </p:nvGrpSpPr>
        <p:grpSpPr>
          <a:xfrm>
            <a:off x="968569" y="1564963"/>
            <a:ext cx="2389388" cy="1942891"/>
            <a:chOff x="670448" y="1203598"/>
            <a:chExt cx="2389388" cy="1942891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119CEEAF-DDA4-4D2A-91B0-41C6697259DA}"/>
                </a:ext>
              </a:extLst>
            </p:cNvPr>
            <p:cNvGrpSpPr/>
            <p:nvPr/>
          </p:nvGrpSpPr>
          <p:grpSpPr>
            <a:xfrm>
              <a:off x="670448" y="1203598"/>
              <a:ext cx="2389388" cy="1942891"/>
              <a:chOff x="670448" y="1203598"/>
              <a:chExt cx="2389388" cy="1942891"/>
            </a:xfrm>
          </p:grpSpPr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2A80ADB1-C76E-4C35-8AAC-2A96B33E0517}"/>
                  </a:ext>
                </a:extLst>
              </p:cNvPr>
              <p:cNvSpPr/>
              <p:nvPr/>
            </p:nvSpPr>
            <p:spPr bwMode="auto">
              <a:xfrm>
                <a:off x="670448" y="1203598"/>
                <a:ext cx="2389384" cy="1942891"/>
              </a:xfrm>
              <a:prstGeom prst="rect">
                <a:avLst/>
              </a:prstGeom>
              <a:solidFill>
                <a:schemeClr val="bg1"/>
              </a:solidFill>
              <a:ln w="38100">
                <a:noFill/>
                <a:headEnd type="none" w="med" len="med"/>
                <a:tailEnd type="triangle" w="med" len="med"/>
              </a:ln>
              <a:effectLst>
                <a:outerShdw blurRad="50800" dist="38100" dir="5400000" algn="t" rotWithShape="0">
                  <a:prstClr val="black">
                    <a:alpha val="41000"/>
                  </a:prstClr>
                </a:outerShdw>
              </a:effectLst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1802896E-D086-4D9E-90E9-01130814086F}"/>
                  </a:ext>
                </a:extLst>
              </p:cNvPr>
              <p:cNvSpPr/>
              <p:nvPr/>
            </p:nvSpPr>
            <p:spPr bwMode="auto">
              <a:xfrm>
                <a:off x="670449" y="1209199"/>
                <a:ext cx="2389387" cy="575056"/>
              </a:xfrm>
              <a:prstGeom prst="rect">
                <a:avLst/>
              </a:prstGeom>
              <a:solidFill>
                <a:srgbClr val="8B5DD9"/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35" name="텍스트 개체 틀 7">
              <a:extLst>
                <a:ext uri="{FF2B5EF4-FFF2-40B4-BE49-F238E27FC236}">
                  <a16:creationId xmlns:a16="http://schemas.microsoft.com/office/drawing/2014/main" id="{C2500015-E7E6-4A75-A260-C4F07B6D36DB}"/>
                </a:ext>
              </a:extLst>
            </p:cNvPr>
            <p:cNvSpPr txBox="1">
              <a:spLocks/>
            </p:cNvSpPr>
            <p:nvPr/>
          </p:nvSpPr>
          <p:spPr>
            <a:xfrm>
              <a:off x="673429" y="1301061"/>
              <a:ext cx="238640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당기순이익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8" name="텍스트 개체 틀 7">
            <a:extLst>
              <a:ext uri="{FF2B5EF4-FFF2-40B4-BE49-F238E27FC236}">
                <a16:creationId xmlns:a16="http://schemas.microsoft.com/office/drawing/2014/main" id="{BB59B612-B875-4736-A334-0ABEF4598C18}"/>
              </a:ext>
            </a:extLst>
          </p:cNvPr>
          <p:cNvSpPr txBox="1">
            <a:spLocks/>
          </p:cNvSpPr>
          <p:nvPr/>
        </p:nvSpPr>
        <p:spPr>
          <a:xfrm>
            <a:off x="973226" y="2193852"/>
            <a:ext cx="2384727" cy="923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당기에 실현된 순이익</a:t>
            </a:r>
            <a:r>
              <a: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수익 </a:t>
            </a:r>
            <a:r>
              <a: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비용 </a:t>
            </a:r>
            <a:r>
              <a: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</a:t>
            </a: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순이익</a:t>
            </a:r>
            <a:r>
              <a: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1800" b="0" spc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텍스트 개체 틀 7">
            <a:extLst>
              <a:ext uri="{FF2B5EF4-FFF2-40B4-BE49-F238E27FC236}">
                <a16:creationId xmlns:a16="http://schemas.microsoft.com/office/drawing/2014/main" id="{DA6020C0-E97D-4432-AF2D-B16E94D70341}"/>
              </a:ext>
            </a:extLst>
          </p:cNvPr>
          <p:cNvSpPr txBox="1">
            <a:spLocks/>
          </p:cNvSpPr>
          <p:nvPr/>
        </p:nvSpPr>
        <p:spPr>
          <a:xfrm>
            <a:off x="3506626" y="2193852"/>
            <a:ext cx="2384727" cy="923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당기에 실현되지 않았으나 장래에 실현이 예상되는 이익</a:t>
            </a:r>
          </a:p>
        </p:txBody>
      </p:sp>
    </p:spTree>
    <p:extLst>
      <p:ext uri="{BB962C8B-B14F-4D97-AF65-F5344CB8AC3E}">
        <p14:creationId xmlns:p14="http://schemas.microsoft.com/office/powerpoint/2010/main" val="3864025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포괄손익계산서</a:t>
            </a:r>
            <a:endParaRPr lang="ko-KR" altLang="en-US" sz="2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포괄손익계산서의</a:t>
              </a:r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 개념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315EB5B-38D6-4C4D-B540-825B199DC3C3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7670F00-8FA5-4113-AB23-D09FE102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19" name="텍스트 개체 틀 7">
              <a:extLst>
                <a:ext uri="{FF2B5EF4-FFF2-40B4-BE49-F238E27FC236}">
                  <a16:creationId xmlns:a16="http://schemas.microsoft.com/office/drawing/2014/main" id="{4C722A56-549B-48C6-9123-DC630D93243F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손익계산서와 </a:t>
              </a:r>
              <a:r>
                <a:rPr lang="ko-KR" altLang="en-US" sz="200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포괄손익계산서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비교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BF06DAF-E0F7-42EB-B330-7D9F42471BFB}"/>
              </a:ext>
            </a:extLst>
          </p:cNvPr>
          <p:cNvGrpSpPr/>
          <p:nvPr/>
        </p:nvGrpSpPr>
        <p:grpSpPr>
          <a:xfrm>
            <a:off x="3501966" y="1564963"/>
            <a:ext cx="2389391" cy="1942891"/>
            <a:chOff x="3203845" y="1203598"/>
            <a:chExt cx="2389391" cy="1942891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02748A95-2D8D-4AA4-9591-8C042848D763}"/>
                </a:ext>
              </a:extLst>
            </p:cNvPr>
            <p:cNvGrpSpPr/>
            <p:nvPr/>
          </p:nvGrpSpPr>
          <p:grpSpPr>
            <a:xfrm>
              <a:off x="3203848" y="1203598"/>
              <a:ext cx="2389388" cy="1942891"/>
              <a:chOff x="3203848" y="1203598"/>
              <a:chExt cx="2389388" cy="1942891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D706E206-8270-44EC-8D98-EAB2FD2A2873}"/>
                  </a:ext>
                </a:extLst>
              </p:cNvPr>
              <p:cNvSpPr/>
              <p:nvPr/>
            </p:nvSpPr>
            <p:spPr bwMode="auto">
              <a:xfrm>
                <a:off x="3203848" y="1203598"/>
                <a:ext cx="2389384" cy="1942891"/>
              </a:xfrm>
              <a:prstGeom prst="rect">
                <a:avLst/>
              </a:prstGeom>
              <a:solidFill>
                <a:schemeClr val="bg1"/>
              </a:solidFill>
              <a:ln w="38100">
                <a:noFill/>
                <a:headEnd type="none" w="med" len="med"/>
                <a:tailEnd type="triangle" w="med" len="med"/>
              </a:ln>
              <a:effectLst>
                <a:outerShdw blurRad="50800" dist="38100" dir="5400000" algn="t" rotWithShape="0">
                  <a:prstClr val="black">
                    <a:alpha val="41000"/>
                  </a:prstClr>
                </a:outerShdw>
              </a:effectLst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860C3F1F-BCE7-4303-A7B4-D5D7EAB61C1E}"/>
                  </a:ext>
                </a:extLst>
              </p:cNvPr>
              <p:cNvSpPr/>
              <p:nvPr/>
            </p:nvSpPr>
            <p:spPr bwMode="auto">
              <a:xfrm>
                <a:off x="3203849" y="1209199"/>
                <a:ext cx="2389387" cy="575056"/>
              </a:xfrm>
              <a:prstGeom prst="rect">
                <a:avLst/>
              </a:prstGeom>
              <a:solidFill>
                <a:srgbClr val="215BFF"/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29" name="텍스트 개체 틀 7">
              <a:extLst>
                <a:ext uri="{FF2B5EF4-FFF2-40B4-BE49-F238E27FC236}">
                  <a16:creationId xmlns:a16="http://schemas.microsoft.com/office/drawing/2014/main" id="{C4B0009D-0106-4175-A5BF-A45D71C19F9B}"/>
                </a:ext>
              </a:extLst>
            </p:cNvPr>
            <p:cNvSpPr txBox="1">
              <a:spLocks/>
            </p:cNvSpPr>
            <p:nvPr/>
          </p:nvSpPr>
          <p:spPr>
            <a:xfrm>
              <a:off x="3203845" y="1301061"/>
              <a:ext cx="2389387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포괄손익계산서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BAFB9B8-8119-4378-8042-FE6639692A0C}"/>
              </a:ext>
            </a:extLst>
          </p:cNvPr>
          <p:cNvGrpSpPr/>
          <p:nvPr/>
        </p:nvGrpSpPr>
        <p:grpSpPr>
          <a:xfrm>
            <a:off x="968569" y="1564963"/>
            <a:ext cx="2389388" cy="1942891"/>
            <a:chOff x="670448" y="1203598"/>
            <a:chExt cx="2389388" cy="1942891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119CEEAF-DDA4-4D2A-91B0-41C6697259DA}"/>
                </a:ext>
              </a:extLst>
            </p:cNvPr>
            <p:cNvGrpSpPr/>
            <p:nvPr/>
          </p:nvGrpSpPr>
          <p:grpSpPr>
            <a:xfrm>
              <a:off x="670448" y="1203598"/>
              <a:ext cx="2389388" cy="1942891"/>
              <a:chOff x="670448" y="1203598"/>
              <a:chExt cx="2389388" cy="1942891"/>
            </a:xfrm>
          </p:grpSpPr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2A80ADB1-C76E-4C35-8AAC-2A96B33E0517}"/>
                  </a:ext>
                </a:extLst>
              </p:cNvPr>
              <p:cNvSpPr/>
              <p:nvPr/>
            </p:nvSpPr>
            <p:spPr bwMode="auto">
              <a:xfrm>
                <a:off x="670448" y="1203598"/>
                <a:ext cx="2389384" cy="1942891"/>
              </a:xfrm>
              <a:prstGeom prst="rect">
                <a:avLst/>
              </a:prstGeom>
              <a:solidFill>
                <a:schemeClr val="bg1"/>
              </a:solidFill>
              <a:ln w="38100">
                <a:noFill/>
                <a:headEnd type="none" w="med" len="med"/>
                <a:tailEnd type="triangle" w="med" len="med"/>
              </a:ln>
              <a:effectLst>
                <a:outerShdw blurRad="50800" dist="38100" dir="5400000" algn="t" rotWithShape="0">
                  <a:prstClr val="black">
                    <a:alpha val="41000"/>
                  </a:prstClr>
                </a:outerShdw>
              </a:effectLst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1802896E-D086-4D9E-90E9-01130814086F}"/>
                  </a:ext>
                </a:extLst>
              </p:cNvPr>
              <p:cNvSpPr/>
              <p:nvPr/>
            </p:nvSpPr>
            <p:spPr bwMode="auto">
              <a:xfrm>
                <a:off x="670449" y="1209199"/>
                <a:ext cx="2389387" cy="575056"/>
              </a:xfrm>
              <a:prstGeom prst="rect">
                <a:avLst/>
              </a:prstGeom>
              <a:solidFill>
                <a:srgbClr val="8B5DD9"/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35" name="텍스트 개체 틀 7">
              <a:extLst>
                <a:ext uri="{FF2B5EF4-FFF2-40B4-BE49-F238E27FC236}">
                  <a16:creationId xmlns:a16="http://schemas.microsoft.com/office/drawing/2014/main" id="{C2500015-E7E6-4A75-A260-C4F07B6D36DB}"/>
                </a:ext>
              </a:extLst>
            </p:cNvPr>
            <p:cNvSpPr txBox="1">
              <a:spLocks/>
            </p:cNvSpPr>
            <p:nvPr/>
          </p:nvSpPr>
          <p:spPr>
            <a:xfrm>
              <a:off x="673429" y="1301061"/>
              <a:ext cx="238640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손익계산서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8" name="텍스트 개체 틀 7">
            <a:extLst>
              <a:ext uri="{FF2B5EF4-FFF2-40B4-BE49-F238E27FC236}">
                <a16:creationId xmlns:a16="http://schemas.microsoft.com/office/drawing/2014/main" id="{BB59B612-B875-4736-A334-0ABEF4598C18}"/>
              </a:ext>
            </a:extLst>
          </p:cNvPr>
          <p:cNvSpPr txBox="1">
            <a:spLocks/>
          </p:cNvSpPr>
          <p:nvPr/>
        </p:nvSpPr>
        <p:spPr>
          <a:xfrm>
            <a:off x="973226" y="2193852"/>
            <a:ext cx="2384727" cy="923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당기의 수익과 비용</a:t>
            </a:r>
            <a:r>
              <a: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순이익으로 당기의 경영성과 표시</a:t>
            </a:r>
          </a:p>
        </p:txBody>
      </p:sp>
      <p:sp>
        <p:nvSpPr>
          <p:cNvPr id="39" name="텍스트 개체 틀 7">
            <a:extLst>
              <a:ext uri="{FF2B5EF4-FFF2-40B4-BE49-F238E27FC236}">
                <a16:creationId xmlns:a16="http://schemas.microsoft.com/office/drawing/2014/main" id="{DA6020C0-E97D-4432-AF2D-B16E94D70341}"/>
              </a:ext>
            </a:extLst>
          </p:cNvPr>
          <p:cNvSpPr txBox="1">
            <a:spLocks/>
          </p:cNvSpPr>
          <p:nvPr/>
        </p:nvSpPr>
        <p:spPr>
          <a:xfrm>
            <a:off x="3506626" y="2193852"/>
            <a:ext cx="2384727" cy="1200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경영성과를 당기에 그치지 않고 미래의 예상 경영성과도 포함하여 표시</a:t>
            </a:r>
          </a:p>
        </p:txBody>
      </p:sp>
      <p:grpSp>
        <p:nvGrpSpPr>
          <p:cNvPr id="25" name="그룹 16">
            <a:extLst>
              <a:ext uri="{FF2B5EF4-FFF2-40B4-BE49-F238E27FC236}">
                <a16:creationId xmlns:a16="http://schemas.microsoft.com/office/drawing/2014/main" id="{A881E77C-D073-4E74-96FE-796B16DE7DB3}"/>
              </a:ext>
            </a:extLst>
          </p:cNvPr>
          <p:cNvGrpSpPr/>
          <p:nvPr/>
        </p:nvGrpSpPr>
        <p:grpSpPr>
          <a:xfrm>
            <a:off x="1106091" y="3579862"/>
            <a:ext cx="5085160" cy="646230"/>
            <a:chOff x="1106091" y="1895475"/>
            <a:chExt cx="5085160" cy="646230"/>
          </a:xfrm>
        </p:grpSpPr>
        <p:sp>
          <p:nvSpPr>
            <p:cNvPr id="26" name="텍스트 개체 틀 7">
              <a:extLst>
                <a:ext uri="{FF2B5EF4-FFF2-40B4-BE49-F238E27FC236}">
                  <a16:creationId xmlns:a16="http://schemas.microsoft.com/office/drawing/2014/main" id="{36248022-AA38-4B4D-87B7-F8D9285E2E3B}"/>
                </a:ext>
              </a:extLst>
            </p:cNvPr>
            <p:cNvSpPr txBox="1">
              <a:spLocks/>
            </p:cNvSpPr>
            <p:nvPr/>
          </p:nvSpPr>
          <p:spPr>
            <a:xfrm>
              <a:off x="1106091" y="1895475"/>
              <a:ext cx="5085160" cy="646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marL="358775" algn="l">
                <a:buClr>
                  <a:srgbClr val="00387F"/>
                </a:buClr>
                <a:buSzPct val="100000"/>
              </a:pPr>
              <a:r>
                <a:rPr lang="en-US" altLang="ko-KR" sz="18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K-IFRS</a:t>
              </a:r>
              <a:r>
                <a:rPr lang="ko-KR" altLang="en-US" sz="18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 도입되기 이전에는 당기손익 정보만 표시하는 손익계산서만 작성</a:t>
              </a:r>
            </a:p>
          </p:txBody>
        </p: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2E798AF7-F3D4-4B2E-A4FC-A8A7C4284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0299" y="2010066"/>
              <a:ext cx="136877" cy="150230"/>
            </a:xfrm>
            <a:prstGeom prst="rect">
              <a:avLst/>
            </a:prstGeom>
          </p:spPr>
        </p:pic>
      </p:grpSp>
      <p:grpSp>
        <p:nvGrpSpPr>
          <p:cNvPr id="41" name="그룹 16">
            <a:extLst>
              <a:ext uri="{FF2B5EF4-FFF2-40B4-BE49-F238E27FC236}">
                <a16:creationId xmlns:a16="http://schemas.microsoft.com/office/drawing/2014/main" id="{C043857E-49DD-4B45-9322-6A633BDEC44A}"/>
              </a:ext>
            </a:extLst>
          </p:cNvPr>
          <p:cNvGrpSpPr/>
          <p:nvPr/>
        </p:nvGrpSpPr>
        <p:grpSpPr>
          <a:xfrm>
            <a:off x="1106091" y="4227934"/>
            <a:ext cx="5085160" cy="646230"/>
            <a:chOff x="1106091" y="1895475"/>
            <a:chExt cx="5085160" cy="646230"/>
          </a:xfrm>
        </p:grpSpPr>
        <p:sp>
          <p:nvSpPr>
            <p:cNvPr id="42" name="텍스트 개체 틀 7">
              <a:extLst>
                <a:ext uri="{FF2B5EF4-FFF2-40B4-BE49-F238E27FC236}">
                  <a16:creationId xmlns:a16="http://schemas.microsoft.com/office/drawing/2014/main" id="{718C5181-60D0-47F2-BBAB-D25C73FC3751}"/>
                </a:ext>
              </a:extLst>
            </p:cNvPr>
            <p:cNvSpPr txBox="1">
              <a:spLocks/>
            </p:cNvSpPr>
            <p:nvPr/>
          </p:nvSpPr>
          <p:spPr>
            <a:xfrm>
              <a:off x="1106091" y="1895475"/>
              <a:ext cx="5085160" cy="646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marL="358775" algn="l">
                <a:buClr>
                  <a:srgbClr val="00387F"/>
                </a:buClr>
                <a:buSzPct val="100000"/>
              </a:pPr>
              <a:r>
                <a:rPr lang="en-US" altLang="ko-KR" sz="18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K-IFRS </a:t>
              </a:r>
              <a:r>
                <a:rPr lang="ko-KR" altLang="en-US" sz="18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도입으로 당기손익과 기타포괄손익을 포함한 </a:t>
              </a:r>
              <a:r>
                <a:rPr lang="ko-KR" altLang="en-US" sz="1800" b="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포괄손익계산서</a:t>
              </a:r>
              <a:r>
                <a:rPr lang="ko-KR" altLang="en-US" sz="18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의무화</a:t>
              </a:r>
            </a:p>
          </p:txBody>
        </p:sp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052D0F7A-A90E-47B2-9E19-C44758117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0299" y="2010066"/>
              <a:ext cx="136877" cy="1502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192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포괄손익계산서</a:t>
            </a:r>
            <a:endParaRPr lang="ko-KR" altLang="en-US" sz="2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포괄손익계산서의</a:t>
              </a:r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 개념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315EB5B-38D6-4C4D-B540-825B199DC3C3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7670F00-8FA5-4113-AB23-D09FE102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19" name="텍스트 개체 틀 7">
              <a:extLst>
                <a:ext uri="{FF2B5EF4-FFF2-40B4-BE49-F238E27FC236}">
                  <a16:creationId xmlns:a16="http://schemas.microsoft.com/office/drawing/2014/main" id="{4C722A56-549B-48C6-9123-DC630D93243F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포괄손익계산서의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효용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E303A3D-C0BF-4E0A-AD90-3655C3418C95}"/>
              </a:ext>
            </a:extLst>
          </p:cNvPr>
          <p:cNvGrpSpPr/>
          <p:nvPr/>
        </p:nvGrpSpPr>
        <p:grpSpPr>
          <a:xfrm>
            <a:off x="971459" y="1481677"/>
            <a:ext cx="5370761" cy="707785"/>
            <a:chOff x="1001439" y="1481677"/>
            <a:chExt cx="5370761" cy="707785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B8375CD8-9A47-47C1-978F-F37FB76D5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6" name="텍스트 개체 틀 7">
              <a:extLst>
                <a:ext uri="{FF2B5EF4-FFF2-40B4-BE49-F238E27FC236}">
                  <a16:creationId xmlns:a16="http://schemas.microsoft.com/office/drawing/2014/main" id="{7D0F74E4-38A5-49D8-86E3-D333392DD85F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기업의 현재 경영성과와 미래 예상경영성과를 보여주어 기업 평가 등에 도움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EBE542D-8F74-45EE-9FF1-EDA43CC1E807}"/>
              </a:ext>
            </a:extLst>
          </p:cNvPr>
          <p:cNvGrpSpPr/>
          <p:nvPr/>
        </p:nvGrpSpPr>
        <p:grpSpPr>
          <a:xfrm>
            <a:off x="971550" y="2211710"/>
            <a:ext cx="5370761" cy="707785"/>
            <a:chOff x="1001439" y="1481677"/>
            <a:chExt cx="5370761" cy="707785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9248DB8-778C-477F-BE4C-7321624C1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7" name="텍스트 개체 틀 7">
              <a:extLst>
                <a:ext uri="{FF2B5EF4-FFF2-40B4-BE49-F238E27FC236}">
                  <a16:creationId xmlns:a16="http://schemas.microsoft.com/office/drawing/2014/main" id="{A32E8F94-B18F-4B36-8D65-EB4B2EAD6A0B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현재 경영성과는 미래에도 지속될 것이라고 보아 예측을 가능하게 함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244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포괄손익계산서</a:t>
            </a:r>
            <a:endParaRPr lang="ko-KR" altLang="en-US" sz="2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포괄손익계산서의</a:t>
              </a:r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 개념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315EB5B-38D6-4C4D-B540-825B199DC3C3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7670F00-8FA5-4113-AB23-D09FE102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19" name="텍스트 개체 틀 7">
              <a:extLst>
                <a:ext uri="{FF2B5EF4-FFF2-40B4-BE49-F238E27FC236}">
                  <a16:creationId xmlns:a16="http://schemas.microsoft.com/office/drawing/2014/main" id="{4C722A56-549B-48C6-9123-DC630D93243F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재무상태표와 </a:t>
              </a:r>
              <a:r>
                <a:rPr lang="ko-KR" altLang="en-US" sz="200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포괄손익계산서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비교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BF06DAF-E0F7-42EB-B330-7D9F42471BFB}"/>
              </a:ext>
            </a:extLst>
          </p:cNvPr>
          <p:cNvGrpSpPr/>
          <p:nvPr/>
        </p:nvGrpSpPr>
        <p:grpSpPr>
          <a:xfrm>
            <a:off x="3501966" y="1564963"/>
            <a:ext cx="2389391" cy="1942891"/>
            <a:chOff x="3203845" y="1203598"/>
            <a:chExt cx="2389391" cy="1942891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02748A95-2D8D-4AA4-9591-8C042848D763}"/>
                </a:ext>
              </a:extLst>
            </p:cNvPr>
            <p:cNvGrpSpPr/>
            <p:nvPr/>
          </p:nvGrpSpPr>
          <p:grpSpPr>
            <a:xfrm>
              <a:off x="3203848" y="1203598"/>
              <a:ext cx="2389388" cy="1942891"/>
              <a:chOff x="3203848" y="1203598"/>
              <a:chExt cx="2389388" cy="1942891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D706E206-8270-44EC-8D98-EAB2FD2A2873}"/>
                  </a:ext>
                </a:extLst>
              </p:cNvPr>
              <p:cNvSpPr/>
              <p:nvPr/>
            </p:nvSpPr>
            <p:spPr bwMode="auto">
              <a:xfrm>
                <a:off x="3203848" y="1203598"/>
                <a:ext cx="2389384" cy="1942891"/>
              </a:xfrm>
              <a:prstGeom prst="rect">
                <a:avLst/>
              </a:prstGeom>
              <a:solidFill>
                <a:schemeClr val="bg1"/>
              </a:solidFill>
              <a:ln w="38100">
                <a:noFill/>
                <a:headEnd type="none" w="med" len="med"/>
                <a:tailEnd type="triangle" w="med" len="med"/>
              </a:ln>
              <a:effectLst>
                <a:outerShdw blurRad="50800" dist="38100" dir="5400000" algn="t" rotWithShape="0">
                  <a:prstClr val="black">
                    <a:alpha val="41000"/>
                  </a:prstClr>
                </a:outerShdw>
              </a:effectLst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860C3F1F-BCE7-4303-A7B4-D5D7EAB61C1E}"/>
                  </a:ext>
                </a:extLst>
              </p:cNvPr>
              <p:cNvSpPr/>
              <p:nvPr/>
            </p:nvSpPr>
            <p:spPr bwMode="auto">
              <a:xfrm>
                <a:off x="3203849" y="1209199"/>
                <a:ext cx="2389387" cy="575056"/>
              </a:xfrm>
              <a:prstGeom prst="rect">
                <a:avLst/>
              </a:prstGeom>
              <a:solidFill>
                <a:srgbClr val="215BFF"/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29" name="텍스트 개체 틀 7">
              <a:extLst>
                <a:ext uri="{FF2B5EF4-FFF2-40B4-BE49-F238E27FC236}">
                  <a16:creationId xmlns:a16="http://schemas.microsoft.com/office/drawing/2014/main" id="{C4B0009D-0106-4175-A5BF-A45D71C19F9B}"/>
                </a:ext>
              </a:extLst>
            </p:cNvPr>
            <p:cNvSpPr txBox="1">
              <a:spLocks/>
            </p:cNvSpPr>
            <p:nvPr/>
          </p:nvSpPr>
          <p:spPr>
            <a:xfrm>
              <a:off x="3203845" y="1301061"/>
              <a:ext cx="2389387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포괄손익계산서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BAFB9B8-8119-4378-8042-FE6639692A0C}"/>
              </a:ext>
            </a:extLst>
          </p:cNvPr>
          <p:cNvGrpSpPr/>
          <p:nvPr/>
        </p:nvGrpSpPr>
        <p:grpSpPr>
          <a:xfrm>
            <a:off x="968569" y="1564963"/>
            <a:ext cx="2389388" cy="1942891"/>
            <a:chOff x="670448" y="1203598"/>
            <a:chExt cx="2389388" cy="1942891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119CEEAF-DDA4-4D2A-91B0-41C6697259DA}"/>
                </a:ext>
              </a:extLst>
            </p:cNvPr>
            <p:cNvGrpSpPr/>
            <p:nvPr/>
          </p:nvGrpSpPr>
          <p:grpSpPr>
            <a:xfrm>
              <a:off x="670448" y="1203598"/>
              <a:ext cx="2389388" cy="1942891"/>
              <a:chOff x="670448" y="1203598"/>
              <a:chExt cx="2389388" cy="1942891"/>
            </a:xfrm>
          </p:grpSpPr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2A80ADB1-C76E-4C35-8AAC-2A96B33E0517}"/>
                  </a:ext>
                </a:extLst>
              </p:cNvPr>
              <p:cNvSpPr/>
              <p:nvPr/>
            </p:nvSpPr>
            <p:spPr bwMode="auto">
              <a:xfrm>
                <a:off x="670448" y="1203598"/>
                <a:ext cx="2389384" cy="1942891"/>
              </a:xfrm>
              <a:prstGeom prst="rect">
                <a:avLst/>
              </a:prstGeom>
              <a:solidFill>
                <a:schemeClr val="bg1"/>
              </a:solidFill>
              <a:ln w="38100">
                <a:noFill/>
                <a:headEnd type="none" w="med" len="med"/>
                <a:tailEnd type="triangle" w="med" len="med"/>
              </a:ln>
              <a:effectLst>
                <a:outerShdw blurRad="50800" dist="38100" dir="5400000" algn="t" rotWithShape="0">
                  <a:prstClr val="black">
                    <a:alpha val="41000"/>
                  </a:prstClr>
                </a:outerShdw>
              </a:effectLst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1802896E-D086-4D9E-90E9-01130814086F}"/>
                  </a:ext>
                </a:extLst>
              </p:cNvPr>
              <p:cNvSpPr/>
              <p:nvPr/>
            </p:nvSpPr>
            <p:spPr bwMode="auto">
              <a:xfrm>
                <a:off x="670449" y="1209199"/>
                <a:ext cx="2389387" cy="575056"/>
              </a:xfrm>
              <a:prstGeom prst="rect">
                <a:avLst/>
              </a:prstGeom>
              <a:solidFill>
                <a:srgbClr val="8B5DD9"/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35" name="텍스트 개체 틀 7">
              <a:extLst>
                <a:ext uri="{FF2B5EF4-FFF2-40B4-BE49-F238E27FC236}">
                  <a16:creationId xmlns:a16="http://schemas.microsoft.com/office/drawing/2014/main" id="{C2500015-E7E6-4A75-A260-C4F07B6D36DB}"/>
                </a:ext>
              </a:extLst>
            </p:cNvPr>
            <p:cNvSpPr txBox="1">
              <a:spLocks/>
            </p:cNvSpPr>
            <p:nvPr/>
          </p:nvSpPr>
          <p:spPr>
            <a:xfrm>
              <a:off x="673429" y="1301061"/>
              <a:ext cx="238640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재무상태표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8" name="텍스트 개체 틀 7">
            <a:extLst>
              <a:ext uri="{FF2B5EF4-FFF2-40B4-BE49-F238E27FC236}">
                <a16:creationId xmlns:a16="http://schemas.microsoft.com/office/drawing/2014/main" id="{BB59B612-B875-4736-A334-0ABEF4598C18}"/>
              </a:ext>
            </a:extLst>
          </p:cNvPr>
          <p:cNvSpPr txBox="1">
            <a:spLocks/>
          </p:cNvSpPr>
          <p:nvPr/>
        </p:nvSpPr>
        <p:spPr>
          <a:xfrm>
            <a:off x="973226" y="2193852"/>
            <a:ext cx="2384727" cy="369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특정 시점의 재산상태</a:t>
            </a:r>
          </a:p>
        </p:txBody>
      </p:sp>
      <p:sp>
        <p:nvSpPr>
          <p:cNvPr id="39" name="텍스트 개체 틀 7">
            <a:extLst>
              <a:ext uri="{FF2B5EF4-FFF2-40B4-BE49-F238E27FC236}">
                <a16:creationId xmlns:a16="http://schemas.microsoft.com/office/drawing/2014/main" id="{DA6020C0-E97D-4432-AF2D-B16E94D70341}"/>
              </a:ext>
            </a:extLst>
          </p:cNvPr>
          <p:cNvSpPr txBox="1">
            <a:spLocks/>
          </p:cNvSpPr>
          <p:nvPr/>
        </p:nvSpPr>
        <p:spPr>
          <a:xfrm>
            <a:off x="3506626" y="2193852"/>
            <a:ext cx="2384727" cy="1200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일정 기간동안 번 이익 → 자본을 증가시켜 재무상태표를 변동시킴</a:t>
            </a:r>
          </a:p>
        </p:txBody>
      </p:sp>
      <p:grpSp>
        <p:nvGrpSpPr>
          <p:cNvPr id="25" name="그룹 16">
            <a:extLst>
              <a:ext uri="{FF2B5EF4-FFF2-40B4-BE49-F238E27FC236}">
                <a16:creationId xmlns:a16="http://schemas.microsoft.com/office/drawing/2014/main" id="{A881E77C-D073-4E74-96FE-796B16DE7DB3}"/>
              </a:ext>
            </a:extLst>
          </p:cNvPr>
          <p:cNvGrpSpPr/>
          <p:nvPr/>
        </p:nvGrpSpPr>
        <p:grpSpPr>
          <a:xfrm>
            <a:off x="1106091" y="3579862"/>
            <a:ext cx="5085160" cy="735998"/>
            <a:chOff x="1106091" y="1895475"/>
            <a:chExt cx="5085160" cy="735998"/>
          </a:xfrm>
        </p:grpSpPr>
        <p:sp>
          <p:nvSpPr>
            <p:cNvPr id="26" name="텍스트 개체 틀 7">
              <a:extLst>
                <a:ext uri="{FF2B5EF4-FFF2-40B4-BE49-F238E27FC236}">
                  <a16:creationId xmlns:a16="http://schemas.microsoft.com/office/drawing/2014/main" id="{36248022-AA38-4B4D-87B7-F8D9285E2E3B}"/>
                </a:ext>
              </a:extLst>
            </p:cNvPr>
            <p:cNvSpPr txBox="1">
              <a:spLocks/>
            </p:cNvSpPr>
            <p:nvPr/>
          </p:nvSpPr>
          <p:spPr>
            <a:xfrm>
              <a:off x="1106091" y="1895475"/>
              <a:ext cx="5085160" cy="7359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marL="358775" algn="l">
                <a:buClr>
                  <a:srgbClr val="00387F"/>
                </a:buClr>
                <a:buSzPct val="100000"/>
              </a:pPr>
              <a:r>
                <a:rPr lang="ko-KR" altLang="en-US" sz="18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당기순이익 </a:t>
              </a:r>
              <a:r>
                <a:rPr lang="en-US" altLang="ko-KR" sz="18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→ </a:t>
              </a:r>
              <a:r>
                <a:rPr lang="ko-KR" altLang="en-US" sz="18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이익잉여금</a:t>
              </a:r>
              <a:r>
                <a:rPr lang="en-US" altLang="ko-KR" sz="18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</a:p>
            <a:p>
              <a:pPr marL="358775" algn="l">
                <a:buClr>
                  <a:srgbClr val="00387F"/>
                </a:buClr>
                <a:buSzPct val="100000"/>
              </a:pPr>
              <a:r>
                <a:rPr lang="ko-KR" altLang="en-US" sz="18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기타포괄이익 </a:t>
              </a:r>
              <a:r>
                <a:rPr lang="en-US" altLang="ko-KR" sz="18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→ </a:t>
              </a:r>
              <a:r>
                <a:rPr lang="ko-KR" altLang="en-US" sz="1800" b="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기타포괄이익누계액</a:t>
              </a:r>
              <a:endPara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2E798AF7-F3D4-4B2E-A4FC-A8A7C4284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0299" y="2010066"/>
              <a:ext cx="136877" cy="1502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391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포괄손익계산서</a:t>
            </a:r>
            <a:endParaRPr lang="ko-KR" altLang="en-US" sz="2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포괄손익계산서의</a:t>
              </a:r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 구성</a:t>
              </a:r>
            </a:p>
          </p:txBody>
        </p:sp>
      </p:grpSp>
      <p:sp>
        <p:nvSpPr>
          <p:cNvPr id="16" name="텍스트 개체 틀 7">
            <a:extLst>
              <a:ext uri="{FF2B5EF4-FFF2-40B4-BE49-F238E27FC236}">
                <a16:creationId xmlns:a16="http://schemas.microsoft.com/office/drawing/2014/main" id="{033B7715-4F26-4971-888C-F0B38942E520}"/>
              </a:ext>
            </a:extLst>
          </p:cNvPr>
          <p:cNvSpPr txBox="1">
            <a:spLocks/>
          </p:cNvSpPr>
          <p:nvPr/>
        </p:nvSpPr>
        <p:spPr>
          <a:xfrm>
            <a:off x="1379350" y="1842063"/>
            <a:ext cx="4726468" cy="369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제품을 판매한 댓가로 받은 금액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7914217-11AA-47C2-A423-988BA642AB67}"/>
              </a:ext>
            </a:extLst>
          </p:cNvPr>
          <p:cNvGrpSpPr/>
          <p:nvPr/>
        </p:nvGrpSpPr>
        <p:grpSpPr>
          <a:xfrm>
            <a:off x="777520" y="1136679"/>
            <a:ext cx="5413729" cy="678064"/>
            <a:chOff x="683565" y="1165225"/>
            <a:chExt cx="5413729" cy="678064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5886CD7-7C6A-4304-A265-0CD708A79D68}"/>
                </a:ext>
              </a:extLst>
            </p:cNvPr>
            <p:cNvSpPr/>
            <p:nvPr/>
          </p:nvSpPr>
          <p:spPr bwMode="auto">
            <a:xfrm flipH="1">
              <a:off x="683565" y="1279927"/>
              <a:ext cx="5413729" cy="563362"/>
            </a:xfrm>
            <a:prstGeom prst="rect">
              <a:avLst/>
            </a:prstGeom>
            <a:solidFill>
              <a:srgbClr val="B9CBFF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텍스트 개체 틀 7">
              <a:extLst>
                <a:ext uri="{FF2B5EF4-FFF2-40B4-BE49-F238E27FC236}">
                  <a16:creationId xmlns:a16="http://schemas.microsoft.com/office/drawing/2014/main" id="{F7D4829A-9011-4914-8E24-3BB219A3BD31}"/>
                </a:ext>
              </a:extLst>
            </p:cNvPr>
            <p:cNvSpPr txBox="1">
              <a:spLocks/>
            </p:cNvSpPr>
            <p:nvPr/>
          </p:nvSpPr>
          <p:spPr>
            <a:xfrm>
              <a:off x="1262583" y="1386621"/>
              <a:ext cx="4527756" cy="369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latinLnBrk="0">
                <a:spcBef>
                  <a:spcPts val="5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  <a:buFont typeface="Wingdings" panose="05000000000000000000" pitchFamily="2" charset="2"/>
                <a:buNone/>
                <a:defRPr sz="1800" b="1" spc="0">
                  <a:solidFill>
                    <a:srgbClr val="153A7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spcBef>
                  <a:spcPts val="0"/>
                </a:spcBef>
              </a:pPr>
              <a:r>
                <a: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매출액</a:t>
              </a:r>
              <a:endPara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30F3DC62-5509-402D-BD49-3A53B4308343}"/>
                </a:ext>
              </a:extLst>
            </p:cNvPr>
            <p:cNvGrpSpPr/>
            <p:nvPr/>
          </p:nvGrpSpPr>
          <p:grpSpPr>
            <a:xfrm>
              <a:off x="749226" y="1165225"/>
              <a:ext cx="584845" cy="556222"/>
              <a:chOff x="749226" y="1165225"/>
              <a:chExt cx="584845" cy="556222"/>
            </a:xfrm>
          </p:grpSpPr>
          <p:sp>
            <p:nvSpPr>
              <p:cNvPr id="26" name="이등변 삼각형 25">
                <a:extLst>
                  <a:ext uri="{FF2B5EF4-FFF2-40B4-BE49-F238E27FC236}">
                    <a16:creationId xmlns:a16="http://schemas.microsoft.com/office/drawing/2014/main" id="{FE490149-5EAB-4AB6-8770-6E11E84F2E1E}"/>
                  </a:ext>
                </a:extLst>
              </p:cNvPr>
              <p:cNvSpPr/>
              <p:nvPr/>
            </p:nvSpPr>
            <p:spPr bwMode="auto">
              <a:xfrm flipH="1">
                <a:off x="749226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" name="이등변 삼각형 26">
                <a:extLst>
                  <a:ext uri="{FF2B5EF4-FFF2-40B4-BE49-F238E27FC236}">
                    <a16:creationId xmlns:a16="http://schemas.microsoft.com/office/drawing/2014/main" id="{AAE31D5B-5A4C-42F0-B69B-2C34DCA99D9F}"/>
                  </a:ext>
                </a:extLst>
              </p:cNvPr>
              <p:cNvSpPr/>
              <p:nvPr/>
            </p:nvSpPr>
            <p:spPr bwMode="auto">
              <a:xfrm flipH="1">
                <a:off x="1190055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" name="사다리꼴 27">
                <a:extLst>
                  <a:ext uri="{FF2B5EF4-FFF2-40B4-BE49-F238E27FC236}">
                    <a16:creationId xmlns:a16="http://schemas.microsoft.com/office/drawing/2014/main" id="{17714580-B8A8-4E9A-8AEA-3C030A68C981}"/>
                  </a:ext>
                </a:extLst>
              </p:cNvPr>
              <p:cNvSpPr/>
              <p:nvPr/>
            </p:nvSpPr>
            <p:spPr bwMode="auto">
              <a:xfrm rot="10800000">
                <a:off x="815438" y="1167016"/>
                <a:ext cx="444194" cy="554431"/>
              </a:xfrm>
              <a:prstGeom prst="trapezoid">
                <a:avLst>
                  <a:gd name="adj" fmla="val 16602"/>
                </a:avLst>
              </a:prstGeom>
              <a:solidFill>
                <a:srgbClr val="00A19A"/>
              </a:solidFill>
              <a:ln>
                <a:noFill/>
                <a:headEnd type="none" w="med" len="med"/>
                <a:tailEnd type="triangle" w="med" len="med"/>
              </a:ln>
              <a:effectLst>
                <a:outerShdw blurRad="50800" dist="38100" dir="5400000" algn="t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C06A63-2D5E-4803-A4F7-4E50F5D159A0}"/>
                  </a:ext>
                </a:extLst>
              </p:cNvPr>
              <p:cNvSpPr txBox="1"/>
              <p:nvPr/>
            </p:nvSpPr>
            <p:spPr bwMode="auto">
              <a:xfrm>
                <a:off x="874656" y="1256789"/>
                <a:ext cx="31931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>
                <a:spAutoFit/>
              </a:bodyPr>
              <a:lstStyle/>
              <a:p>
                <a:pPr algn="l"/>
                <a:r>
                  <a:rPr lang="en-US" altLang="ko-KR" sz="1800" b="1" dirty="0">
                    <a:ln>
                      <a:solidFill>
                        <a:srgbClr val="000FBF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1800" b="1" dirty="0">
                  <a:ln>
                    <a:solidFill>
                      <a:srgbClr val="000FB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sp>
        <p:nvSpPr>
          <p:cNvPr id="31" name="텍스트 개체 틀 7">
            <a:extLst>
              <a:ext uri="{FF2B5EF4-FFF2-40B4-BE49-F238E27FC236}">
                <a16:creationId xmlns:a16="http://schemas.microsoft.com/office/drawing/2014/main" id="{4325B89C-3C49-40C6-8559-A4B78B2BB976}"/>
              </a:ext>
            </a:extLst>
          </p:cNvPr>
          <p:cNvSpPr txBox="1">
            <a:spLocks/>
          </p:cNvSpPr>
          <p:nvPr/>
        </p:nvSpPr>
        <p:spPr>
          <a:xfrm>
            <a:off x="1383340" y="3707503"/>
            <a:ext cx="4726468" cy="646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매출액을 만들기 위해 들어간 비용</a:t>
            </a:r>
            <a:r>
              <a: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판매된 상품의 구입원가 또는 제조된 제품의 생산원가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BA7ABA4-8BF5-47E5-872D-22BCEB4A1D0F}"/>
              </a:ext>
            </a:extLst>
          </p:cNvPr>
          <p:cNvGrpSpPr/>
          <p:nvPr/>
        </p:nvGrpSpPr>
        <p:grpSpPr>
          <a:xfrm>
            <a:off x="781510" y="3002119"/>
            <a:ext cx="5413729" cy="678064"/>
            <a:chOff x="683565" y="1165225"/>
            <a:chExt cx="5413729" cy="678064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D19C316-ACDD-4A0E-92F8-3603788AD98C}"/>
                </a:ext>
              </a:extLst>
            </p:cNvPr>
            <p:cNvSpPr/>
            <p:nvPr/>
          </p:nvSpPr>
          <p:spPr bwMode="auto">
            <a:xfrm flipH="1">
              <a:off x="683565" y="1279927"/>
              <a:ext cx="5413729" cy="563362"/>
            </a:xfrm>
            <a:prstGeom prst="rect">
              <a:avLst/>
            </a:prstGeom>
            <a:solidFill>
              <a:srgbClr val="B9CBFF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텍스트 개체 틀 7">
              <a:extLst>
                <a:ext uri="{FF2B5EF4-FFF2-40B4-BE49-F238E27FC236}">
                  <a16:creationId xmlns:a16="http://schemas.microsoft.com/office/drawing/2014/main" id="{C7E2863F-8B5E-4B09-9D48-830D361FD984}"/>
                </a:ext>
              </a:extLst>
            </p:cNvPr>
            <p:cNvSpPr txBox="1">
              <a:spLocks/>
            </p:cNvSpPr>
            <p:nvPr/>
          </p:nvSpPr>
          <p:spPr>
            <a:xfrm>
              <a:off x="1262583" y="1386621"/>
              <a:ext cx="4527756" cy="369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latinLnBrk="0">
                <a:spcBef>
                  <a:spcPts val="5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  <a:buFont typeface="Wingdings" panose="05000000000000000000" pitchFamily="2" charset="2"/>
                <a:buNone/>
                <a:defRPr sz="1800" b="1" spc="0">
                  <a:solidFill>
                    <a:srgbClr val="153A7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spcBef>
                  <a:spcPts val="0"/>
                </a:spcBef>
              </a:pPr>
              <a:r>
                <a: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매출원가</a:t>
              </a:r>
              <a:endPara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1C1DEA94-9FDA-4CEF-98AE-025CF2ED4553}"/>
                </a:ext>
              </a:extLst>
            </p:cNvPr>
            <p:cNvGrpSpPr/>
            <p:nvPr/>
          </p:nvGrpSpPr>
          <p:grpSpPr>
            <a:xfrm>
              <a:off x="749226" y="1165225"/>
              <a:ext cx="584845" cy="556222"/>
              <a:chOff x="749226" y="1165225"/>
              <a:chExt cx="584845" cy="556222"/>
            </a:xfrm>
          </p:grpSpPr>
          <p:sp>
            <p:nvSpPr>
              <p:cNvPr id="36" name="이등변 삼각형 35">
                <a:extLst>
                  <a:ext uri="{FF2B5EF4-FFF2-40B4-BE49-F238E27FC236}">
                    <a16:creationId xmlns:a16="http://schemas.microsoft.com/office/drawing/2014/main" id="{E15598D8-B740-438C-BD91-FF8CF719FDA9}"/>
                  </a:ext>
                </a:extLst>
              </p:cNvPr>
              <p:cNvSpPr/>
              <p:nvPr/>
            </p:nvSpPr>
            <p:spPr bwMode="auto">
              <a:xfrm flipH="1">
                <a:off x="749226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" name="이등변 삼각형 36">
                <a:extLst>
                  <a:ext uri="{FF2B5EF4-FFF2-40B4-BE49-F238E27FC236}">
                    <a16:creationId xmlns:a16="http://schemas.microsoft.com/office/drawing/2014/main" id="{62A0AA89-248E-433C-88FD-986A2AD02DE8}"/>
                  </a:ext>
                </a:extLst>
              </p:cNvPr>
              <p:cNvSpPr/>
              <p:nvPr/>
            </p:nvSpPr>
            <p:spPr bwMode="auto">
              <a:xfrm flipH="1">
                <a:off x="1190055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" name="사다리꼴 37">
                <a:extLst>
                  <a:ext uri="{FF2B5EF4-FFF2-40B4-BE49-F238E27FC236}">
                    <a16:creationId xmlns:a16="http://schemas.microsoft.com/office/drawing/2014/main" id="{7ED6DB96-C738-48A3-B1AD-2D53299CDC76}"/>
                  </a:ext>
                </a:extLst>
              </p:cNvPr>
              <p:cNvSpPr/>
              <p:nvPr/>
            </p:nvSpPr>
            <p:spPr bwMode="auto">
              <a:xfrm rot="10800000">
                <a:off x="815438" y="1167016"/>
                <a:ext cx="444194" cy="554431"/>
              </a:xfrm>
              <a:prstGeom prst="trapezoid">
                <a:avLst>
                  <a:gd name="adj" fmla="val 16602"/>
                </a:avLst>
              </a:prstGeom>
              <a:solidFill>
                <a:srgbClr val="00A19A"/>
              </a:solidFill>
              <a:ln>
                <a:noFill/>
                <a:headEnd type="none" w="med" len="med"/>
                <a:tailEnd type="triangle" w="med" len="med"/>
              </a:ln>
              <a:effectLst>
                <a:outerShdw blurRad="50800" dist="38100" dir="5400000" algn="t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3B4D738-EAD4-41D9-A597-32CF8F0FAADE}"/>
                  </a:ext>
                </a:extLst>
              </p:cNvPr>
              <p:cNvSpPr txBox="1"/>
              <p:nvPr/>
            </p:nvSpPr>
            <p:spPr bwMode="auto">
              <a:xfrm>
                <a:off x="874656" y="1256789"/>
                <a:ext cx="31931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>
                <a:spAutoFit/>
              </a:bodyPr>
              <a:lstStyle/>
              <a:p>
                <a:pPr algn="l"/>
                <a:r>
                  <a:rPr lang="en-US" altLang="ko-KR" sz="1800" b="1" dirty="0">
                    <a:ln>
                      <a:solidFill>
                        <a:srgbClr val="000FBF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800" b="1" dirty="0">
                  <a:ln>
                    <a:solidFill>
                      <a:srgbClr val="000FB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1934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포괄손익계산서</a:t>
            </a:r>
            <a:endParaRPr lang="ko-KR" altLang="en-US" sz="2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포괄손익계산서의</a:t>
              </a:r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 구성</a:t>
              </a:r>
            </a:p>
          </p:txBody>
        </p:sp>
      </p:grpSp>
      <p:sp>
        <p:nvSpPr>
          <p:cNvPr id="16" name="텍스트 개체 틀 7">
            <a:extLst>
              <a:ext uri="{FF2B5EF4-FFF2-40B4-BE49-F238E27FC236}">
                <a16:creationId xmlns:a16="http://schemas.microsoft.com/office/drawing/2014/main" id="{033B7715-4F26-4971-888C-F0B38942E520}"/>
              </a:ext>
            </a:extLst>
          </p:cNvPr>
          <p:cNvSpPr txBox="1">
            <a:spLocks/>
          </p:cNvSpPr>
          <p:nvPr/>
        </p:nvSpPr>
        <p:spPr>
          <a:xfrm>
            <a:off x="1379350" y="1842063"/>
            <a:ext cx="5068390" cy="1733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lvl="2" indent="-182563" algn="l" defTabSz="914126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판매비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 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판매하면서 들어가는 비용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판매원 급여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포장운반비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광고비 등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</a:p>
          <a:p>
            <a:pPr marL="182563" lvl="2" indent="-182563" algn="l" defTabSz="914126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일반관리비 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 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회사 유지관리비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본사 임원 및 사무원 급여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복리후생비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통신비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사무용품 등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</a:p>
          <a:p>
            <a:pPr marL="182563" lvl="2" indent="-182563" algn="l" defTabSz="914126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구분이 어려운 경우도 있어 양자를 합한 명칭 사용 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7914217-11AA-47C2-A423-988BA642AB67}"/>
              </a:ext>
            </a:extLst>
          </p:cNvPr>
          <p:cNvGrpSpPr/>
          <p:nvPr/>
        </p:nvGrpSpPr>
        <p:grpSpPr>
          <a:xfrm>
            <a:off x="777520" y="1136679"/>
            <a:ext cx="5413729" cy="678064"/>
            <a:chOff x="683565" y="1165225"/>
            <a:chExt cx="5413729" cy="678064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5886CD7-7C6A-4304-A265-0CD708A79D68}"/>
                </a:ext>
              </a:extLst>
            </p:cNvPr>
            <p:cNvSpPr/>
            <p:nvPr/>
          </p:nvSpPr>
          <p:spPr bwMode="auto">
            <a:xfrm flipH="1">
              <a:off x="683565" y="1279927"/>
              <a:ext cx="5413729" cy="563362"/>
            </a:xfrm>
            <a:prstGeom prst="rect">
              <a:avLst/>
            </a:prstGeom>
            <a:solidFill>
              <a:srgbClr val="B9CBFF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텍스트 개체 틀 7">
              <a:extLst>
                <a:ext uri="{FF2B5EF4-FFF2-40B4-BE49-F238E27FC236}">
                  <a16:creationId xmlns:a16="http://schemas.microsoft.com/office/drawing/2014/main" id="{F7D4829A-9011-4914-8E24-3BB219A3BD31}"/>
                </a:ext>
              </a:extLst>
            </p:cNvPr>
            <p:cNvSpPr txBox="1">
              <a:spLocks/>
            </p:cNvSpPr>
            <p:nvPr/>
          </p:nvSpPr>
          <p:spPr>
            <a:xfrm>
              <a:off x="1262583" y="1386621"/>
              <a:ext cx="4527756" cy="369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latinLnBrk="0">
                <a:spcBef>
                  <a:spcPts val="5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  <a:buFont typeface="Wingdings" panose="05000000000000000000" pitchFamily="2" charset="2"/>
                <a:buNone/>
                <a:defRPr sz="1800" b="1" spc="0">
                  <a:solidFill>
                    <a:srgbClr val="153A7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spcBef>
                  <a:spcPts val="0"/>
                </a:spcBef>
              </a:pPr>
              <a:r>
                <a: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판매비와 일반관리비</a:t>
              </a:r>
              <a:endPara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30F3DC62-5509-402D-BD49-3A53B4308343}"/>
                </a:ext>
              </a:extLst>
            </p:cNvPr>
            <p:cNvGrpSpPr/>
            <p:nvPr/>
          </p:nvGrpSpPr>
          <p:grpSpPr>
            <a:xfrm>
              <a:off x="749226" y="1165225"/>
              <a:ext cx="584845" cy="556222"/>
              <a:chOff x="749226" y="1165225"/>
              <a:chExt cx="584845" cy="556222"/>
            </a:xfrm>
          </p:grpSpPr>
          <p:sp>
            <p:nvSpPr>
              <p:cNvPr id="26" name="이등변 삼각형 25">
                <a:extLst>
                  <a:ext uri="{FF2B5EF4-FFF2-40B4-BE49-F238E27FC236}">
                    <a16:creationId xmlns:a16="http://schemas.microsoft.com/office/drawing/2014/main" id="{FE490149-5EAB-4AB6-8770-6E11E84F2E1E}"/>
                  </a:ext>
                </a:extLst>
              </p:cNvPr>
              <p:cNvSpPr/>
              <p:nvPr/>
            </p:nvSpPr>
            <p:spPr bwMode="auto">
              <a:xfrm flipH="1">
                <a:off x="749226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" name="이등변 삼각형 26">
                <a:extLst>
                  <a:ext uri="{FF2B5EF4-FFF2-40B4-BE49-F238E27FC236}">
                    <a16:creationId xmlns:a16="http://schemas.microsoft.com/office/drawing/2014/main" id="{AAE31D5B-5A4C-42F0-B69B-2C34DCA99D9F}"/>
                  </a:ext>
                </a:extLst>
              </p:cNvPr>
              <p:cNvSpPr/>
              <p:nvPr/>
            </p:nvSpPr>
            <p:spPr bwMode="auto">
              <a:xfrm flipH="1">
                <a:off x="1190055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" name="사다리꼴 27">
                <a:extLst>
                  <a:ext uri="{FF2B5EF4-FFF2-40B4-BE49-F238E27FC236}">
                    <a16:creationId xmlns:a16="http://schemas.microsoft.com/office/drawing/2014/main" id="{17714580-B8A8-4E9A-8AEA-3C030A68C981}"/>
                  </a:ext>
                </a:extLst>
              </p:cNvPr>
              <p:cNvSpPr/>
              <p:nvPr/>
            </p:nvSpPr>
            <p:spPr bwMode="auto">
              <a:xfrm rot="10800000">
                <a:off x="815438" y="1167016"/>
                <a:ext cx="444194" cy="554431"/>
              </a:xfrm>
              <a:prstGeom prst="trapezoid">
                <a:avLst>
                  <a:gd name="adj" fmla="val 16602"/>
                </a:avLst>
              </a:prstGeom>
              <a:solidFill>
                <a:srgbClr val="00A19A"/>
              </a:solidFill>
              <a:ln>
                <a:noFill/>
                <a:headEnd type="none" w="med" len="med"/>
                <a:tailEnd type="triangle" w="med" len="med"/>
              </a:ln>
              <a:effectLst>
                <a:outerShdw blurRad="50800" dist="38100" dir="5400000" algn="t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C06A63-2D5E-4803-A4F7-4E50F5D159A0}"/>
                  </a:ext>
                </a:extLst>
              </p:cNvPr>
              <p:cNvSpPr txBox="1"/>
              <p:nvPr/>
            </p:nvSpPr>
            <p:spPr bwMode="auto">
              <a:xfrm>
                <a:off x="874656" y="1256789"/>
                <a:ext cx="31931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>
                <a:spAutoFit/>
              </a:bodyPr>
              <a:lstStyle/>
              <a:p>
                <a:pPr algn="l"/>
                <a:r>
                  <a:rPr lang="en-US" altLang="ko-KR" sz="1800" b="1" dirty="0">
                    <a:ln>
                      <a:solidFill>
                        <a:srgbClr val="000FBF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1800" b="1" dirty="0">
                  <a:ln>
                    <a:solidFill>
                      <a:srgbClr val="000FB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7914217-11AA-47C2-A423-988BA642AB67}"/>
              </a:ext>
            </a:extLst>
          </p:cNvPr>
          <p:cNvGrpSpPr/>
          <p:nvPr/>
        </p:nvGrpSpPr>
        <p:grpSpPr>
          <a:xfrm>
            <a:off x="909392" y="3651870"/>
            <a:ext cx="5413729" cy="678064"/>
            <a:chOff x="683565" y="1165225"/>
            <a:chExt cx="5413729" cy="678064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D5886CD7-7C6A-4304-A265-0CD708A79D68}"/>
                </a:ext>
              </a:extLst>
            </p:cNvPr>
            <p:cNvSpPr/>
            <p:nvPr/>
          </p:nvSpPr>
          <p:spPr bwMode="auto">
            <a:xfrm flipH="1">
              <a:off x="683565" y="1279927"/>
              <a:ext cx="5413729" cy="563362"/>
            </a:xfrm>
            <a:prstGeom prst="rect">
              <a:avLst/>
            </a:prstGeom>
            <a:solidFill>
              <a:srgbClr val="B9CBFF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텍스트 개체 틀 7">
              <a:extLst>
                <a:ext uri="{FF2B5EF4-FFF2-40B4-BE49-F238E27FC236}">
                  <a16:creationId xmlns:a16="http://schemas.microsoft.com/office/drawing/2014/main" id="{F7D4829A-9011-4914-8E24-3BB219A3BD31}"/>
                </a:ext>
              </a:extLst>
            </p:cNvPr>
            <p:cNvSpPr txBox="1">
              <a:spLocks/>
            </p:cNvSpPr>
            <p:nvPr/>
          </p:nvSpPr>
          <p:spPr>
            <a:xfrm>
              <a:off x="1262583" y="1386621"/>
              <a:ext cx="4527756" cy="369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latinLnBrk="0">
                <a:spcBef>
                  <a:spcPts val="5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  <a:buFont typeface="Wingdings" panose="05000000000000000000" pitchFamily="2" charset="2"/>
                <a:buNone/>
                <a:defRPr sz="1800" b="1" spc="0">
                  <a:solidFill>
                    <a:srgbClr val="153A7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spcBef>
                  <a:spcPts val="0"/>
                </a:spcBef>
              </a:pPr>
              <a:r>
                <a: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   영업비용 </a:t>
              </a:r>
              <a:r>
                <a:rPr lang="en-US" altLang="ko-KR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매출원가 </a:t>
              </a:r>
              <a:r>
                <a:rPr lang="en-US" altLang="ko-KR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+ </a:t>
              </a:r>
              <a:r>
                <a:rPr lang="ko-KR" altLang="en-US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판매비와일반관리비</a:t>
              </a:r>
              <a:endPara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0F3DC62-5509-402D-BD49-3A53B4308343}"/>
                </a:ext>
              </a:extLst>
            </p:cNvPr>
            <p:cNvGrpSpPr/>
            <p:nvPr/>
          </p:nvGrpSpPr>
          <p:grpSpPr>
            <a:xfrm>
              <a:off x="749226" y="1165225"/>
              <a:ext cx="723034" cy="460896"/>
              <a:chOff x="749226" y="1165225"/>
              <a:chExt cx="723034" cy="460896"/>
            </a:xfrm>
          </p:grpSpPr>
          <p:sp>
            <p:nvSpPr>
              <p:cNvPr id="35" name="이등변 삼각형 34">
                <a:extLst>
                  <a:ext uri="{FF2B5EF4-FFF2-40B4-BE49-F238E27FC236}">
                    <a16:creationId xmlns:a16="http://schemas.microsoft.com/office/drawing/2014/main" id="{FE490149-5EAB-4AB6-8770-6E11E84F2E1E}"/>
                  </a:ext>
                </a:extLst>
              </p:cNvPr>
              <p:cNvSpPr/>
              <p:nvPr/>
            </p:nvSpPr>
            <p:spPr bwMode="auto">
              <a:xfrm flipH="1">
                <a:off x="749226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" name="이등변 삼각형 35">
                <a:extLst>
                  <a:ext uri="{FF2B5EF4-FFF2-40B4-BE49-F238E27FC236}">
                    <a16:creationId xmlns:a16="http://schemas.microsoft.com/office/drawing/2014/main" id="{AAE31D5B-5A4C-42F0-B69B-2C34DCA99D9F}"/>
                  </a:ext>
                </a:extLst>
              </p:cNvPr>
              <p:cNvSpPr/>
              <p:nvPr/>
            </p:nvSpPr>
            <p:spPr bwMode="auto">
              <a:xfrm flipH="1">
                <a:off x="1190055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" name="사다리꼴 36">
                <a:extLst>
                  <a:ext uri="{FF2B5EF4-FFF2-40B4-BE49-F238E27FC236}">
                    <a16:creationId xmlns:a16="http://schemas.microsoft.com/office/drawing/2014/main" id="{17714580-B8A8-4E9A-8AEA-3C030A68C981}"/>
                  </a:ext>
                </a:extLst>
              </p:cNvPr>
              <p:cNvSpPr/>
              <p:nvPr/>
            </p:nvSpPr>
            <p:spPr bwMode="auto">
              <a:xfrm rot="10800000">
                <a:off x="815438" y="1167015"/>
                <a:ext cx="656822" cy="459105"/>
              </a:xfrm>
              <a:prstGeom prst="trapezoid">
                <a:avLst>
                  <a:gd name="adj" fmla="val 16602"/>
                </a:avLst>
              </a:prstGeom>
              <a:solidFill>
                <a:srgbClr val="00A19A"/>
              </a:solidFill>
              <a:ln>
                <a:noFill/>
                <a:headEnd type="none" w="med" len="med"/>
                <a:tailEnd type="triangle" w="med" len="med"/>
              </a:ln>
              <a:effectLst>
                <a:outerShdw blurRad="50800" dist="38100" dir="5400000" algn="t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CC06A63-2D5E-4803-A4F7-4E50F5D159A0}"/>
                  </a:ext>
                </a:extLst>
              </p:cNvPr>
              <p:cNvSpPr txBox="1"/>
              <p:nvPr/>
            </p:nvSpPr>
            <p:spPr bwMode="auto">
              <a:xfrm>
                <a:off x="874656" y="1256789"/>
                <a:ext cx="59760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l"/>
                <a:r>
                  <a:rPr lang="en-US" altLang="ko-KR" sz="1800" b="1" dirty="0">
                    <a:ln>
                      <a:solidFill>
                        <a:srgbClr val="000FBF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3-1</a:t>
                </a:r>
                <a:endParaRPr lang="ko-KR" altLang="en-US" sz="1800" b="1" dirty="0">
                  <a:ln>
                    <a:solidFill>
                      <a:srgbClr val="000FB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8288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포괄손익계산서</a:t>
            </a:r>
            <a:endParaRPr lang="ko-KR" altLang="en-US" sz="2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포괄손익계산서의</a:t>
              </a:r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 구성</a:t>
              </a:r>
            </a:p>
          </p:txBody>
        </p:sp>
      </p:grpSp>
      <p:sp>
        <p:nvSpPr>
          <p:cNvPr id="16" name="텍스트 개체 틀 7">
            <a:extLst>
              <a:ext uri="{FF2B5EF4-FFF2-40B4-BE49-F238E27FC236}">
                <a16:creationId xmlns:a16="http://schemas.microsoft.com/office/drawing/2014/main" id="{033B7715-4F26-4971-888C-F0B38942E520}"/>
              </a:ext>
            </a:extLst>
          </p:cNvPr>
          <p:cNvSpPr txBox="1">
            <a:spLocks/>
          </p:cNvSpPr>
          <p:nvPr/>
        </p:nvSpPr>
        <p:spPr>
          <a:xfrm>
            <a:off x="1379350" y="1842063"/>
            <a:ext cx="4726468" cy="774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lvl="2" indent="-182563" algn="l" defTabSz="914126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영업활동이 아닌 투자나 재무활동에서 드는 비용</a:t>
            </a:r>
            <a:endParaRPr lang="en-US" altLang="ko-KR" sz="1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2563" lvl="2" indent="-182563" algn="l" defTabSz="914126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이자비용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단기투자자산처분손실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등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7914217-11AA-47C2-A423-988BA642AB67}"/>
              </a:ext>
            </a:extLst>
          </p:cNvPr>
          <p:cNvGrpSpPr/>
          <p:nvPr/>
        </p:nvGrpSpPr>
        <p:grpSpPr>
          <a:xfrm>
            <a:off x="777520" y="1136679"/>
            <a:ext cx="5413729" cy="678064"/>
            <a:chOff x="683565" y="1165225"/>
            <a:chExt cx="5413729" cy="678064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5886CD7-7C6A-4304-A265-0CD708A79D68}"/>
                </a:ext>
              </a:extLst>
            </p:cNvPr>
            <p:cNvSpPr/>
            <p:nvPr/>
          </p:nvSpPr>
          <p:spPr bwMode="auto">
            <a:xfrm flipH="1">
              <a:off x="683565" y="1279927"/>
              <a:ext cx="5413729" cy="563362"/>
            </a:xfrm>
            <a:prstGeom prst="rect">
              <a:avLst/>
            </a:prstGeom>
            <a:solidFill>
              <a:srgbClr val="B9CBFF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텍스트 개체 틀 7">
              <a:extLst>
                <a:ext uri="{FF2B5EF4-FFF2-40B4-BE49-F238E27FC236}">
                  <a16:creationId xmlns:a16="http://schemas.microsoft.com/office/drawing/2014/main" id="{F7D4829A-9011-4914-8E24-3BB219A3BD31}"/>
                </a:ext>
              </a:extLst>
            </p:cNvPr>
            <p:cNvSpPr txBox="1">
              <a:spLocks/>
            </p:cNvSpPr>
            <p:nvPr/>
          </p:nvSpPr>
          <p:spPr>
            <a:xfrm>
              <a:off x="1262583" y="1386621"/>
              <a:ext cx="4527756" cy="369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latinLnBrk="0">
                <a:spcBef>
                  <a:spcPts val="5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  <a:buFont typeface="Wingdings" panose="05000000000000000000" pitchFamily="2" charset="2"/>
                <a:buNone/>
                <a:defRPr sz="1800" b="1" spc="0">
                  <a:solidFill>
                    <a:srgbClr val="153A7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spcBef>
                  <a:spcPts val="0"/>
                </a:spcBef>
              </a:pPr>
              <a:r>
                <a: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영업외비용</a:t>
              </a:r>
              <a:r>
                <a:rPr lang="en-US" altLang="ko-KR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이자</a:t>
              </a:r>
              <a:r>
                <a:rPr lang="en-US" altLang="ko-KR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30F3DC62-5509-402D-BD49-3A53B4308343}"/>
                </a:ext>
              </a:extLst>
            </p:cNvPr>
            <p:cNvGrpSpPr/>
            <p:nvPr/>
          </p:nvGrpSpPr>
          <p:grpSpPr>
            <a:xfrm>
              <a:off x="749226" y="1165225"/>
              <a:ext cx="584845" cy="556222"/>
              <a:chOff x="749226" y="1165225"/>
              <a:chExt cx="584845" cy="556222"/>
            </a:xfrm>
          </p:grpSpPr>
          <p:sp>
            <p:nvSpPr>
              <p:cNvPr id="26" name="이등변 삼각형 25">
                <a:extLst>
                  <a:ext uri="{FF2B5EF4-FFF2-40B4-BE49-F238E27FC236}">
                    <a16:creationId xmlns:a16="http://schemas.microsoft.com/office/drawing/2014/main" id="{FE490149-5EAB-4AB6-8770-6E11E84F2E1E}"/>
                  </a:ext>
                </a:extLst>
              </p:cNvPr>
              <p:cNvSpPr/>
              <p:nvPr/>
            </p:nvSpPr>
            <p:spPr bwMode="auto">
              <a:xfrm flipH="1">
                <a:off x="749226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" name="이등변 삼각형 26">
                <a:extLst>
                  <a:ext uri="{FF2B5EF4-FFF2-40B4-BE49-F238E27FC236}">
                    <a16:creationId xmlns:a16="http://schemas.microsoft.com/office/drawing/2014/main" id="{AAE31D5B-5A4C-42F0-B69B-2C34DCA99D9F}"/>
                  </a:ext>
                </a:extLst>
              </p:cNvPr>
              <p:cNvSpPr/>
              <p:nvPr/>
            </p:nvSpPr>
            <p:spPr bwMode="auto">
              <a:xfrm flipH="1">
                <a:off x="1190055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" name="사다리꼴 27">
                <a:extLst>
                  <a:ext uri="{FF2B5EF4-FFF2-40B4-BE49-F238E27FC236}">
                    <a16:creationId xmlns:a16="http://schemas.microsoft.com/office/drawing/2014/main" id="{17714580-B8A8-4E9A-8AEA-3C030A68C981}"/>
                  </a:ext>
                </a:extLst>
              </p:cNvPr>
              <p:cNvSpPr/>
              <p:nvPr/>
            </p:nvSpPr>
            <p:spPr bwMode="auto">
              <a:xfrm rot="10800000">
                <a:off x="815438" y="1167016"/>
                <a:ext cx="444194" cy="554431"/>
              </a:xfrm>
              <a:prstGeom prst="trapezoid">
                <a:avLst>
                  <a:gd name="adj" fmla="val 16602"/>
                </a:avLst>
              </a:prstGeom>
              <a:solidFill>
                <a:srgbClr val="00A19A"/>
              </a:solidFill>
              <a:ln>
                <a:noFill/>
                <a:headEnd type="none" w="med" len="med"/>
                <a:tailEnd type="triangle" w="med" len="med"/>
              </a:ln>
              <a:effectLst>
                <a:outerShdw blurRad="50800" dist="38100" dir="5400000" algn="t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C06A63-2D5E-4803-A4F7-4E50F5D159A0}"/>
                  </a:ext>
                </a:extLst>
              </p:cNvPr>
              <p:cNvSpPr txBox="1"/>
              <p:nvPr/>
            </p:nvSpPr>
            <p:spPr bwMode="auto">
              <a:xfrm>
                <a:off x="874656" y="1256789"/>
                <a:ext cx="31931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>
                <a:spAutoFit/>
              </a:bodyPr>
              <a:lstStyle/>
              <a:p>
                <a:pPr algn="l"/>
                <a:r>
                  <a:rPr lang="en-US" altLang="ko-KR" sz="1800" b="1" dirty="0">
                    <a:ln>
                      <a:solidFill>
                        <a:srgbClr val="000FBF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4</a:t>
                </a:r>
                <a:endParaRPr lang="ko-KR" altLang="en-US" sz="1800" b="1" dirty="0">
                  <a:ln>
                    <a:solidFill>
                      <a:srgbClr val="000FB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sp>
        <p:nvSpPr>
          <p:cNvPr id="31" name="텍스트 개체 틀 7">
            <a:extLst>
              <a:ext uri="{FF2B5EF4-FFF2-40B4-BE49-F238E27FC236}">
                <a16:creationId xmlns:a16="http://schemas.microsoft.com/office/drawing/2014/main" id="{E9328BB4-A926-4437-A68E-AB4628323DB2}"/>
              </a:ext>
            </a:extLst>
          </p:cNvPr>
          <p:cNvSpPr txBox="1">
            <a:spLocks/>
          </p:cNvSpPr>
          <p:nvPr/>
        </p:nvSpPr>
        <p:spPr>
          <a:xfrm>
            <a:off x="1383340" y="3707503"/>
            <a:ext cx="4726468" cy="369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이익에 대해 납부의무가 생긴 세금비용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B01C8A6-C6FE-4AE9-9A18-9B6D7829561B}"/>
              </a:ext>
            </a:extLst>
          </p:cNvPr>
          <p:cNvGrpSpPr/>
          <p:nvPr/>
        </p:nvGrpSpPr>
        <p:grpSpPr>
          <a:xfrm>
            <a:off x="781510" y="3002119"/>
            <a:ext cx="5413729" cy="678064"/>
            <a:chOff x="683565" y="1165225"/>
            <a:chExt cx="5413729" cy="678064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EFE8D08-F3B6-4424-A026-87CB8D2E4CF5}"/>
                </a:ext>
              </a:extLst>
            </p:cNvPr>
            <p:cNvSpPr/>
            <p:nvPr/>
          </p:nvSpPr>
          <p:spPr bwMode="auto">
            <a:xfrm flipH="1">
              <a:off x="683565" y="1279927"/>
              <a:ext cx="5413729" cy="563362"/>
            </a:xfrm>
            <a:prstGeom prst="rect">
              <a:avLst/>
            </a:prstGeom>
            <a:solidFill>
              <a:srgbClr val="B9CBFF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텍스트 개체 틀 7">
              <a:extLst>
                <a:ext uri="{FF2B5EF4-FFF2-40B4-BE49-F238E27FC236}">
                  <a16:creationId xmlns:a16="http://schemas.microsoft.com/office/drawing/2014/main" id="{16B393B5-677C-4FC4-81C2-A7D0FE022E8F}"/>
                </a:ext>
              </a:extLst>
            </p:cNvPr>
            <p:cNvSpPr txBox="1">
              <a:spLocks/>
            </p:cNvSpPr>
            <p:nvPr/>
          </p:nvSpPr>
          <p:spPr>
            <a:xfrm>
              <a:off x="1262583" y="1386621"/>
              <a:ext cx="4527756" cy="369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latinLnBrk="0">
                <a:spcBef>
                  <a:spcPts val="5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  <a:buFont typeface="Wingdings" panose="05000000000000000000" pitchFamily="2" charset="2"/>
                <a:buNone/>
                <a:defRPr sz="1800" b="1" spc="0">
                  <a:solidFill>
                    <a:srgbClr val="153A7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spcBef>
                  <a:spcPts val="0"/>
                </a:spcBef>
              </a:pPr>
              <a:r>
                <a: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법인세</a:t>
              </a:r>
              <a:endPara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E13CA685-9DC0-4BB4-A243-6D503A38C0FE}"/>
                </a:ext>
              </a:extLst>
            </p:cNvPr>
            <p:cNvGrpSpPr/>
            <p:nvPr/>
          </p:nvGrpSpPr>
          <p:grpSpPr>
            <a:xfrm>
              <a:off x="749226" y="1165225"/>
              <a:ext cx="584845" cy="556222"/>
              <a:chOff x="749226" y="1165225"/>
              <a:chExt cx="584845" cy="556222"/>
            </a:xfrm>
          </p:grpSpPr>
          <p:sp>
            <p:nvSpPr>
              <p:cNvPr id="36" name="이등변 삼각형 35">
                <a:extLst>
                  <a:ext uri="{FF2B5EF4-FFF2-40B4-BE49-F238E27FC236}">
                    <a16:creationId xmlns:a16="http://schemas.microsoft.com/office/drawing/2014/main" id="{ED515168-F7A4-4902-B8F4-6B54558B9C37}"/>
                  </a:ext>
                </a:extLst>
              </p:cNvPr>
              <p:cNvSpPr/>
              <p:nvPr/>
            </p:nvSpPr>
            <p:spPr bwMode="auto">
              <a:xfrm flipH="1">
                <a:off x="749226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" name="이등변 삼각형 36">
                <a:extLst>
                  <a:ext uri="{FF2B5EF4-FFF2-40B4-BE49-F238E27FC236}">
                    <a16:creationId xmlns:a16="http://schemas.microsoft.com/office/drawing/2014/main" id="{2AD8B77A-DC41-4E9E-9B18-C2359CC74811}"/>
                  </a:ext>
                </a:extLst>
              </p:cNvPr>
              <p:cNvSpPr/>
              <p:nvPr/>
            </p:nvSpPr>
            <p:spPr bwMode="auto">
              <a:xfrm flipH="1">
                <a:off x="1190055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" name="사다리꼴 37">
                <a:extLst>
                  <a:ext uri="{FF2B5EF4-FFF2-40B4-BE49-F238E27FC236}">
                    <a16:creationId xmlns:a16="http://schemas.microsoft.com/office/drawing/2014/main" id="{2CDE75F0-940C-4B64-862F-8F5F1966BBCE}"/>
                  </a:ext>
                </a:extLst>
              </p:cNvPr>
              <p:cNvSpPr/>
              <p:nvPr/>
            </p:nvSpPr>
            <p:spPr bwMode="auto">
              <a:xfrm rot="10800000">
                <a:off x="815438" y="1167016"/>
                <a:ext cx="444194" cy="554431"/>
              </a:xfrm>
              <a:prstGeom prst="trapezoid">
                <a:avLst>
                  <a:gd name="adj" fmla="val 16602"/>
                </a:avLst>
              </a:prstGeom>
              <a:solidFill>
                <a:srgbClr val="00A19A"/>
              </a:solidFill>
              <a:ln>
                <a:noFill/>
                <a:headEnd type="none" w="med" len="med"/>
                <a:tailEnd type="triangle" w="med" len="med"/>
              </a:ln>
              <a:effectLst>
                <a:outerShdw blurRad="50800" dist="38100" dir="5400000" algn="t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C0DDCB7-8DFB-49C7-90FA-5C8CBACD7106}"/>
                  </a:ext>
                </a:extLst>
              </p:cNvPr>
              <p:cNvSpPr txBox="1"/>
              <p:nvPr/>
            </p:nvSpPr>
            <p:spPr bwMode="auto">
              <a:xfrm>
                <a:off x="874656" y="1256789"/>
                <a:ext cx="31931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>
                <a:spAutoFit/>
              </a:bodyPr>
              <a:lstStyle/>
              <a:p>
                <a:pPr algn="l"/>
                <a:r>
                  <a:rPr lang="en-US" altLang="ko-KR" sz="1800" b="1" dirty="0">
                    <a:ln>
                      <a:solidFill>
                        <a:srgbClr val="000FBF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5</a:t>
                </a:r>
                <a:endParaRPr lang="ko-KR" altLang="en-US" sz="1800" b="1" dirty="0">
                  <a:ln>
                    <a:solidFill>
                      <a:srgbClr val="000FB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4519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포괄손익계산서</a:t>
            </a:r>
            <a:endParaRPr lang="ko-KR" altLang="en-US" sz="2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이익의 종류</a:t>
              </a:r>
            </a:p>
          </p:txBody>
        </p:sp>
      </p:grpSp>
      <p:sp>
        <p:nvSpPr>
          <p:cNvPr id="16" name="텍스트 개체 틀 7">
            <a:extLst>
              <a:ext uri="{FF2B5EF4-FFF2-40B4-BE49-F238E27FC236}">
                <a16:creationId xmlns:a16="http://schemas.microsoft.com/office/drawing/2014/main" id="{033B7715-4F26-4971-888C-F0B38942E520}"/>
              </a:ext>
            </a:extLst>
          </p:cNvPr>
          <p:cNvSpPr txBox="1">
            <a:spLocks/>
          </p:cNvSpPr>
          <p:nvPr/>
        </p:nvSpPr>
        <p:spPr>
          <a:xfrm>
            <a:off x="1379350" y="1842063"/>
            <a:ext cx="4726468" cy="369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매출액 </a:t>
            </a:r>
            <a:r>
              <a: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매출원가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7914217-11AA-47C2-A423-988BA642AB67}"/>
              </a:ext>
            </a:extLst>
          </p:cNvPr>
          <p:cNvGrpSpPr/>
          <p:nvPr/>
        </p:nvGrpSpPr>
        <p:grpSpPr>
          <a:xfrm>
            <a:off x="777520" y="1136679"/>
            <a:ext cx="5413729" cy="678064"/>
            <a:chOff x="683565" y="1165225"/>
            <a:chExt cx="5413729" cy="678064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5886CD7-7C6A-4304-A265-0CD708A79D68}"/>
                </a:ext>
              </a:extLst>
            </p:cNvPr>
            <p:cNvSpPr/>
            <p:nvPr/>
          </p:nvSpPr>
          <p:spPr bwMode="auto">
            <a:xfrm flipH="1">
              <a:off x="683565" y="1279927"/>
              <a:ext cx="5413729" cy="563362"/>
            </a:xfrm>
            <a:prstGeom prst="rect">
              <a:avLst/>
            </a:prstGeom>
            <a:solidFill>
              <a:srgbClr val="B9CBFF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텍스트 개체 틀 7">
              <a:extLst>
                <a:ext uri="{FF2B5EF4-FFF2-40B4-BE49-F238E27FC236}">
                  <a16:creationId xmlns:a16="http://schemas.microsoft.com/office/drawing/2014/main" id="{F7D4829A-9011-4914-8E24-3BB219A3BD31}"/>
                </a:ext>
              </a:extLst>
            </p:cNvPr>
            <p:cNvSpPr txBox="1">
              <a:spLocks/>
            </p:cNvSpPr>
            <p:nvPr/>
          </p:nvSpPr>
          <p:spPr>
            <a:xfrm>
              <a:off x="1262583" y="1386621"/>
              <a:ext cx="4527756" cy="369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latinLnBrk="0">
                <a:spcBef>
                  <a:spcPts val="5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  <a:buFont typeface="Wingdings" panose="05000000000000000000" pitchFamily="2" charset="2"/>
                <a:buNone/>
                <a:defRPr sz="1800" b="1" spc="0">
                  <a:solidFill>
                    <a:srgbClr val="153A7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spcBef>
                  <a:spcPts val="0"/>
                </a:spcBef>
              </a:pPr>
              <a:r>
                <a: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매출총이익</a:t>
              </a:r>
              <a:endPara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30F3DC62-5509-402D-BD49-3A53B4308343}"/>
                </a:ext>
              </a:extLst>
            </p:cNvPr>
            <p:cNvGrpSpPr/>
            <p:nvPr/>
          </p:nvGrpSpPr>
          <p:grpSpPr>
            <a:xfrm>
              <a:off x="749226" y="1165225"/>
              <a:ext cx="584845" cy="556222"/>
              <a:chOff x="749226" y="1165225"/>
              <a:chExt cx="584845" cy="556222"/>
            </a:xfrm>
          </p:grpSpPr>
          <p:sp>
            <p:nvSpPr>
              <p:cNvPr id="26" name="이등변 삼각형 25">
                <a:extLst>
                  <a:ext uri="{FF2B5EF4-FFF2-40B4-BE49-F238E27FC236}">
                    <a16:creationId xmlns:a16="http://schemas.microsoft.com/office/drawing/2014/main" id="{FE490149-5EAB-4AB6-8770-6E11E84F2E1E}"/>
                  </a:ext>
                </a:extLst>
              </p:cNvPr>
              <p:cNvSpPr/>
              <p:nvPr/>
            </p:nvSpPr>
            <p:spPr bwMode="auto">
              <a:xfrm flipH="1">
                <a:off x="749226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" name="이등변 삼각형 26">
                <a:extLst>
                  <a:ext uri="{FF2B5EF4-FFF2-40B4-BE49-F238E27FC236}">
                    <a16:creationId xmlns:a16="http://schemas.microsoft.com/office/drawing/2014/main" id="{AAE31D5B-5A4C-42F0-B69B-2C34DCA99D9F}"/>
                  </a:ext>
                </a:extLst>
              </p:cNvPr>
              <p:cNvSpPr/>
              <p:nvPr/>
            </p:nvSpPr>
            <p:spPr bwMode="auto">
              <a:xfrm flipH="1">
                <a:off x="1190055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" name="사다리꼴 27">
                <a:extLst>
                  <a:ext uri="{FF2B5EF4-FFF2-40B4-BE49-F238E27FC236}">
                    <a16:creationId xmlns:a16="http://schemas.microsoft.com/office/drawing/2014/main" id="{17714580-B8A8-4E9A-8AEA-3C030A68C981}"/>
                  </a:ext>
                </a:extLst>
              </p:cNvPr>
              <p:cNvSpPr/>
              <p:nvPr/>
            </p:nvSpPr>
            <p:spPr bwMode="auto">
              <a:xfrm rot="10800000">
                <a:off x="815438" y="1167016"/>
                <a:ext cx="444194" cy="554431"/>
              </a:xfrm>
              <a:prstGeom prst="trapezoid">
                <a:avLst>
                  <a:gd name="adj" fmla="val 16602"/>
                </a:avLst>
              </a:prstGeom>
              <a:solidFill>
                <a:srgbClr val="00A19A"/>
              </a:solidFill>
              <a:ln>
                <a:noFill/>
                <a:headEnd type="none" w="med" len="med"/>
                <a:tailEnd type="triangle" w="med" len="med"/>
              </a:ln>
              <a:effectLst>
                <a:outerShdw blurRad="50800" dist="38100" dir="5400000" algn="t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C06A63-2D5E-4803-A4F7-4E50F5D159A0}"/>
                  </a:ext>
                </a:extLst>
              </p:cNvPr>
              <p:cNvSpPr txBox="1"/>
              <p:nvPr/>
            </p:nvSpPr>
            <p:spPr bwMode="auto">
              <a:xfrm>
                <a:off x="874656" y="1256789"/>
                <a:ext cx="31931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>
                <a:spAutoFit/>
              </a:bodyPr>
              <a:lstStyle/>
              <a:p>
                <a:pPr algn="l"/>
                <a:r>
                  <a:rPr lang="en-US" altLang="ko-KR" sz="1800" b="1" dirty="0">
                    <a:ln>
                      <a:solidFill>
                        <a:srgbClr val="000FBF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1800" b="1" dirty="0">
                  <a:ln>
                    <a:solidFill>
                      <a:srgbClr val="000FB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sp>
        <p:nvSpPr>
          <p:cNvPr id="31" name="텍스트 개체 틀 7">
            <a:extLst>
              <a:ext uri="{FF2B5EF4-FFF2-40B4-BE49-F238E27FC236}">
                <a16:creationId xmlns:a16="http://schemas.microsoft.com/office/drawing/2014/main" id="{4325B89C-3C49-40C6-8559-A4B78B2BB976}"/>
              </a:ext>
            </a:extLst>
          </p:cNvPr>
          <p:cNvSpPr txBox="1">
            <a:spLocks/>
          </p:cNvSpPr>
          <p:nvPr/>
        </p:nvSpPr>
        <p:spPr>
          <a:xfrm>
            <a:off x="1322842" y="3275942"/>
            <a:ext cx="4782975" cy="2138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매출액 </a:t>
            </a:r>
            <a:r>
              <a: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 </a:t>
            </a: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영업비용</a:t>
            </a:r>
            <a:endParaRPr lang="en-US" altLang="ko-KR" sz="1800" b="0" spc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기업의 핵심인 영업활동의 성과를 나타내기 때문에 수익성의 지표로 중시되고 있음</a:t>
            </a:r>
            <a:endParaRPr lang="en-US" altLang="ko-KR" sz="1800" b="0" spc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매출액에서 매출원가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판매비와일반관리비를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공제하고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이자와 법인세는 아직 </a:t>
            </a:r>
            <a:r>
              <a:rPr lang="ko-KR" altLang="en-US" sz="18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공제전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이익 </a:t>
            </a:r>
          </a:p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endParaRPr lang="ko-KR" altLang="en-US" sz="1800" b="0" spc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BA7ABA4-8BF5-47E5-872D-22BCEB4A1D0F}"/>
              </a:ext>
            </a:extLst>
          </p:cNvPr>
          <p:cNvGrpSpPr/>
          <p:nvPr/>
        </p:nvGrpSpPr>
        <p:grpSpPr>
          <a:xfrm>
            <a:off x="843181" y="2408156"/>
            <a:ext cx="5413729" cy="678064"/>
            <a:chOff x="683565" y="1165225"/>
            <a:chExt cx="5413729" cy="678064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D19C316-ACDD-4A0E-92F8-3603788AD98C}"/>
                </a:ext>
              </a:extLst>
            </p:cNvPr>
            <p:cNvSpPr/>
            <p:nvPr/>
          </p:nvSpPr>
          <p:spPr bwMode="auto">
            <a:xfrm flipH="1">
              <a:off x="683565" y="1279927"/>
              <a:ext cx="5413729" cy="563362"/>
            </a:xfrm>
            <a:prstGeom prst="rect">
              <a:avLst/>
            </a:prstGeom>
            <a:solidFill>
              <a:srgbClr val="B9CBFF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텍스트 개체 틀 7">
              <a:extLst>
                <a:ext uri="{FF2B5EF4-FFF2-40B4-BE49-F238E27FC236}">
                  <a16:creationId xmlns:a16="http://schemas.microsoft.com/office/drawing/2014/main" id="{C7E2863F-8B5E-4B09-9D48-830D361FD984}"/>
                </a:ext>
              </a:extLst>
            </p:cNvPr>
            <p:cNvSpPr txBox="1">
              <a:spLocks/>
            </p:cNvSpPr>
            <p:nvPr/>
          </p:nvSpPr>
          <p:spPr>
            <a:xfrm>
              <a:off x="1262583" y="1386621"/>
              <a:ext cx="4527756" cy="369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latinLnBrk="0">
                <a:spcBef>
                  <a:spcPts val="5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  <a:buFont typeface="Wingdings" panose="05000000000000000000" pitchFamily="2" charset="2"/>
                <a:buNone/>
                <a:defRPr sz="1800" b="1" spc="0">
                  <a:solidFill>
                    <a:srgbClr val="153A7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spcBef>
                  <a:spcPts val="0"/>
                </a:spcBef>
              </a:pPr>
              <a:r>
                <a: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영업이익</a:t>
              </a:r>
              <a:endPara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1C1DEA94-9FDA-4CEF-98AE-025CF2ED4553}"/>
                </a:ext>
              </a:extLst>
            </p:cNvPr>
            <p:cNvGrpSpPr/>
            <p:nvPr/>
          </p:nvGrpSpPr>
          <p:grpSpPr>
            <a:xfrm>
              <a:off x="749226" y="1165225"/>
              <a:ext cx="584845" cy="556222"/>
              <a:chOff x="749226" y="1165225"/>
              <a:chExt cx="584845" cy="556222"/>
            </a:xfrm>
          </p:grpSpPr>
          <p:sp>
            <p:nvSpPr>
              <p:cNvPr id="36" name="이등변 삼각형 35">
                <a:extLst>
                  <a:ext uri="{FF2B5EF4-FFF2-40B4-BE49-F238E27FC236}">
                    <a16:creationId xmlns:a16="http://schemas.microsoft.com/office/drawing/2014/main" id="{E15598D8-B740-438C-BD91-FF8CF719FDA9}"/>
                  </a:ext>
                </a:extLst>
              </p:cNvPr>
              <p:cNvSpPr/>
              <p:nvPr/>
            </p:nvSpPr>
            <p:spPr bwMode="auto">
              <a:xfrm flipH="1">
                <a:off x="749226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" name="이등변 삼각형 36">
                <a:extLst>
                  <a:ext uri="{FF2B5EF4-FFF2-40B4-BE49-F238E27FC236}">
                    <a16:creationId xmlns:a16="http://schemas.microsoft.com/office/drawing/2014/main" id="{62A0AA89-248E-433C-88FD-986A2AD02DE8}"/>
                  </a:ext>
                </a:extLst>
              </p:cNvPr>
              <p:cNvSpPr/>
              <p:nvPr/>
            </p:nvSpPr>
            <p:spPr bwMode="auto">
              <a:xfrm flipH="1">
                <a:off x="1190055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" name="사다리꼴 37">
                <a:extLst>
                  <a:ext uri="{FF2B5EF4-FFF2-40B4-BE49-F238E27FC236}">
                    <a16:creationId xmlns:a16="http://schemas.microsoft.com/office/drawing/2014/main" id="{7ED6DB96-C738-48A3-B1AD-2D53299CDC76}"/>
                  </a:ext>
                </a:extLst>
              </p:cNvPr>
              <p:cNvSpPr/>
              <p:nvPr/>
            </p:nvSpPr>
            <p:spPr bwMode="auto">
              <a:xfrm rot="10800000">
                <a:off x="815438" y="1167016"/>
                <a:ext cx="444194" cy="554431"/>
              </a:xfrm>
              <a:prstGeom prst="trapezoid">
                <a:avLst>
                  <a:gd name="adj" fmla="val 16602"/>
                </a:avLst>
              </a:prstGeom>
              <a:solidFill>
                <a:srgbClr val="00A19A"/>
              </a:solidFill>
              <a:ln>
                <a:noFill/>
                <a:headEnd type="none" w="med" len="med"/>
                <a:tailEnd type="triangle" w="med" len="med"/>
              </a:ln>
              <a:effectLst>
                <a:outerShdw blurRad="50800" dist="38100" dir="5400000" algn="t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3B4D738-EAD4-41D9-A597-32CF8F0FAADE}"/>
                  </a:ext>
                </a:extLst>
              </p:cNvPr>
              <p:cNvSpPr txBox="1"/>
              <p:nvPr/>
            </p:nvSpPr>
            <p:spPr bwMode="auto">
              <a:xfrm>
                <a:off x="874656" y="1256789"/>
                <a:ext cx="31931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>
                <a:spAutoFit/>
              </a:bodyPr>
              <a:lstStyle/>
              <a:p>
                <a:pPr algn="l"/>
                <a:r>
                  <a:rPr lang="en-US" altLang="ko-KR" sz="1800" b="1" dirty="0">
                    <a:ln>
                      <a:solidFill>
                        <a:srgbClr val="000FBF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800" b="1" dirty="0">
                  <a:ln>
                    <a:solidFill>
                      <a:srgbClr val="000FB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6440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포괄손익계산서</a:t>
            </a:r>
            <a:endParaRPr lang="ko-KR" altLang="en-US" sz="2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이익의 종류</a:t>
              </a:r>
            </a:p>
          </p:txBody>
        </p:sp>
      </p:grpSp>
      <p:sp>
        <p:nvSpPr>
          <p:cNvPr id="16" name="텍스트 개체 틀 7">
            <a:extLst>
              <a:ext uri="{FF2B5EF4-FFF2-40B4-BE49-F238E27FC236}">
                <a16:creationId xmlns:a16="http://schemas.microsoft.com/office/drawing/2014/main" id="{033B7715-4F26-4971-888C-F0B38942E520}"/>
              </a:ext>
            </a:extLst>
          </p:cNvPr>
          <p:cNvSpPr txBox="1">
            <a:spLocks/>
          </p:cNvSpPr>
          <p:nvPr/>
        </p:nvSpPr>
        <p:spPr>
          <a:xfrm>
            <a:off x="1379350" y="1842063"/>
            <a:ext cx="4726468" cy="1051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lvl="2" indent="-182563" algn="l" defTabSz="914126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영업이익 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이자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영업외비용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 </a:t>
            </a:r>
          </a:p>
          <a:p>
            <a:pPr marL="182563" lvl="2" indent="-182563" algn="l" defTabSz="914126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매출액에서 매출원가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판매비와일반관리비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이자를 공제하고 법인세는 아직 </a:t>
            </a:r>
            <a:r>
              <a:rPr lang="ko-KR" altLang="en-US" sz="18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공제전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이익 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7914217-11AA-47C2-A423-988BA642AB67}"/>
              </a:ext>
            </a:extLst>
          </p:cNvPr>
          <p:cNvGrpSpPr/>
          <p:nvPr/>
        </p:nvGrpSpPr>
        <p:grpSpPr>
          <a:xfrm>
            <a:off x="777520" y="1136679"/>
            <a:ext cx="5413729" cy="678064"/>
            <a:chOff x="683565" y="1165225"/>
            <a:chExt cx="5413729" cy="678064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5886CD7-7C6A-4304-A265-0CD708A79D68}"/>
                </a:ext>
              </a:extLst>
            </p:cNvPr>
            <p:cNvSpPr/>
            <p:nvPr/>
          </p:nvSpPr>
          <p:spPr bwMode="auto">
            <a:xfrm flipH="1">
              <a:off x="683565" y="1279927"/>
              <a:ext cx="5413729" cy="563362"/>
            </a:xfrm>
            <a:prstGeom prst="rect">
              <a:avLst/>
            </a:prstGeom>
            <a:solidFill>
              <a:srgbClr val="B9CBFF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텍스트 개체 틀 7">
              <a:extLst>
                <a:ext uri="{FF2B5EF4-FFF2-40B4-BE49-F238E27FC236}">
                  <a16:creationId xmlns:a16="http://schemas.microsoft.com/office/drawing/2014/main" id="{F7D4829A-9011-4914-8E24-3BB219A3BD31}"/>
                </a:ext>
              </a:extLst>
            </p:cNvPr>
            <p:cNvSpPr txBox="1">
              <a:spLocks/>
            </p:cNvSpPr>
            <p:nvPr/>
          </p:nvSpPr>
          <p:spPr>
            <a:xfrm>
              <a:off x="1262583" y="1386621"/>
              <a:ext cx="4527756" cy="369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latinLnBrk="0">
                <a:spcBef>
                  <a:spcPts val="5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  <a:buFont typeface="Wingdings" panose="05000000000000000000" pitchFamily="2" charset="2"/>
                <a:buNone/>
                <a:defRPr sz="1800" b="1" spc="0">
                  <a:solidFill>
                    <a:srgbClr val="153A7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spcBef>
                  <a:spcPts val="0"/>
                </a:spcBef>
              </a:pPr>
              <a:r>
                <a:rPr lang="ko-KR" altLang="en-US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법인세차감전순이익</a:t>
              </a:r>
              <a:endPara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30F3DC62-5509-402D-BD49-3A53B4308343}"/>
                </a:ext>
              </a:extLst>
            </p:cNvPr>
            <p:cNvGrpSpPr/>
            <p:nvPr/>
          </p:nvGrpSpPr>
          <p:grpSpPr>
            <a:xfrm>
              <a:off x="749226" y="1165225"/>
              <a:ext cx="584845" cy="556222"/>
              <a:chOff x="749226" y="1165225"/>
              <a:chExt cx="584845" cy="556222"/>
            </a:xfrm>
          </p:grpSpPr>
          <p:sp>
            <p:nvSpPr>
              <p:cNvPr id="26" name="이등변 삼각형 25">
                <a:extLst>
                  <a:ext uri="{FF2B5EF4-FFF2-40B4-BE49-F238E27FC236}">
                    <a16:creationId xmlns:a16="http://schemas.microsoft.com/office/drawing/2014/main" id="{FE490149-5EAB-4AB6-8770-6E11E84F2E1E}"/>
                  </a:ext>
                </a:extLst>
              </p:cNvPr>
              <p:cNvSpPr/>
              <p:nvPr/>
            </p:nvSpPr>
            <p:spPr bwMode="auto">
              <a:xfrm flipH="1">
                <a:off x="749226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" name="이등변 삼각형 26">
                <a:extLst>
                  <a:ext uri="{FF2B5EF4-FFF2-40B4-BE49-F238E27FC236}">
                    <a16:creationId xmlns:a16="http://schemas.microsoft.com/office/drawing/2014/main" id="{AAE31D5B-5A4C-42F0-B69B-2C34DCA99D9F}"/>
                  </a:ext>
                </a:extLst>
              </p:cNvPr>
              <p:cNvSpPr/>
              <p:nvPr/>
            </p:nvSpPr>
            <p:spPr bwMode="auto">
              <a:xfrm flipH="1">
                <a:off x="1190055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" name="사다리꼴 27">
                <a:extLst>
                  <a:ext uri="{FF2B5EF4-FFF2-40B4-BE49-F238E27FC236}">
                    <a16:creationId xmlns:a16="http://schemas.microsoft.com/office/drawing/2014/main" id="{17714580-B8A8-4E9A-8AEA-3C030A68C981}"/>
                  </a:ext>
                </a:extLst>
              </p:cNvPr>
              <p:cNvSpPr/>
              <p:nvPr/>
            </p:nvSpPr>
            <p:spPr bwMode="auto">
              <a:xfrm rot="10800000">
                <a:off x="815438" y="1167016"/>
                <a:ext cx="444194" cy="554431"/>
              </a:xfrm>
              <a:prstGeom prst="trapezoid">
                <a:avLst>
                  <a:gd name="adj" fmla="val 16602"/>
                </a:avLst>
              </a:prstGeom>
              <a:solidFill>
                <a:srgbClr val="00A19A"/>
              </a:solidFill>
              <a:ln>
                <a:noFill/>
                <a:headEnd type="none" w="med" len="med"/>
                <a:tailEnd type="triangle" w="med" len="med"/>
              </a:ln>
              <a:effectLst>
                <a:outerShdw blurRad="50800" dist="38100" dir="5400000" algn="t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C06A63-2D5E-4803-A4F7-4E50F5D159A0}"/>
                  </a:ext>
                </a:extLst>
              </p:cNvPr>
              <p:cNvSpPr txBox="1"/>
              <p:nvPr/>
            </p:nvSpPr>
            <p:spPr bwMode="auto">
              <a:xfrm>
                <a:off x="874656" y="1256789"/>
                <a:ext cx="31931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>
                <a:spAutoFit/>
              </a:bodyPr>
              <a:lstStyle/>
              <a:p>
                <a:pPr algn="l"/>
                <a:r>
                  <a:rPr lang="en-US" altLang="ko-KR" sz="1800" b="1" dirty="0">
                    <a:ln>
                      <a:solidFill>
                        <a:srgbClr val="000FBF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1800" b="1" dirty="0">
                  <a:ln>
                    <a:solidFill>
                      <a:srgbClr val="000FB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2153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포괄손익계산서</a:t>
            </a:r>
            <a:endParaRPr lang="ko-KR" altLang="en-US" sz="2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이익의 종류</a:t>
              </a:r>
            </a:p>
          </p:txBody>
        </p:sp>
      </p:grpSp>
      <p:sp>
        <p:nvSpPr>
          <p:cNvPr id="16" name="텍스트 개체 틀 7">
            <a:extLst>
              <a:ext uri="{FF2B5EF4-FFF2-40B4-BE49-F238E27FC236}">
                <a16:creationId xmlns:a16="http://schemas.microsoft.com/office/drawing/2014/main" id="{033B7715-4F26-4971-888C-F0B38942E520}"/>
              </a:ext>
            </a:extLst>
          </p:cNvPr>
          <p:cNvSpPr txBox="1">
            <a:spLocks/>
          </p:cNvSpPr>
          <p:nvPr/>
        </p:nvSpPr>
        <p:spPr>
          <a:xfrm>
            <a:off x="1379350" y="1842063"/>
            <a:ext cx="4811900" cy="2821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lvl="2" indent="-182563" algn="l" defTabSz="914126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법인세차감전순이익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 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법인세</a:t>
            </a:r>
            <a:endParaRPr lang="en-US" altLang="ko-KR" sz="1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2563" lvl="2" indent="-182563" algn="l" defTabSz="914126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기업이 기간 중 얻은 수익에서 법인세까지 포함한 모든 비용을 공제한 금액 </a:t>
            </a:r>
          </a:p>
          <a:p>
            <a:pPr marL="182563" lvl="2" indent="-182563" algn="l" defTabSz="914126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잔여이익의 개념으로 주주에게 귀속되는 가장 중요한 개념의 이익</a:t>
            </a:r>
          </a:p>
          <a:p>
            <a:pPr marL="182563" lvl="2" indent="-182563" algn="l" defTabSz="914126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주주에게 배당되거나 </a:t>
            </a:r>
            <a:r>
              <a:rPr lang="ko-KR" altLang="en-US" sz="18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사내유보되어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재투자에 사용됨</a:t>
            </a:r>
            <a:endParaRPr lang="en-US" altLang="ko-KR" sz="1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2563" lvl="2" indent="-182563" algn="l" defTabSz="914126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endParaRPr lang="ko-KR" altLang="en-US" sz="1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7914217-11AA-47C2-A423-988BA642AB67}"/>
              </a:ext>
            </a:extLst>
          </p:cNvPr>
          <p:cNvGrpSpPr/>
          <p:nvPr/>
        </p:nvGrpSpPr>
        <p:grpSpPr>
          <a:xfrm>
            <a:off x="777520" y="1136679"/>
            <a:ext cx="5413729" cy="678064"/>
            <a:chOff x="683565" y="1165225"/>
            <a:chExt cx="5413729" cy="678064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5886CD7-7C6A-4304-A265-0CD708A79D68}"/>
                </a:ext>
              </a:extLst>
            </p:cNvPr>
            <p:cNvSpPr/>
            <p:nvPr/>
          </p:nvSpPr>
          <p:spPr bwMode="auto">
            <a:xfrm flipH="1">
              <a:off x="683565" y="1279927"/>
              <a:ext cx="5413729" cy="563362"/>
            </a:xfrm>
            <a:prstGeom prst="rect">
              <a:avLst/>
            </a:prstGeom>
            <a:solidFill>
              <a:srgbClr val="B9CBFF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텍스트 개체 틀 7">
              <a:extLst>
                <a:ext uri="{FF2B5EF4-FFF2-40B4-BE49-F238E27FC236}">
                  <a16:creationId xmlns:a16="http://schemas.microsoft.com/office/drawing/2014/main" id="{F7D4829A-9011-4914-8E24-3BB219A3BD31}"/>
                </a:ext>
              </a:extLst>
            </p:cNvPr>
            <p:cNvSpPr txBox="1">
              <a:spLocks/>
            </p:cNvSpPr>
            <p:nvPr/>
          </p:nvSpPr>
          <p:spPr>
            <a:xfrm>
              <a:off x="1262583" y="1386621"/>
              <a:ext cx="4527756" cy="369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latinLnBrk="0">
                <a:spcBef>
                  <a:spcPts val="5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  <a:buFont typeface="Wingdings" panose="05000000000000000000" pitchFamily="2" charset="2"/>
                <a:buNone/>
                <a:defRPr sz="1800" b="1" spc="0">
                  <a:solidFill>
                    <a:srgbClr val="153A7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spcBef>
                  <a:spcPts val="0"/>
                </a:spcBef>
              </a:pPr>
              <a:r>
                <a: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당기순이익</a:t>
              </a:r>
              <a:endPara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30F3DC62-5509-402D-BD49-3A53B4308343}"/>
                </a:ext>
              </a:extLst>
            </p:cNvPr>
            <p:cNvGrpSpPr/>
            <p:nvPr/>
          </p:nvGrpSpPr>
          <p:grpSpPr>
            <a:xfrm>
              <a:off x="749226" y="1165225"/>
              <a:ext cx="584845" cy="556222"/>
              <a:chOff x="749226" y="1165225"/>
              <a:chExt cx="584845" cy="556222"/>
            </a:xfrm>
          </p:grpSpPr>
          <p:sp>
            <p:nvSpPr>
              <p:cNvPr id="26" name="이등변 삼각형 25">
                <a:extLst>
                  <a:ext uri="{FF2B5EF4-FFF2-40B4-BE49-F238E27FC236}">
                    <a16:creationId xmlns:a16="http://schemas.microsoft.com/office/drawing/2014/main" id="{FE490149-5EAB-4AB6-8770-6E11E84F2E1E}"/>
                  </a:ext>
                </a:extLst>
              </p:cNvPr>
              <p:cNvSpPr/>
              <p:nvPr/>
            </p:nvSpPr>
            <p:spPr bwMode="auto">
              <a:xfrm flipH="1">
                <a:off x="749226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" name="이등변 삼각형 26">
                <a:extLst>
                  <a:ext uri="{FF2B5EF4-FFF2-40B4-BE49-F238E27FC236}">
                    <a16:creationId xmlns:a16="http://schemas.microsoft.com/office/drawing/2014/main" id="{AAE31D5B-5A4C-42F0-B69B-2C34DCA99D9F}"/>
                  </a:ext>
                </a:extLst>
              </p:cNvPr>
              <p:cNvSpPr/>
              <p:nvPr/>
            </p:nvSpPr>
            <p:spPr bwMode="auto">
              <a:xfrm flipH="1">
                <a:off x="1190055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" name="사다리꼴 27">
                <a:extLst>
                  <a:ext uri="{FF2B5EF4-FFF2-40B4-BE49-F238E27FC236}">
                    <a16:creationId xmlns:a16="http://schemas.microsoft.com/office/drawing/2014/main" id="{17714580-B8A8-4E9A-8AEA-3C030A68C981}"/>
                  </a:ext>
                </a:extLst>
              </p:cNvPr>
              <p:cNvSpPr/>
              <p:nvPr/>
            </p:nvSpPr>
            <p:spPr bwMode="auto">
              <a:xfrm rot="10800000">
                <a:off x="815438" y="1167016"/>
                <a:ext cx="444194" cy="554431"/>
              </a:xfrm>
              <a:prstGeom prst="trapezoid">
                <a:avLst>
                  <a:gd name="adj" fmla="val 16602"/>
                </a:avLst>
              </a:prstGeom>
              <a:solidFill>
                <a:srgbClr val="00A19A"/>
              </a:solidFill>
              <a:ln>
                <a:noFill/>
                <a:headEnd type="none" w="med" len="med"/>
                <a:tailEnd type="triangle" w="med" len="med"/>
              </a:ln>
              <a:effectLst>
                <a:outerShdw blurRad="50800" dist="38100" dir="5400000" algn="t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C06A63-2D5E-4803-A4F7-4E50F5D159A0}"/>
                  </a:ext>
                </a:extLst>
              </p:cNvPr>
              <p:cNvSpPr txBox="1"/>
              <p:nvPr/>
            </p:nvSpPr>
            <p:spPr bwMode="auto">
              <a:xfrm>
                <a:off x="874656" y="1256789"/>
                <a:ext cx="31931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>
                <a:spAutoFit/>
              </a:bodyPr>
              <a:lstStyle/>
              <a:p>
                <a:pPr algn="l"/>
                <a:r>
                  <a:rPr lang="en-US" altLang="ko-KR" sz="1800" b="1" dirty="0">
                    <a:ln>
                      <a:solidFill>
                        <a:srgbClr val="000FBF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1800" b="1" dirty="0">
                  <a:ln>
                    <a:solidFill>
                      <a:srgbClr val="000FB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2351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포괄손익계산서</a:t>
            </a:r>
            <a:endParaRPr lang="ko-KR" altLang="en-US" sz="2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이익의 종류</a:t>
              </a:r>
            </a:p>
          </p:txBody>
        </p:sp>
      </p:grpSp>
      <p:sp>
        <p:nvSpPr>
          <p:cNvPr id="16" name="텍스트 개체 틀 7">
            <a:extLst>
              <a:ext uri="{FF2B5EF4-FFF2-40B4-BE49-F238E27FC236}">
                <a16:creationId xmlns:a16="http://schemas.microsoft.com/office/drawing/2014/main" id="{033B7715-4F26-4971-888C-F0B38942E520}"/>
              </a:ext>
            </a:extLst>
          </p:cNvPr>
          <p:cNvSpPr txBox="1">
            <a:spLocks/>
          </p:cNvSpPr>
          <p:nvPr/>
        </p:nvSpPr>
        <p:spPr>
          <a:xfrm>
            <a:off x="1379350" y="1842063"/>
            <a:ext cx="4811900" cy="1179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lvl="2" indent="-182563" algn="l" defTabSz="914126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당기순이익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÷  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총주식수 </a:t>
            </a:r>
            <a:endParaRPr lang="ko-KR" altLang="en-US" sz="1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2563" lvl="2" indent="-182563" algn="l" defTabSz="914126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주당 </a:t>
            </a:r>
            <a:r>
              <a:rPr lang="ko-KR" altLang="en-US" sz="18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당기순이익으로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주가 결정에 영향</a:t>
            </a:r>
          </a:p>
          <a:p>
            <a:pPr marL="182563" lvl="2" indent="-182563" algn="l" defTabSz="914126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규모가 다른 기업간 상대적인 수익성 비교 가능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7914217-11AA-47C2-A423-988BA642AB67}"/>
              </a:ext>
            </a:extLst>
          </p:cNvPr>
          <p:cNvGrpSpPr/>
          <p:nvPr/>
        </p:nvGrpSpPr>
        <p:grpSpPr>
          <a:xfrm>
            <a:off x="777520" y="1136679"/>
            <a:ext cx="5413729" cy="678064"/>
            <a:chOff x="683565" y="1165225"/>
            <a:chExt cx="5413729" cy="678064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5886CD7-7C6A-4304-A265-0CD708A79D68}"/>
                </a:ext>
              </a:extLst>
            </p:cNvPr>
            <p:cNvSpPr/>
            <p:nvPr/>
          </p:nvSpPr>
          <p:spPr bwMode="auto">
            <a:xfrm flipH="1">
              <a:off x="683565" y="1279927"/>
              <a:ext cx="5413729" cy="563362"/>
            </a:xfrm>
            <a:prstGeom prst="rect">
              <a:avLst/>
            </a:prstGeom>
            <a:solidFill>
              <a:srgbClr val="B9CBFF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텍스트 개체 틀 7">
              <a:extLst>
                <a:ext uri="{FF2B5EF4-FFF2-40B4-BE49-F238E27FC236}">
                  <a16:creationId xmlns:a16="http://schemas.microsoft.com/office/drawing/2014/main" id="{F7D4829A-9011-4914-8E24-3BB219A3BD31}"/>
                </a:ext>
              </a:extLst>
            </p:cNvPr>
            <p:cNvSpPr txBox="1">
              <a:spLocks/>
            </p:cNvSpPr>
            <p:nvPr/>
          </p:nvSpPr>
          <p:spPr>
            <a:xfrm>
              <a:off x="1262583" y="1386621"/>
              <a:ext cx="4527756" cy="369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latinLnBrk="0">
                <a:spcBef>
                  <a:spcPts val="5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  <a:buFont typeface="Wingdings" panose="05000000000000000000" pitchFamily="2" charset="2"/>
                <a:buNone/>
                <a:defRPr sz="1800" b="1" spc="0">
                  <a:solidFill>
                    <a:srgbClr val="153A7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spcBef>
                  <a:spcPts val="0"/>
                </a:spcBef>
              </a:pPr>
              <a:r>
                <a: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    </a:t>
              </a:r>
              <a:r>
                <a:rPr lang="en-US" altLang="ko-KR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&lt;</a:t>
              </a:r>
              <a:r>
                <a: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참고</a:t>
              </a:r>
              <a:r>
                <a:rPr lang="en-US" altLang="ko-KR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 </a:t>
              </a:r>
              <a:r>
                <a: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주당 </a:t>
              </a:r>
              <a:r>
                <a:rPr lang="ko-KR" altLang="en-US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당기순이익</a:t>
              </a:r>
              <a:endPara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30F3DC62-5509-402D-BD49-3A53B4308343}"/>
                </a:ext>
              </a:extLst>
            </p:cNvPr>
            <p:cNvGrpSpPr/>
            <p:nvPr/>
          </p:nvGrpSpPr>
          <p:grpSpPr>
            <a:xfrm>
              <a:off x="749226" y="1165225"/>
              <a:ext cx="723034" cy="590626"/>
              <a:chOff x="749226" y="1165225"/>
              <a:chExt cx="723034" cy="590626"/>
            </a:xfrm>
          </p:grpSpPr>
          <p:sp>
            <p:nvSpPr>
              <p:cNvPr id="26" name="이등변 삼각형 25">
                <a:extLst>
                  <a:ext uri="{FF2B5EF4-FFF2-40B4-BE49-F238E27FC236}">
                    <a16:creationId xmlns:a16="http://schemas.microsoft.com/office/drawing/2014/main" id="{FE490149-5EAB-4AB6-8770-6E11E84F2E1E}"/>
                  </a:ext>
                </a:extLst>
              </p:cNvPr>
              <p:cNvSpPr/>
              <p:nvPr/>
            </p:nvSpPr>
            <p:spPr bwMode="auto">
              <a:xfrm flipH="1">
                <a:off x="749226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" name="이등변 삼각형 26">
                <a:extLst>
                  <a:ext uri="{FF2B5EF4-FFF2-40B4-BE49-F238E27FC236}">
                    <a16:creationId xmlns:a16="http://schemas.microsoft.com/office/drawing/2014/main" id="{AAE31D5B-5A4C-42F0-B69B-2C34DCA99D9F}"/>
                  </a:ext>
                </a:extLst>
              </p:cNvPr>
              <p:cNvSpPr/>
              <p:nvPr/>
            </p:nvSpPr>
            <p:spPr bwMode="auto">
              <a:xfrm flipH="1">
                <a:off x="1190055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" name="사다리꼴 27">
                <a:extLst>
                  <a:ext uri="{FF2B5EF4-FFF2-40B4-BE49-F238E27FC236}">
                    <a16:creationId xmlns:a16="http://schemas.microsoft.com/office/drawing/2014/main" id="{17714580-B8A8-4E9A-8AEA-3C030A68C981}"/>
                  </a:ext>
                </a:extLst>
              </p:cNvPr>
              <p:cNvSpPr/>
              <p:nvPr/>
            </p:nvSpPr>
            <p:spPr bwMode="auto">
              <a:xfrm rot="10800000">
                <a:off x="815438" y="1167015"/>
                <a:ext cx="656822" cy="588836"/>
              </a:xfrm>
              <a:prstGeom prst="trapezoid">
                <a:avLst>
                  <a:gd name="adj" fmla="val 16602"/>
                </a:avLst>
              </a:prstGeom>
              <a:solidFill>
                <a:srgbClr val="00A19A"/>
              </a:solidFill>
              <a:ln>
                <a:noFill/>
                <a:headEnd type="none" w="med" len="med"/>
                <a:tailEnd type="triangle" w="med" len="med"/>
              </a:ln>
              <a:effectLst>
                <a:outerShdw blurRad="50800" dist="38100" dir="5400000" algn="t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C06A63-2D5E-4803-A4F7-4E50F5D159A0}"/>
                  </a:ext>
                </a:extLst>
              </p:cNvPr>
              <p:cNvSpPr txBox="1"/>
              <p:nvPr/>
            </p:nvSpPr>
            <p:spPr bwMode="auto">
              <a:xfrm>
                <a:off x="874655" y="1256790"/>
                <a:ext cx="59760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l"/>
                <a:r>
                  <a:rPr lang="en-US" altLang="ko-KR" sz="1800" b="1" dirty="0">
                    <a:ln>
                      <a:solidFill>
                        <a:srgbClr val="000FBF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3-1</a:t>
                </a:r>
                <a:endParaRPr lang="ko-KR" altLang="en-US" sz="1800" b="1" dirty="0">
                  <a:ln>
                    <a:solidFill>
                      <a:srgbClr val="000FB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286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포괄손익계산서</a:t>
            </a:r>
            <a:endParaRPr lang="ko-KR" altLang="en-US" sz="2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이익의 종류</a:t>
              </a:r>
            </a:p>
          </p:txBody>
        </p:sp>
      </p:grpSp>
      <p:sp>
        <p:nvSpPr>
          <p:cNvPr id="16" name="텍스트 개체 틀 7">
            <a:extLst>
              <a:ext uri="{FF2B5EF4-FFF2-40B4-BE49-F238E27FC236}">
                <a16:creationId xmlns:a16="http://schemas.microsoft.com/office/drawing/2014/main" id="{033B7715-4F26-4971-888C-F0B38942E520}"/>
              </a:ext>
            </a:extLst>
          </p:cNvPr>
          <p:cNvSpPr txBox="1">
            <a:spLocks/>
          </p:cNvSpPr>
          <p:nvPr/>
        </p:nvSpPr>
        <p:spPr>
          <a:xfrm>
            <a:off x="1379350" y="1842063"/>
            <a:ext cx="6216986" cy="774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lvl="2" indent="-182563" algn="l" defTabSz="914126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당기에는 실현되지 않았으나 미래에 실현될 것으로 예상되는 이익</a:t>
            </a:r>
            <a:endParaRPr lang="en-US" altLang="ko-KR" sz="1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2563" lvl="2" indent="-182563" algn="l" defTabSz="914126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예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자산재평가 이익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외화환산차익</a:t>
            </a:r>
            <a:r>
              <a:rPr lang="en-US" altLang="ko-KR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금융자산평가차익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7914217-11AA-47C2-A423-988BA642AB67}"/>
              </a:ext>
            </a:extLst>
          </p:cNvPr>
          <p:cNvGrpSpPr/>
          <p:nvPr/>
        </p:nvGrpSpPr>
        <p:grpSpPr>
          <a:xfrm>
            <a:off x="777520" y="1136679"/>
            <a:ext cx="5413729" cy="678064"/>
            <a:chOff x="683565" y="1165225"/>
            <a:chExt cx="5413729" cy="678064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5886CD7-7C6A-4304-A265-0CD708A79D68}"/>
                </a:ext>
              </a:extLst>
            </p:cNvPr>
            <p:cNvSpPr/>
            <p:nvPr/>
          </p:nvSpPr>
          <p:spPr bwMode="auto">
            <a:xfrm flipH="1">
              <a:off x="683565" y="1279927"/>
              <a:ext cx="5413729" cy="563362"/>
            </a:xfrm>
            <a:prstGeom prst="rect">
              <a:avLst/>
            </a:prstGeom>
            <a:solidFill>
              <a:srgbClr val="B9CBFF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텍스트 개체 틀 7">
              <a:extLst>
                <a:ext uri="{FF2B5EF4-FFF2-40B4-BE49-F238E27FC236}">
                  <a16:creationId xmlns:a16="http://schemas.microsoft.com/office/drawing/2014/main" id="{F7D4829A-9011-4914-8E24-3BB219A3BD31}"/>
                </a:ext>
              </a:extLst>
            </p:cNvPr>
            <p:cNvSpPr txBox="1">
              <a:spLocks/>
            </p:cNvSpPr>
            <p:nvPr/>
          </p:nvSpPr>
          <p:spPr>
            <a:xfrm>
              <a:off x="1262583" y="1386621"/>
              <a:ext cx="4527756" cy="369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latinLnBrk="0">
                <a:spcBef>
                  <a:spcPts val="5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  <a:buFont typeface="Wingdings" panose="05000000000000000000" pitchFamily="2" charset="2"/>
                <a:buNone/>
                <a:defRPr sz="1800" b="1" spc="0">
                  <a:solidFill>
                    <a:srgbClr val="153A7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spcBef>
                  <a:spcPts val="0"/>
                </a:spcBef>
              </a:pPr>
              <a:r>
                <a: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기타포괄이익</a:t>
              </a:r>
              <a:endPara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30F3DC62-5509-402D-BD49-3A53B4308343}"/>
                </a:ext>
              </a:extLst>
            </p:cNvPr>
            <p:cNvGrpSpPr/>
            <p:nvPr/>
          </p:nvGrpSpPr>
          <p:grpSpPr>
            <a:xfrm>
              <a:off x="749226" y="1165225"/>
              <a:ext cx="584845" cy="556222"/>
              <a:chOff x="749226" y="1165225"/>
              <a:chExt cx="584845" cy="556222"/>
            </a:xfrm>
          </p:grpSpPr>
          <p:sp>
            <p:nvSpPr>
              <p:cNvPr id="26" name="이등변 삼각형 25">
                <a:extLst>
                  <a:ext uri="{FF2B5EF4-FFF2-40B4-BE49-F238E27FC236}">
                    <a16:creationId xmlns:a16="http://schemas.microsoft.com/office/drawing/2014/main" id="{FE490149-5EAB-4AB6-8770-6E11E84F2E1E}"/>
                  </a:ext>
                </a:extLst>
              </p:cNvPr>
              <p:cNvSpPr/>
              <p:nvPr/>
            </p:nvSpPr>
            <p:spPr bwMode="auto">
              <a:xfrm flipH="1">
                <a:off x="749226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" name="이등변 삼각형 26">
                <a:extLst>
                  <a:ext uri="{FF2B5EF4-FFF2-40B4-BE49-F238E27FC236}">
                    <a16:creationId xmlns:a16="http://schemas.microsoft.com/office/drawing/2014/main" id="{AAE31D5B-5A4C-42F0-B69B-2C34DCA99D9F}"/>
                  </a:ext>
                </a:extLst>
              </p:cNvPr>
              <p:cNvSpPr/>
              <p:nvPr/>
            </p:nvSpPr>
            <p:spPr bwMode="auto">
              <a:xfrm flipH="1">
                <a:off x="1190055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" name="사다리꼴 27">
                <a:extLst>
                  <a:ext uri="{FF2B5EF4-FFF2-40B4-BE49-F238E27FC236}">
                    <a16:creationId xmlns:a16="http://schemas.microsoft.com/office/drawing/2014/main" id="{17714580-B8A8-4E9A-8AEA-3C030A68C981}"/>
                  </a:ext>
                </a:extLst>
              </p:cNvPr>
              <p:cNvSpPr/>
              <p:nvPr/>
            </p:nvSpPr>
            <p:spPr bwMode="auto">
              <a:xfrm rot="10800000">
                <a:off x="815438" y="1167016"/>
                <a:ext cx="444194" cy="554431"/>
              </a:xfrm>
              <a:prstGeom prst="trapezoid">
                <a:avLst>
                  <a:gd name="adj" fmla="val 16602"/>
                </a:avLst>
              </a:prstGeom>
              <a:solidFill>
                <a:srgbClr val="00A19A"/>
              </a:solidFill>
              <a:ln>
                <a:noFill/>
                <a:headEnd type="none" w="med" len="med"/>
                <a:tailEnd type="triangle" w="med" len="med"/>
              </a:ln>
              <a:effectLst>
                <a:outerShdw blurRad="50800" dist="38100" dir="5400000" algn="t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C06A63-2D5E-4803-A4F7-4E50F5D159A0}"/>
                  </a:ext>
                </a:extLst>
              </p:cNvPr>
              <p:cNvSpPr txBox="1"/>
              <p:nvPr/>
            </p:nvSpPr>
            <p:spPr bwMode="auto">
              <a:xfrm>
                <a:off x="874656" y="1256789"/>
                <a:ext cx="31931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>
                <a:spAutoFit/>
              </a:bodyPr>
              <a:lstStyle/>
              <a:p>
                <a:pPr algn="l"/>
                <a:r>
                  <a:rPr lang="en-US" altLang="ko-KR" sz="1800" b="1" dirty="0">
                    <a:ln>
                      <a:solidFill>
                        <a:srgbClr val="000FBF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5</a:t>
                </a:r>
                <a:endParaRPr lang="ko-KR" altLang="en-US" sz="1800" b="1" dirty="0">
                  <a:ln>
                    <a:solidFill>
                      <a:srgbClr val="000FB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sp>
        <p:nvSpPr>
          <p:cNvPr id="31" name="텍스트 개체 틀 7">
            <a:extLst>
              <a:ext uri="{FF2B5EF4-FFF2-40B4-BE49-F238E27FC236}">
                <a16:creationId xmlns:a16="http://schemas.microsoft.com/office/drawing/2014/main" id="{3C387420-EDD6-4FDD-8E4A-C3FAE016B026}"/>
              </a:ext>
            </a:extLst>
          </p:cNvPr>
          <p:cNvSpPr txBox="1">
            <a:spLocks/>
          </p:cNvSpPr>
          <p:nvPr/>
        </p:nvSpPr>
        <p:spPr>
          <a:xfrm>
            <a:off x="1383340" y="3707503"/>
            <a:ext cx="4726468" cy="369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2" tIns="45670" rIns="91342" bIns="45670">
            <a:spAutoFit/>
          </a:bodyPr>
          <a:lstStyle>
            <a:defPPr>
              <a:defRPr lang="ko-KR"/>
            </a:defPPr>
            <a:lvl1pPr indent="0" defTabSz="914126" fontAlgn="base" latinLnBrk="0">
              <a:spcBef>
                <a:spcPts val="700"/>
              </a:spcBef>
              <a:spcAft>
                <a:spcPts val="0"/>
              </a:spcAft>
              <a:buFont typeface="Wingdings" panose="05000000000000000000" pitchFamily="2" charset="2"/>
              <a:buNone/>
              <a:defRPr kumimoji="1" b="1" spc="10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82563" indent="-182563" algn="l">
              <a:spcBef>
                <a:spcPts val="500"/>
              </a:spcBef>
              <a:spcAft>
                <a:spcPts val="500"/>
              </a:spcAft>
              <a:buClr>
                <a:srgbClr val="218BFF"/>
              </a:buClr>
              <a:buFont typeface="Arial" panose="020B0604020202020204" pitchFamily="34" charset="0"/>
              <a:buChar char="•"/>
            </a:pP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당기순이익 </a:t>
            </a:r>
            <a:r>
              <a:rPr lang="en-US" altLang="ko-KR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 </a:t>
            </a:r>
            <a:r>
              <a:rPr lang="ko-KR" altLang="en-US" sz="18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기타포괄이익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2565A3E6-F5A0-4B91-8C32-61F410F04C25}"/>
              </a:ext>
            </a:extLst>
          </p:cNvPr>
          <p:cNvGrpSpPr/>
          <p:nvPr/>
        </p:nvGrpSpPr>
        <p:grpSpPr>
          <a:xfrm>
            <a:off x="781510" y="3002119"/>
            <a:ext cx="5413729" cy="678064"/>
            <a:chOff x="683565" y="1165225"/>
            <a:chExt cx="5413729" cy="678064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BA60EABF-7D5B-4D92-82F7-CD79803DDF6A}"/>
                </a:ext>
              </a:extLst>
            </p:cNvPr>
            <p:cNvSpPr/>
            <p:nvPr/>
          </p:nvSpPr>
          <p:spPr bwMode="auto">
            <a:xfrm flipH="1">
              <a:off x="683565" y="1279927"/>
              <a:ext cx="5413729" cy="563362"/>
            </a:xfrm>
            <a:prstGeom prst="rect">
              <a:avLst/>
            </a:prstGeom>
            <a:solidFill>
              <a:srgbClr val="B9CBFF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텍스트 개체 틀 7">
              <a:extLst>
                <a:ext uri="{FF2B5EF4-FFF2-40B4-BE49-F238E27FC236}">
                  <a16:creationId xmlns:a16="http://schemas.microsoft.com/office/drawing/2014/main" id="{E73C889A-BCCC-407D-8F60-F649D322A8F9}"/>
                </a:ext>
              </a:extLst>
            </p:cNvPr>
            <p:cNvSpPr txBox="1">
              <a:spLocks/>
            </p:cNvSpPr>
            <p:nvPr/>
          </p:nvSpPr>
          <p:spPr>
            <a:xfrm>
              <a:off x="1262583" y="1386621"/>
              <a:ext cx="4527756" cy="369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latinLnBrk="0">
                <a:spcBef>
                  <a:spcPts val="5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  <a:buFont typeface="Wingdings" panose="05000000000000000000" pitchFamily="2" charset="2"/>
                <a:buNone/>
                <a:defRPr sz="1800" b="1" spc="0">
                  <a:solidFill>
                    <a:srgbClr val="153A7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spcBef>
                  <a:spcPts val="0"/>
                </a:spcBef>
              </a:pPr>
              <a:r>
                <a:rPr lang="ko-KR" altLang="en-US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포괄이익</a:t>
              </a:r>
              <a:endPara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0F903EE6-B9C2-4702-A7A8-D34796BDE630}"/>
                </a:ext>
              </a:extLst>
            </p:cNvPr>
            <p:cNvGrpSpPr/>
            <p:nvPr/>
          </p:nvGrpSpPr>
          <p:grpSpPr>
            <a:xfrm>
              <a:off x="749226" y="1165225"/>
              <a:ext cx="584845" cy="556222"/>
              <a:chOff x="749226" y="1165225"/>
              <a:chExt cx="584845" cy="556222"/>
            </a:xfrm>
          </p:grpSpPr>
          <p:sp>
            <p:nvSpPr>
              <p:cNvPr id="36" name="이등변 삼각형 35">
                <a:extLst>
                  <a:ext uri="{FF2B5EF4-FFF2-40B4-BE49-F238E27FC236}">
                    <a16:creationId xmlns:a16="http://schemas.microsoft.com/office/drawing/2014/main" id="{AFE6C5BA-C735-4B1A-BDEA-3E884A3C9F21}"/>
                  </a:ext>
                </a:extLst>
              </p:cNvPr>
              <p:cNvSpPr/>
              <p:nvPr/>
            </p:nvSpPr>
            <p:spPr bwMode="auto">
              <a:xfrm flipH="1">
                <a:off x="749226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" name="이등변 삼각형 36">
                <a:extLst>
                  <a:ext uri="{FF2B5EF4-FFF2-40B4-BE49-F238E27FC236}">
                    <a16:creationId xmlns:a16="http://schemas.microsoft.com/office/drawing/2014/main" id="{45EEA857-9E96-4F44-9F3F-1FB370E32D01}"/>
                  </a:ext>
                </a:extLst>
              </p:cNvPr>
              <p:cNvSpPr/>
              <p:nvPr/>
            </p:nvSpPr>
            <p:spPr bwMode="auto">
              <a:xfrm flipH="1">
                <a:off x="1190055" y="1165225"/>
                <a:ext cx="144016" cy="114300"/>
              </a:xfrm>
              <a:prstGeom prst="triangle">
                <a:avLst>
                  <a:gd name="adj" fmla="val 55115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" name="사다리꼴 37">
                <a:extLst>
                  <a:ext uri="{FF2B5EF4-FFF2-40B4-BE49-F238E27FC236}">
                    <a16:creationId xmlns:a16="http://schemas.microsoft.com/office/drawing/2014/main" id="{3271A70C-283B-4628-B943-73ECA97C74B4}"/>
                  </a:ext>
                </a:extLst>
              </p:cNvPr>
              <p:cNvSpPr/>
              <p:nvPr/>
            </p:nvSpPr>
            <p:spPr bwMode="auto">
              <a:xfrm rot="10800000">
                <a:off x="815438" y="1167016"/>
                <a:ext cx="444194" cy="554431"/>
              </a:xfrm>
              <a:prstGeom prst="trapezoid">
                <a:avLst>
                  <a:gd name="adj" fmla="val 16602"/>
                </a:avLst>
              </a:prstGeom>
              <a:solidFill>
                <a:srgbClr val="00A19A"/>
              </a:solidFill>
              <a:ln>
                <a:noFill/>
                <a:headEnd type="none" w="med" len="med"/>
                <a:tailEnd type="triangle" w="med" len="med"/>
              </a:ln>
              <a:effectLst>
                <a:outerShdw blurRad="50800" dist="38100" dir="5400000" algn="t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algn="l"/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2CDB5EB-7F21-4BE1-B7C4-61B8DF4BB659}"/>
                  </a:ext>
                </a:extLst>
              </p:cNvPr>
              <p:cNvSpPr txBox="1"/>
              <p:nvPr/>
            </p:nvSpPr>
            <p:spPr bwMode="auto">
              <a:xfrm>
                <a:off x="874656" y="1256789"/>
                <a:ext cx="31931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>
                <a:spAutoFit/>
              </a:bodyPr>
              <a:lstStyle/>
              <a:p>
                <a:pPr algn="l"/>
                <a:r>
                  <a:rPr lang="en-US" altLang="ko-KR" sz="1800" b="1" dirty="0">
                    <a:ln>
                      <a:solidFill>
                        <a:srgbClr val="000FBF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6</a:t>
                </a:r>
                <a:endParaRPr lang="ko-KR" altLang="en-US" sz="1800" b="1" dirty="0">
                  <a:ln>
                    <a:solidFill>
                      <a:srgbClr val="000FB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629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8100">
          <a:noFill/>
        </a:ln>
        <a:effectLst>
          <a:outerShdw blurRad="50800" dist="38100" dir="5400000" algn="t" rotWithShape="0">
            <a:schemeClr val="bg1">
              <a:lumMod val="50000"/>
              <a:alpha val="41000"/>
            </a:scheme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 defTabSz="744139" fontAlgn="auto">
          <a:spcBef>
            <a:spcPts val="488"/>
          </a:spcBef>
          <a:spcAft>
            <a:spcPts val="814"/>
          </a:spcAft>
          <a:buClr>
            <a:prstClr val="white">
              <a:lumMod val="50000"/>
            </a:prstClr>
          </a:buClr>
          <a:defRPr kumimoji="0" sz="1800" spc="-122" dirty="0">
            <a:ln>
              <a:solidFill>
                <a:srgbClr val="E2E2E2">
                  <a:alpha val="0"/>
                </a:srgbClr>
              </a:solidFill>
            </a:ln>
            <a:solidFill>
              <a:prstClr val="black"/>
            </a:solidFill>
            <a:latin typeface="나눔바른고딕" panose="020B0603020101020101" pitchFamily="50" charset="-127"/>
            <a:ea typeface="나눔바른고딕" panose="020B060302010102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71779</TotalTime>
  <Words>428</Words>
  <Application>Microsoft Office PowerPoint</Application>
  <PresentationFormat>화면 슬라이드 쇼(16:9)</PresentationFormat>
  <Paragraphs>128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Wingdings</vt:lpstr>
      <vt:lpstr>나눔고딕</vt:lpstr>
      <vt:lpstr>Arial</vt:lpstr>
      <vt:lpstr>돋움</vt:lpstr>
      <vt:lpstr>나눔바른고딕</vt:lpstr>
      <vt:lpstr>5_Office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CELK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스토리보드</dc:title>
  <dc:creator>CELK</dc:creator>
  <cp:lastModifiedBy>위성백</cp:lastModifiedBy>
  <cp:revision>5820</cp:revision>
  <cp:lastPrinted>2015-05-26T08:39:57Z</cp:lastPrinted>
  <dcterms:created xsi:type="dcterms:W3CDTF">2004-07-08T01:15:15Z</dcterms:created>
  <dcterms:modified xsi:type="dcterms:W3CDTF">2024-10-06T12:28:07Z</dcterms:modified>
</cp:coreProperties>
</file>
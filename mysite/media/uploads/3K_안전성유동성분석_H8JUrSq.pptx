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5081" r:id="rId1"/>
  </p:sldMasterIdLst>
  <p:notesMasterIdLst>
    <p:notesMasterId r:id="rId10"/>
  </p:notesMasterIdLst>
  <p:handoutMasterIdLst>
    <p:handoutMasterId r:id="rId11"/>
  </p:handoutMasterIdLst>
  <p:sldIdLst>
    <p:sldId id="1455" r:id="rId2"/>
    <p:sldId id="1537" r:id="rId3"/>
    <p:sldId id="1538" r:id="rId4"/>
    <p:sldId id="1543" r:id="rId5"/>
    <p:sldId id="1539" r:id="rId6"/>
    <p:sldId id="1540" r:id="rId7"/>
    <p:sldId id="1541" r:id="rId8"/>
    <p:sldId id="1544" r:id="rId9"/>
  </p:sldIdLst>
  <p:sldSz cx="9144000" cy="5143500" type="screen16x9"/>
  <p:notesSz cx="6735763" cy="9866313"/>
  <p:embeddedFontLst>
    <p:embeddedFont>
      <p:font typeface="나눔바른고딕" panose="020B0600000101010101" charset="-127"/>
      <p:regular r:id="rId12"/>
      <p:bold r:id="rId13"/>
    </p:embeddedFont>
    <p:embeddedFont>
      <p:font typeface="나눔고딕" pitchFamily="2" charset="-127"/>
      <p:regular r:id="rId14"/>
      <p:bold r:id="rId15"/>
    </p:embeddedFont>
  </p:embeddedFontLst>
  <p:defaultTextStyle>
    <a:defPPr>
      <a:defRPr lang="ko-KR"/>
    </a:defPPr>
    <a:lvl1pPr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89582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779163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168745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558326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1947908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337489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2727071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116652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395" userDrawn="1">
          <p15:clr>
            <a:srgbClr val="A4A3A4"/>
          </p15:clr>
        </p15:guide>
        <p15:guide id="45" orient="horz" pos="577" userDrawn="1">
          <p15:clr>
            <a:srgbClr val="A4A3A4"/>
          </p15:clr>
        </p15:guide>
        <p15:guide id="49" orient="horz" pos="713" userDrawn="1">
          <p15:clr>
            <a:srgbClr val="A4A3A4"/>
          </p15:clr>
        </p15:guide>
        <p15:guide id="52" pos="793" userDrawn="1">
          <p15:clr>
            <a:srgbClr val="A4A3A4"/>
          </p15:clr>
        </p15:guide>
        <p15:guide id="61" orient="horz" pos="32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  <p15:guide id="3" orient="horz" pos="3107">
          <p15:clr>
            <a:srgbClr val="A4A3A4"/>
          </p15:clr>
        </p15:guide>
        <p15:guide id="4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BFF"/>
    <a:srgbClr val="FF3300"/>
    <a:srgbClr val="8B5DD9"/>
    <a:srgbClr val="4527A1"/>
    <a:srgbClr val="673BB7"/>
    <a:srgbClr val="00645F"/>
    <a:srgbClr val="00C0A0"/>
    <a:srgbClr val="00A19A"/>
    <a:srgbClr val="5D87FF"/>
    <a:srgbClr val="91A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96" autoAdjust="0"/>
    <p:restoredTop sz="95854" autoAdjust="0"/>
  </p:normalViewPr>
  <p:slideViewPr>
    <p:cSldViewPr>
      <p:cViewPr varScale="1">
        <p:scale>
          <a:sx n="73" d="100"/>
          <a:sy n="73" d="100"/>
        </p:scale>
        <p:origin x="872" y="60"/>
      </p:cViewPr>
      <p:guideLst>
        <p:guide orient="horz" pos="395"/>
        <p:guide orient="horz" pos="577"/>
        <p:guide orient="horz" pos="713"/>
        <p:guide pos="793"/>
        <p:guide orient="horz" pos="3240"/>
      </p:guideLst>
    </p:cSldViewPr>
  </p:slideViewPr>
  <p:outlineViewPr>
    <p:cViewPr>
      <p:scale>
        <a:sx n="33" d="100"/>
        <a:sy n="33" d="100"/>
      </p:scale>
      <p:origin x="36" y="14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120" y="96"/>
      </p:cViewPr>
      <p:guideLst>
        <p:guide orient="horz" pos="3130"/>
        <p:guide pos="2144"/>
        <p:guide orient="horz" pos="3107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572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pPr>
              <a:defRPr/>
            </a:pPr>
            <a:fld id="{995E349A-2F5C-4CD5-9D55-29F99897CE80}" type="datetimeFigureOut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2024-09-24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572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pPr>
              <a:defRPr/>
            </a:pPr>
            <a:fld id="{EE633E7D-3427-42F4-A51F-CFCCA527B5A1}" type="slidenum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‹#›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1965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142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2550" y="741363"/>
            <a:ext cx="657225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4963"/>
            <a:ext cx="5387982" cy="444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142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57F922E9-5D2F-476E-8777-0371A815ABE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6879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389582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779163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168745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558326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1947908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127A71-4278-454A-B20A-239BAC3E84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0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FAE5FD-287A-4DCC-94A4-9D28B66F18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8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3D9466-BB4C-408A-B309-AFC79B0E8A17}"/>
              </a:ext>
            </a:extLst>
          </p:cNvPr>
          <p:cNvSpPr/>
          <p:nvPr userDrawn="1"/>
        </p:nvSpPr>
        <p:spPr bwMode="auto">
          <a:xfrm>
            <a:off x="8317728" y="-884634"/>
            <a:ext cx="826272" cy="826272"/>
          </a:xfrm>
          <a:prstGeom prst="rect">
            <a:avLst/>
          </a:prstGeom>
          <a:solidFill>
            <a:srgbClr val="F8E618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6FEB3A-5702-4478-B6A4-D8F5ECA56838}"/>
              </a:ext>
            </a:extLst>
          </p:cNvPr>
          <p:cNvSpPr/>
          <p:nvPr userDrawn="1"/>
        </p:nvSpPr>
        <p:spPr bwMode="auto">
          <a:xfrm>
            <a:off x="7452320" y="-884634"/>
            <a:ext cx="826272" cy="826272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사각형</a:t>
            </a:r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BB67F9-25B4-4748-BCB2-4F8E7D0E2DD9}"/>
              </a:ext>
            </a:extLst>
          </p:cNvPr>
          <p:cNvSpPr/>
          <p:nvPr userDrawn="1"/>
        </p:nvSpPr>
        <p:spPr bwMode="auto">
          <a:xfrm>
            <a:off x="6588224" y="-884634"/>
            <a:ext cx="826272" cy="826272"/>
          </a:xfrm>
          <a:prstGeom prst="rect">
            <a:avLst/>
          </a:prstGeom>
          <a:solidFill>
            <a:srgbClr val="FF330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E07E710-DA50-44D7-98B7-3B858DE1E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4A494B-ACC8-4974-990E-AE275BBFEF48}"/>
              </a:ext>
            </a:extLst>
          </p:cNvPr>
          <p:cNvSpPr/>
          <p:nvPr userDrawn="1"/>
        </p:nvSpPr>
        <p:spPr bwMode="auto">
          <a:xfrm>
            <a:off x="-5734" y="-536469"/>
            <a:ext cx="466409" cy="466409"/>
          </a:xfrm>
          <a:prstGeom prst="rect">
            <a:avLst/>
          </a:prstGeom>
          <a:solidFill>
            <a:srgbClr val="4527A1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E135E5-6BDA-49BA-BA7F-9451CADBBE23}"/>
              </a:ext>
            </a:extLst>
          </p:cNvPr>
          <p:cNvSpPr/>
          <p:nvPr userDrawn="1"/>
        </p:nvSpPr>
        <p:spPr bwMode="auto">
          <a:xfrm>
            <a:off x="591972" y="-536469"/>
            <a:ext cx="466409" cy="466409"/>
          </a:xfrm>
          <a:prstGeom prst="rect">
            <a:avLst/>
          </a:prstGeom>
          <a:solidFill>
            <a:srgbClr val="673BB7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B851AE-C349-42C6-AB5B-682582C6637B}"/>
              </a:ext>
            </a:extLst>
          </p:cNvPr>
          <p:cNvSpPr/>
          <p:nvPr userDrawn="1"/>
        </p:nvSpPr>
        <p:spPr bwMode="auto">
          <a:xfrm>
            <a:off x="1189678" y="-536469"/>
            <a:ext cx="466409" cy="466409"/>
          </a:xfrm>
          <a:prstGeom prst="rect">
            <a:avLst/>
          </a:prstGeom>
          <a:solidFill>
            <a:srgbClr val="8B5DD9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61DC06-D50A-453E-93B2-9BEC30E327ED}"/>
              </a:ext>
            </a:extLst>
          </p:cNvPr>
          <p:cNvSpPr/>
          <p:nvPr userDrawn="1"/>
        </p:nvSpPr>
        <p:spPr bwMode="auto">
          <a:xfrm>
            <a:off x="4178208" y="-536469"/>
            <a:ext cx="466409" cy="466409"/>
          </a:xfrm>
          <a:prstGeom prst="rect">
            <a:avLst/>
          </a:prstGeom>
          <a:solidFill>
            <a:srgbClr val="218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79BCBD-9F7F-4ADC-B2BB-FBCF03C54322}"/>
              </a:ext>
            </a:extLst>
          </p:cNvPr>
          <p:cNvSpPr/>
          <p:nvPr userDrawn="1"/>
        </p:nvSpPr>
        <p:spPr bwMode="auto">
          <a:xfrm>
            <a:off x="1787384" y="-536469"/>
            <a:ext cx="466409" cy="466409"/>
          </a:xfrm>
          <a:prstGeom prst="rect">
            <a:avLst/>
          </a:prstGeom>
          <a:solidFill>
            <a:srgbClr val="A282D4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C90F2A-3E39-407A-9069-45DD1FB7D871}"/>
              </a:ext>
            </a:extLst>
          </p:cNvPr>
          <p:cNvSpPr/>
          <p:nvPr userDrawn="1"/>
        </p:nvSpPr>
        <p:spPr bwMode="auto">
          <a:xfrm>
            <a:off x="4775914" y="-536469"/>
            <a:ext cx="466409" cy="466409"/>
          </a:xfrm>
          <a:prstGeom prst="rect">
            <a:avLst/>
          </a:prstGeom>
          <a:solidFill>
            <a:srgbClr val="215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A956BB-5771-4553-B13E-1E71490C76F2}"/>
              </a:ext>
            </a:extLst>
          </p:cNvPr>
          <p:cNvSpPr/>
          <p:nvPr userDrawn="1"/>
        </p:nvSpPr>
        <p:spPr bwMode="auto">
          <a:xfrm>
            <a:off x="5373620" y="-536469"/>
            <a:ext cx="466409" cy="466409"/>
          </a:xfrm>
          <a:prstGeom prst="rect">
            <a:avLst/>
          </a:prstGeom>
          <a:solidFill>
            <a:srgbClr val="5D87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0B9687-547F-45C2-8540-360F2F7BA86B}"/>
              </a:ext>
            </a:extLst>
          </p:cNvPr>
          <p:cNvSpPr/>
          <p:nvPr userDrawn="1"/>
        </p:nvSpPr>
        <p:spPr bwMode="auto">
          <a:xfrm>
            <a:off x="3580502" y="-536469"/>
            <a:ext cx="466409" cy="466409"/>
          </a:xfrm>
          <a:prstGeom prst="rect">
            <a:avLst/>
          </a:prstGeom>
          <a:solidFill>
            <a:srgbClr val="67C1B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407C5BD-22B9-4E2C-B9CA-C3A88BB62E91}"/>
              </a:ext>
            </a:extLst>
          </p:cNvPr>
          <p:cNvSpPr/>
          <p:nvPr userDrawn="1"/>
        </p:nvSpPr>
        <p:spPr bwMode="auto">
          <a:xfrm>
            <a:off x="5971325" y="-536469"/>
            <a:ext cx="466409" cy="466409"/>
          </a:xfrm>
          <a:prstGeom prst="rect">
            <a:avLst/>
          </a:prstGeom>
          <a:solidFill>
            <a:srgbClr val="91AD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7E8FEC-0C83-450E-B519-ED269F611B99}"/>
              </a:ext>
            </a:extLst>
          </p:cNvPr>
          <p:cNvSpPr/>
          <p:nvPr userDrawn="1"/>
        </p:nvSpPr>
        <p:spPr bwMode="auto">
          <a:xfrm>
            <a:off x="2385090" y="-536469"/>
            <a:ext cx="466409" cy="466409"/>
          </a:xfrm>
          <a:prstGeom prst="rect">
            <a:avLst/>
          </a:prstGeom>
          <a:solidFill>
            <a:srgbClr val="00A19A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078189-E883-43CA-A6A2-E3CFDB98FF2A}"/>
              </a:ext>
            </a:extLst>
          </p:cNvPr>
          <p:cNvSpPr/>
          <p:nvPr userDrawn="1"/>
        </p:nvSpPr>
        <p:spPr bwMode="auto">
          <a:xfrm>
            <a:off x="2982796" y="-536469"/>
            <a:ext cx="466409" cy="466409"/>
          </a:xfrm>
          <a:prstGeom prst="rect">
            <a:avLst/>
          </a:prstGeom>
          <a:solidFill>
            <a:srgbClr val="00C0A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447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7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A8C4361-DE38-4B27-9BF7-2004C17110D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schemeClr val="bg1">
                <a:lumMod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744139" fontAlgn="auto">
              <a:spcBef>
                <a:spcPts val="488"/>
              </a:spcBef>
              <a:spcAft>
                <a:spcPts val="814"/>
              </a:spcAft>
              <a:buClr>
                <a:prstClr val="white">
                  <a:lumMod val="50000"/>
                </a:prstClr>
              </a:buClr>
            </a:pPr>
            <a:endParaRPr kumimoji="0" lang="ko-KR" altLang="en-US" sz="1800" spc="-122" dirty="0">
              <a:ln>
                <a:solidFill>
                  <a:srgbClr val="E2E2E2">
                    <a:alpha val="0"/>
                  </a:srgb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55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04267F-1C34-4546-B38C-836557DA02D1}"/>
              </a:ext>
            </a:extLst>
          </p:cNvPr>
          <p:cNvSpPr/>
          <p:nvPr userDrawn="1"/>
        </p:nvSpPr>
        <p:spPr bwMode="auto">
          <a:xfrm>
            <a:off x="8317728" y="-884634"/>
            <a:ext cx="826272" cy="826272"/>
          </a:xfrm>
          <a:prstGeom prst="rect">
            <a:avLst/>
          </a:prstGeom>
          <a:solidFill>
            <a:srgbClr val="F8E618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D53DEAF-2726-4223-9403-9BCD32387EF0}"/>
              </a:ext>
            </a:extLst>
          </p:cNvPr>
          <p:cNvSpPr/>
          <p:nvPr userDrawn="1"/>
        </p:nvSpPr>
        <p:spPr bwMode="auto">
          <a:xfrm>
            <a:off x="7452320" y="-884634"/>
            <a:ext cx="826272" cy="826272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사각형</a:t>
            </a:r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6B396E-78F6-46D9-A8F1-9EE1D2142B77}"/>
              </a:ext>
            </a:extLst>
          </p:cNvPr>
          <p:cNvSpPr/>
          <p:nvPr userDrawn="1"/>
        </p:nvSpPr>
        <p:spPr bwMode="auto">
          <a:xfrm>
            <a:off x="6588224" y="-884634"/>
            <a:ext cx="826272" cy="826272"/>
          </a:xfrm>
          <a:prstGeom prst="rect">
            <a:avLst/>
          </a:prstGeom>
          <a:solidFill>
            <a:srgbClr val="FF330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6CC06E-7686-447F-9A5B-99DFFFABCA4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schemeClr val="bg1">
                <a:lumMod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744139" fontAlgn="auto">
              <a:spcBef>
                <a:spcPts val="488"/>
              </a:spcBef>
              <a:spcAft>
                <a:spcPts val="814"/>
              </a:spcAft>
              <a:buClr>
                <a:prstClr val="white">
                  <a:lumMod val="50000"/>
                </a:prstClr>
              </a:buClr>
            </a:pPr>
            <a:endParaRPr kumimoji="0" lang="ko-KR" altLang="en-US" sz="1800" spc="-122" dirty="0">
              <a:ln>
                <a:solidFill>
                  <a:srgbClr val="E2E2E2">
                    <a:alpha val="0"/>
                  </a:srgb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030707-3C6D-4AAD-A29F-EE3505B1104A}"/>
              </a:ext>
            </a:extLst>
          </p:cNvPr>
          <p:cNvSpPr/>
          <p:nvPr userDrawn="1"/>
        </p:nvSpPr>
        <p:spPr bwMode="auto">
          <a:xfrm>
            <a:off x="-5734" y="-536469"/>
            <a:ext cx="466409" cy="466409"/>
          </a:xfrm>
          <a:prstGeom prst="rect">
            <a:avLst/>
          </a:prstGeom>
          <a:solidFill>
            <a:srgbClr val="4527A1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EB5E4E-D0FC-4A5D-BBC0-A1D3F1526664}"/>
              </a:ext>
            </a:extLst>
          </p:cNvPr>
          <p:cNvSpPr/>
          <p:nvPr userDrawn="1"/>
        </p:nvSpPr>
        <p:spPr bwMode="auto">
          <a:xfrm>
            <a:off x="591972" y="-536469"/>
            <a:ext cx="466409" cy="466409"/>
          </a:xfrm>
          <a:prstGeom prst="rect">
            <a:avLst/>
          </a:prstGeom>
          <a:solidFill>
            <a:srgbClr val="673BB7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94BDDE-62D5-4AA6-B176-C08321660FA7}"/>
              </a:ext>
            </a:extLst>
          </p:cNvPr>
          <p:cNvSpPr/>
          <p:nvPr userDrawn="1"/>
        </p:nvSpPr>
        <p:spPr bwMode="auto">
          <a:xfrm>
            <a:off x="1189678" y="-536469"/>
            <a:ext cx="466409" cy="466409"/>
          </a:xfrm>
          <a:prstGeom prst="rect">
            <a:avLst/>
          </a:prstGeom>
          <a:solidFill>
            <a:srgbClr val="8B5DD9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C27529-05AC-478F-8C95-A270FB72DE6C}"/>
              </a:ext>
            </a:extLst>
          </p:cNvPr>
          <p:cNvSpPr/>
          <p:nvPr userDrawn="1"/>
        </p:nvSpPr>
        <p:spPr bwMode="auto">
          <a:xfrm>
            <a:off x="4178208" y="-536469"/>
            <a:ext cx="466409" cy="466409"/>
          </a:xfrm>
          <a:prstGeom prst="rect">
            <a:avLst/>
          </a:prstGeom>
          <a:solidFill>
            <a:srgbClr val="218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12122B-50F1-4745-8622-05584125BA3F}"/>
              </a:ext>
            </a:extLst>
          </p:cNvPr>
          <p:cNvSpPr/>
          <p:nvPr userDrawn="1"/>
        </p:nvSpPr>
        <p:spPr bwMode="auto">
          <a:xfrm>
            <a:off x="1787384" y="-536469"/>
            <a:ext cx="466409" cy="466409"/>
          </a:xfrm>
          <a:prstGeom prst="rect">
            <a:avLst/>
          </a:prstGeom>
          <a:solidFill>
            <a:srgbClr val="A282D4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60CA21-7432-4445-BE8C-6FD43D3D7F1D}"/>
              </a:ext>
            </a:extLst>
          </p:cNvPr>
          <p:cNvSpPr/>
          <p:nvPr userDrawn="1"/>
        </p:nvSpPr>
        <p:spPr bwMode="auto">
          <a:xfrm>
            <a:off x="4775914" y="-536469"/>
            <a:ext cx="466409" cy="466409"/>
          </a:xfrm>
          <a:prstGeom prst="rect">
            <a:avLst/>
          </a:prstGeom>
          <a:solidFill>
            <a:srgbClr val="215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D21520-97CB-4C21-8053-A02EDAC81930}"/>
              </a:ext>
            </a:extLst>
          </p:cNvPr>
          <p:cNvSpPr/>
          <p:nvPr userDrawn="1"/>
        </p:nvSpPr>
        <p:spPr bwMode="auto">
          <a:xfrm>
            <a:off x="5373620" y="-536469"/>
            <a:ext cx="466409" cy="466409"/>
          </a:xfrm>
          <a:prstGeom prst="rect">
            <a:avLst/>
          </a:prstGeom>
          <a:solidFill>
            <a:srgbClr val="5D87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25E2EED-C4FD-40CE-86A4-1B343D54C2BD}"/>
              </a:ext>
            </a:extLst>
          </p:cNvPr>
          <p:cNvSpPr/>
          <p:nvPr userDrawn="1"/>
        </p:nvSpPr>
        <p:spPr bwMode="auto">
          <a:xfrm>
            <a:off x="3580502" y="-536469"/>
            <a:ext cx="466409" cy="466409"/>
          </a:xfrm>
          <a:prstGeom prst="rect">
            <a:avLst/>
          </a:prstGeom>
          <a:solidFill>
            <a:srgbClr val="67C1B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AC0B731-3434-4985-8F75-6A2B8C4A9513}"/>
              </a:ext>
            </a:extLst>
          </p:cNvPr>
          <p:cNvSpPr/>
          <p:nvPr userDrawn="1"/>
        </p:nvSpPr>
        <p:spPr bwMode="auto">
          <a:xfrm>
            <a:off x="5971325" y="-536469"/>
            <a:ext cx="466409" cy="466409"/>
          </a:xfrm>
          <a:prstGeom prst="rect">
            <a:avLst/>
          </a:prstGeom>
          <a:solidFill>
            <a:srgbClr val="91AD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34DB4F-1724-4ECB-9BA5-8872477F31FD}"/>
              </a:ext>
            </a:extLst>
          </p:cNvPr>
          <p:cNvSpPr/>
          <p:nvPr userDrawn="1"/>
        </p:nvSpPr>
        <p:spPr bwMode="auto">
          <a:xfrm>
            <a:off x="2385090" y="-536469"/>
            <a:ext cx="466409" cy="466409"/>
          </a:xfrm>
          <a:prstGeom prst="rect">
            <a:avLst/>
          </a:prstGeom>
          <a:solidFill>
            <a:srgbClr val="00A19A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E08EE-E8F2-498E-A322-A8A55C2CE63D}"/>
              </a:ext>
            </a:extLst>
          </p:cNvPr>
          <p:cNvSpPr/>
          <p:nvPr userDrawn="1"/>
        </p:nvSpPr>
        <p:spPr bwMode="auto">
          <a:xfrm>
            <a:off x="2982796" y="-536469"/>
            <a:ext cx="466409" cy="466409"/>
          </a:xfrm>
          <a:prstGeom prst="rect">
            <a:avLst/>
          </a:prstGeom>
          <a:solidFill>
            <a:srgbClr val="00C0A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0F5253E-8BFF-4425-9049-DC1E595CC1F2}"/>
              </a:ext>
            </a:extLst>
          </p:cNvPr>
          <p:cNvGrpSpPr/>
          <p:nvPr userDrawn="1"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3A64F86-940E-4BF7-8CFE-0CD91DA6546A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D96D1650-7DF9-4A3C-AE15-93F8313D8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BF3E607-3C51-46E3-B65F-B1032BD1ABC7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A7460B-9940-4FF6-8FD1-1FA2EC485E36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경영전략의 의미</a:t>
              </a:r>
              <a:endParaRPr lang="en-US" altLang="ko-KR" sz="22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itchFamily="50" charset="-127"/>
                <a:ea typeface="나눔바른고딕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6C475E5-2116-402E-B0EF-AA9F67D73153}"/>
              </a:ext>
            </a:extLst>
          </p:cNvPr>
          <p:cNvGrpSpPr/>
          <p:nvPr userDrawn="1"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AD2C70D9-906D-4E59-84F1-BB6F12A3E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38" name="텍스트 개체 틀 7">
              <a:extLst>
                <a:ext uri="{FF2B5EF4-FFF2-40B4-BE49-F238E27FC236}">
                  <a16:creationId xmlns:a16="http://schemas.microsoft.com/office/drawing/2014/main" id="{0FEDE636-6708-4786-9FD4-9CBEE425283E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전략이란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440BAB6-9C99-42FA-AF08-2A23B6473B55}"/>
              </a:ext>
            </a:extLst>
          </p:cNvPr>
          <p:cNvGrpSpPr/>
          <p:nvPr userDrawn="1"/>
        </p:nvGrpSpPr>
        <p:grpSpPr>
          <a:xfrm>
            <a:off x="1001439" y="1481677"/>
            <a:ext cx="5226324" cy="707785"/>
            <a:chOff x="1001439" y="1481677"/>
            <a:chExt cx="5226324" cy="707785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AC77D564-D701-487B-9ED1-A5E80F459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1" name="텍스트 개체 틀 7">
              <a:extLst>
                <a:ext uri="{FF2B5EF4-FFF2-40B4-BE49-F238E27FC236}">
                  <a16:creationId xmlns:a16="http://schemas.microsoft.com/office/drawing/2014/main" id="{3565DC71-9B60-4CEF-9E8D-2DC383DD463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032853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일반 경영자가 전략 수립을 위해 관계를 창출해야 하는 요소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519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2" r:id="rId1"/>
    <p:sldLayoutId id="2147485083" r:id="rId2"/>
    <p:sldLayoutId id="2147485084" r:id="rId3"/>
    <p:sldLayoutId id="2147485085" r:id="rId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72">
          <p15:clr>
            <a:srgbClr val="F26B43"/>
          </p15:clr>
        </p15:guide>
        <p15:guide id="2" pos="204">
          <p15:clr>
            <a:srgbClr val="F26B43"/>
          </p15:clr>
        </p15:guide>
        <p15:guide id="3" pos="295">
          <p15:clr>
            <a:srgbClr val="F26B43"/>
          </p15:clr>
        </p15:guide>
        <p15:guide id="4" pos="5511">
          <p15:clr>
            <a:srgbClr val="F26B43"/>
          </p15:clr>
        </p15:guide>
        <p15:guide id="5" orient="horz" pos="577">
          <p15:clr>
            <a:srgbClr val="F26B43"/>
          </p15:clr>
        </p15:guide>
        <p15:guide id="6" orient="horz" pos="985" userDrawn="1">
          <p15:clr>
            <a:srgbClr val="F26B43"/>
          </p15:clr>
        </p15:guide>
        <p15:guide id="7" pos="3900">
          <p15:clr>
            <a:srgbClr val="F26B43"/>
          </p15:clr>
        </p15:guide>
        <p15:guide id="8" pos="408">
          <p15:clr>
            <a:srgbClr val="F26B43"/>
          </p15:clr>
        </p15:guide>
        <p15:guide id="9" pos="486">
          <p15:clr>
            <a:srgbClr val="F26B43"/>
          </p15:clr>
        </p15:guide>
        <p15:guide id="10" pos="612">
          <p15:clr>
            <a:srgbClr val="F26B43"/>
          </p15:clr>
        </p15:guide>
        <p15:guide id="11" pos="788">
          <p15:clr>
            <a:srgbClr val="F26B43"/>
          </p15:clr>
        </p15:guide>
        <p15:guide id="12" orient="horz" pos="715">
          <p15:clr>
            <a:srgbClr val="F26B43"/>
          </p15:clr>
        </p15:guide>
        <p15:guide id="13" orient="horz" pos="3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 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·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유동성 분석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안전성 분석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EE15D0-3F5E-4B88-9B9C-4EEFE4C6D3F8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7A1B448-12A9-4704-9CD4-EA3386B1B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6C0C5A1-3210-45E3-A907-35605E84FF1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부채자본비율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총부채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자본 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90C389F-00DF-4C86-A57B-9655B5FB1093}"/>
              </a:ext>
            </a:extLst>
          </p:cNvPr>
          <p:cNvGrpSpPr/>
          <p:nvPr/>
        </p:nvGrpSpPr>
        <p:grpSpPr>
          <a:xfrm>
            <a:off x="971459" y="1481677"/>
            <a:ext cx="5370761" cy="400009"/>
            <a:chOff x="1001439" y="1481677"/>
            <a:chExt cx="5370761" cy="400009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267FAE2-7AF0-48E9-99FB-67FE6D573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7" name="텍스트 개체 틀 7">
              <a:extLst>
                <a:ext uri="{FF2B5EF4-FFF2-40B4-BE49-F238E27FC236}">
                  <a16:creationId xmlns:a16="http://schemas.microsoft.com/office/drawing/2014/main" id="{933927D2-1E5C-4470-890A-70EB12FB3A62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부채가 많으면 위험하고 자본이 많으면 안전함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691034F-E1EB-4586-B6EA-6A50988B31EF}"/>
              </a:ext>
            </a:extLst>
          </p:cNvPr>
          <p:cNvGrpSpPr/>
          <p:nvPr/>
        </p:nvGrpSpPr>
        <p:grpSpPr>
          <a:xfrm>
            <a:off x="971459" y="1916228"/>
            <a:ext cx="5370761" cy="707785"/>
            <a:chOff x="1001439" y="1481677"/>
            <a:chExt cx="5370761" cy="707785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480F6806-B2D0-40AB-AB0F-1F0DCBC2C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0" name="텍스트 개체 틀 7">
              <a:extLst>
                <a:ext uri="{FF2B5EF4-FFF2-40B4-BE49-F238E27FC236}">
                  <a16:creationId xmlns:a16="http://schemas.microsoft.com/office/drawing/2014/main" id="{DD1C8891-32A4-48C2-B2AE-CE6C0173ADBE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0" lvl="1" algn="l" defTabSz="914126">
                <a:spcBef>
                  <a:spcPts val="7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부채가 증가하면 부채비율 커지고</a:t>
              </a:r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자본이 증가하면 </a:t>
              </a:r>
              <a:r>
                <a:rPr lang="ko-KR" altLang="en-US" sz="20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작아짐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4B49DDA-A60B-4BEC-9269-5D318343A61B}"/>
              </a:ext>
            </a:extLst>
          </p:cNvPr>
          <p:cNvGrpSpPr/>
          <p:nvPr/>
        </p:nvGrpSpPr>
        <p:grpSpPr>
          <a:xfrm>
            <a:off x="971550" y="2629387"/>
            <a:ext cx="5370761" cy="707785"/>
            <a:chOff x="1001439" y="1481677"/>
            <a:chExt cx="5370761" cy="707785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DA968582-0B33-4FE3-B622-7A64ADAB2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3" name="텍스트 개체 틀 7">
              <a:extLst>
                <a:ext uri="{FF2B5EF4-FFF2-40B4-BE49-F238E27FC236}">
                  <a16:creationId xmlns:a16="http://schemas.microsoft.com/office/drawing/2014/main" id="{9CFE5E7B-5DA2-4610-82B0-26F5421ECC0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0" lvl="1" algn="l" defTabSz="914126">
                <a:spcBef>
                  <a:spcPts val="7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IMF </a:t>
              </a: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외환위기시 </a:t>
              </a:r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200% </a:t>
              </a: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이하를 우량 업체 기준으로 설정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08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 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·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유동성 분석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안전성 분석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EE15D0-3F5E-4B88-9B9C-4EEFE4C6D3F8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7A1B448-12A9-4704-9CD4-EA3386B1B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6C0C5A1-3210-45E3-A907-35605E84FF1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부채자산비율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총부채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자산 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90C389F-00DF-4C86-A57B-9655B5FB1093}"/>
              </a:ext>
            </a:extLst>
          </p:cNvPr>
          <p:cNvGrpSpPr/>
          <p:nvPr/>
        </p:nvGrpSpPr>
        <p:grpSpPr>
          <a:xfrm>
            <a:off x="971459" y="1481677"/>
            <a:ext cx="5370761" cy="400009"/>
            <a:chOff x="1001439" y="1481677"/>
            <a:chExt cx="5370761" cy="400009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267FAE2-7AF0-48E9-99FB-67FE6D573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7" name="텍스트 개체 틀 7">
              <a:extLst>
                <a:ext uri="{FF2B5EF4-FFF2-40B4-BE49-F238E27FC236}">
                  <a16:creationId xmlns:a16="http://schemas.microsoft.com/office/drawing/2014/main" id="{933927D2-1E5C-4470-890A-70EB12FB3A62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부채가 많으면 위험하고 자산이 많으면 안전함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691034F-E1EB-4586-B6EA-6A50988B31EF}"/>
              </a:ext>
            </a:extLst>
          </p:cNvPr>
          <p:cNvGrpSpPr/>
          <p:nvPr/>
        </p:nvGrpSpPr>
        <p:grpSpPr>
          <a:xfrm>
            <a:off x="971459" y="1916228"/>
            <a:ext cx="5370761" cy="400009"/>
            <a:chOff x="1001439" y="1481677"/>
            <a:chExt cx="5370761" cy="400009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480F6806-B2D0-40AB-AB0F-1F0DCBC2C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0" name="텍스트 개체 틀 7">
              <a:extLst>
                <a:ext uri="{FF2B5EF4-FFF2-40B4-BE49-F238E27FC236}">
                  <a16:creationId xmlns:a16="http://schemas.microsoft.com/office/drawing/2014/main" id="{DD1C8891-32A4-48C2-B2AE-CE6C0173ADBE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0" lvl="1" algn="l" defTabSz="914126">
                <a:spcBef>
                  <a:spcPts val="7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부채자본비율과 같은 방향으로 움직임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06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 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·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유동성 분석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안전성 분석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EE15D0-3F5E-4B88-9B9C-4EEFE4C6D3F8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7A1B448-12A9-4704-9CD4-EA3386B1B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6C0C5A1-3210-45E3-A907-35605E84FF1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레버리지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자본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90C389F-00DF-4C86-A57B-9655B5FB1093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267FAE2-7AF0-48E9-99FB-67FE6D573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7" name="텍스트 개체 틀 7">
              <a:extLst>
                <a:ext uri="{FF2B5EF4-FFF2-40B4-BE49-F238E27FC236}">
                  <a16:creationId xmlns:a16="http://schemas.microsoft.com/office/drawing/2014/main" id="{933927D2-1E5C-4470-890A-70EB12FB3A62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자본을 </a:t>
              </a: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종잣돈으로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하여 얼마나 많은 자금을 동원하는지 나타내는 지표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691034F-E1EB-4586-B6EA-6A50988B31EF}"/>
              </a:ext>
            </a:extLst>
          </p:cNvPr>
          <p:cNvGrpSpPr/>
          <p:nvPr/>
        </p:nvGrpSpPr>
        <p:grpSpPr>
          <a:xfrm>
            <a:off x="971459" y="2211710"/>
            <a:ext cx="5370761" cy="400009"/>
            <a:chOff x="1001439" y="1481677"/>
            <a:chExt cx="5370761" cy="400009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480F6806-B2D0-40AB-AB0F-1F0DCBC2C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0" name="텍스트 개체 틀 7">
              <a:extLst>
                <a:ext uri="{FF2B5EF4-FFF2-40B4-BE49-F238E27FC236}">
                  <a16:creationId xmlns:a16="http://schemas.microsoft.com/office/drawing/2014/main" id="{DD1C8891-32A4-48C2-B2AE-CE6C0173ADBE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0" lvl="1" algn="l" defTabSz="914126">
                <a:spcBef>
                  <a:spcPts val="7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부채를 많이 조달하여 레버리지가 크면 위험함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9A2E49B-334F-43D7-BCF5-6BC236039D31}"/>
              </a:ext>
            </a:extLst>
          </p:cNvPr>
          <p:cNvGrpSpPr/>
          <p:nvPr/>
        </p:nvGrpSpPr>
        <p:grpSpPr>
          <a:xfrm>
            <a:off x="971459" y="2671015"/>
            <a:ext cx="5370761" cy="400009"/>
            <a:chOff x="1001439" y="1481677"/>
            <a:chExt cx="5370761" cy="400009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0BAE30EA-2C15-4581-A4A3-694F4ACDB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1" name="텍스트 개체 틀 7">
              <a:extLst>
                <a:ext uri="{FF2B5EF4-FFF2-40B4-BE49-F238E27FC236}">
                  <a16:creationId xmlns:a16="http://schemas.microsoft.com/office/drawing/2014/main" id="{E3C05D39-1957-439E-9C8B-19BAC110EEA8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0" lvl="1" algn="l" defTabSz="914126">
                <a:spcBef>
                  <a:spcPts val="7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부채자본비율과 같은 방향으로 움직임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368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1399257"/>
            <a:ext cx="6129098" cy="430887"/>
            <a:chOff x="318642" y="643765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1445046" cy="400547"/>
              <a:chOff x="318642" y="643765"/>
              <a:chExt cx="1445046" cy="400547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14450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20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     </a:t>
                </a:r>
                <a:r>
                  <a:rPr lang="en-US" altLang="ko-KR" sz="20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218BFF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&lt;</a:t>
                </a:r>
                <a:r>
                  <a:rPr lang="ko-KR" altLang="en-US" sz="20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218BFF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참고</a:t>
                </a:r>
                <a:r>
                  <a:rPr lang="en-US" altLang="ko-KR" sz="20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218BFF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&gt;</a:t>
                </a:r>
                <a:endParaRPr lang="ko-KR" altLang="en-US" sz="20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1686794" y="643765"/>
              <a:ext cx="4760946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itchFamily="50" charset="-127"/>
                  <a:ea typeface="나눔바른고딕" pitchFamily="50" charset="-127"/>
                </a:rPr>
                <a:t>이자보상배율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90835" y="2254255"/>
            <a:ext cx="5577309" cy="400009"/>
            <a:chOff x="613941" y="1059509"/>
            <a:chExt cx="557730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535578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영업이익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이자비용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1048353" y="2676423"/>
            <a:ext cx="5370761" cy="797553"/>
            <a:chOff x="1001439" y="1481677"/>
            <a:chExt cx="5370761" cy="797553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97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부채가 많으면 안전성이 낮아짐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18B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 때문에 </a:t>
              </a: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내야하는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이자가 많다면 안전성 낮음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BC64FE4-38D2-4D9A-8FEC-A0A9CBC012B1}"/>
              </a:ext>
            </a:extLst>
          </p:cNvPr>
          <p:cNvGrpSpPr/>
          <p:nvPr/>
        </p:nvGrpSpPr>
        <p:grpSpPr>
          <a:xfrm>
            <a:off x="1066596" y="3418751"/>
            <a:ext cx="5370761" cy="707785"/>
            <a:chOff x="1001439" y="1481677"/>
            <a:chExt cx="5370761" cy="707785"/>
          </a:xfrm>
        </p:grpSpPr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F568935E-0B75-4333-993A-3F5B98D23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9" name="텍스트 개체 틀 7">
              <a:extLst>
                <a:ext uri="{FF2B5EF4-FFF2-40B4-BE49-F238E27FC236}">
                  <a16:creationId xmlns:a16="http://schemas.microsoft.com/office/drawing/2014/main" id="{48541313-7880-4399-9057-07BE849224D9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영업활동을 통해 나오는 이익으로 이자를 낼 수 있는지를 측정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22B24BB-5121-4280-BEFB-EAFFE51D69A9}"/>
              </a:ext>
            </a:extLst>
          </p:cNvPr>
          <p:cNvGrpSpPr/>
          <p:nvPr/>
        </p:nvGrpSpPr>
        <p:grpSpPr>
          <a:xfrm>
            <a:off x="1048353" y="4188591"/>
            <a:ext cx="5370761" cy="400009"/>
            <a:chOff x="1001439" y="1481677"/>
            <a:chExt cx="5370761" cy="400009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9D3C871-F0C4-4832-868D-0DD73B0B1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9" name="텍스트 개체 틀 7">
              <a:extLst>
                <a:ext uri="{FF2B5EF4-FFF2-40B4-BE49-F238E27FC236}">
                  <a16:creationId xmlns:a16="http://schemas.microsoft.com/office/drawing/2014/main" id="{F7E63087-9F20-4F1D-B551-7305CB9284D5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포괄손익계산서에서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재무구조의 안전성을 측정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itchFamily="50" charset="-127"/>
                  <a:ea typeface="나눔바른고딕" pitchFamily="50" charset="-127"/>
                </a:rPr>
                <a:t>안전성 분석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 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·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유동성 분석</a:t>
            </a:r>
          </a:p>
        </p:txBody>
      </p:sp>
    </p:spTree>
    <p:extLst>
      <p:ext uri="{BB962C8B-B14F-4D97-AF65-F5344CB8AC3E}">
        <p14:creationId xmlns:p14="http://schemas.microsoft.com/office/powerpoint/2010/main" val="397984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 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·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유동성 분석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유동성 분석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EE15D0-3F5E-4B88-9B9C-4EEFE4C6D3F8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7A1B448-12A9-4704-9CD4-EA3386B1B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6C0C5A1-3210-45E3-A907-35605E84FF1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현금비율 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현금 및 현금성자산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유동부채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90C389F-00DF-4C86-A57B-9655B5FB1093}"/>
              </a:ext>
            </a:extLst>
          </p:cNvPr>
          <p:cNvGrpSpPr/>
          <p:nvPr/>
        </p:nvGrpSpPr>
        <p:grpSpPr>
          <a:xfrm>
            <a:off x="971459" y="1481677"/>
            <a:ext cx="5370761" cy="400009"/>
            <a:chOff x="1001439" y="1481677"/>
            <a:chExt cx="5370761" cy="400009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267FAE2-7AF0-48E9-99FB-67FE6D573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7" name="텍스트 개체 틀 7">
              <a:extLst>
                <a:ext uri="{FF2B5EF4-FFF2-40B4-BE49-F238E27FC236}">
                  <a16:creationId xmlns:a16="http://schemas.microsoft.com/office/drawing/2014/main" id="{933927D2-1E5C-4470-890A-70EB12FB3A62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가장 협의의 유동성 비율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691034F-E1EB-4586-B6EA-6A50988B31EF}"/>
              </a:ext>
            </a:extLst>
          </p:cNvPr>
          <p:cNvGrpSpPr/>
          <p:nvPr/>
        </p:nvGrpSpPr>
        <p:grpSpPr>
          <a:xfrm>
            <a:off x="971459" y="1916228"/>
            <a:ext cx="5370761" cy="707785"/>
            <a:chOff x="1001439" y="1481677"/>
            <a:chExt cx="5370761" cy="707785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480F6806-B2D0-40AB-AB0F-1F0DCBC2C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0" name="텍스트 개체 틀 7">
              <a:extLst>
                <a:ext uri="{FF2B5EF4-FFF2-40B4-BE49-F238E27FC236}">
                  <a16:creationId xmlns:a16="http://schemas.microsoft.com/office/drawing/2014/main" id="{DD1C8891-32A4-48C2-B2AE-CE6C0173ADBE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0" lvl="1" algn="l" defTabSz="914126">
                <a:spcBef>
                  <a:spcPts val="7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부채에 대비하여 모두 현금을 준비해야 하는 것은 아니므로</a:t>
              </a:r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사용빈도 낮음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177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 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·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유동성 분석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유동성 분석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EE15D0-3F5E-4B88-9B9C-4EEFE4C6D3F8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7A1B448-12A9-4704-9CD4-EA3386B1B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6C0C5A1-3210-45E3-A907-35605E84FF1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당좌비율 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당좌자산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유동부채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90C389F-00DF-4C86-A57B-9655B5FB1093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267FAE2-7AF0-48E9-99FB-67FE6D573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7" name="텍스트 개체 틀 7">
              <a:extLst>
                <a:ext uri="{FF2B5EF4-FFF2-40B4-BE49-F238E27FC236}">
                  <a16:creationId xmlns:a16="http://schemas.microsoft.com/office/drawing/2014/main" id="{933927D2-1E5C-4470-890A-70EB12FB3A62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빠른 시간 내에 현금을 마련하여 부채에 대응할 수 있는 능력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691034F-E1EB-4586-B6EA-6A50988B31EF}"/>
              </a:ext>
            </a:extLst>
          </p:cNvPr>
          <p:cNvGrpSpPr/>
          <p:nvPr/>
        </p:nvGrpSpPr>
        <p:grpSpPr>
          <a:xfrm>
            <a:off x="971459" y="2224005"/>
            <a:ext cx="5370761" cy="707785"/>
            <a:chOff x="1001439" y="1481677"/>
            <a:chExt cx="5370761" cy="707785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480F6806-B2D0-40AB-AB0F-1F0DCBC2C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0" name="텍스트 개체 틀 7">
              <a:extLst>
                <a:ext uri="{FF2B5EF4-FFF2-40B4-BE49-F238E27FC236}">
                  <a16:creationId xmlns:a16="http://schemas.microsoft.com/office/drawing/2014/main" id="{DD1C8891-32A4-48C2-B2AE-CE6C0173ADBE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0" lvl="1" algn="l" defTabSz="914126">
                <a:spcBef>
                  <a:spcPts val="7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현금이나 매출채권이 많으면 커지고 유동부채가 많으면 </a:t>
              </a:r>
              <a:r>
                <a:rPr lang="ko-KR" altLang="en-US" sz="20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작아짐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829F8F4-C5A4-48F1-B657-B1AC18C96DC8}"/>
              </a:ext>
            </a:extLst>
          </p:cNvPr>
          <p:cNvGrpSpPr/>
          <p:nvPr/>
        </p:nvGrpSpPr>
        <p:grpSpPr>
          <a:xfrm>
            <a:off x="971459" y="2963329"/>
            <a:ext cx="5370761" cy="400009"/>
            <a:chOff x="1001439" y="1481677"/>
            <a:chExt cx="5370761" cy="400009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DB1FEC25-4575-4F3A-A2BB-545A486F5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1" name="텍스트 개체 틀 7">
              <a:extLst>
                <a:ext uri="{FF2B5EF4-FFF2-40B4-BE49-F238E27FC236}">
                  <a16:creationId xmlns:a16="http://schemas.microsoft.com/office/drawing/2014/main" id="{9216E4C2-58C3-42F9-A8E5-A4610A12C1C5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진정한 유동성 척도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acid test ratio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FAE84A0-4A29-4B8C-BEF6-CC5C36AA9DBC}"/>
              </a:ext>
            </a:extLst>
          </p:cNvPr>
          <p:cNvGrpSpPr/>
          <p:nvPr/>
        </p:nvGrpSpPr>
        <p:grpSpPr>
          <a:xfrm>
            <a:off x="971459" y="3376133"/>
            <a:ext cx="5370761" cy="400009"/>
            <a:chOff x="1001439" y="1481677"/>
            <a:chExt cx="5370761" cy="400009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B353CE7A-A0CB-4A44-8613-4D97816E4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1" name="텍스트 개체 틀 7">
              <a:extLst>
                <a:ext uri="{FF2B5EF4-FFF2-40B4-BE49-F238E27FC236}">
                  <a16:creationId xmlns:a16="http://schemas.microsoft.com/office/drawing/2014/main" id="{57DC5E5D-714B-4197-A1F9-1FDAAEA841FE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0" lvl="1" algn="l" defTabSz="914126">
                <a:spcBef>
                  <a:spcPts val="7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100%</a:t>
              </a: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 넘어야 양호하다고 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225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 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·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유동성 분석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유동성 분석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EE15D0-3F5E-4B88-9B9C-4EEFE4C6D3F8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7A1B448-12A9-4704-9CD4-EA3386B1B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6C0C5A1-3210-45E3-A907-35605E84FF1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유동비율 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유동자산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유동부채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90C389F-00DF-4C86-A57B-9655B5FB1093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267FAE2-7AF0-48E9-99FB-67FE6D573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7" name="텍스트 개체 틀 7">
              <a:extLst>
                <a:ext uri="{FF2B5EF4-FFF2-40B4-BE49-F238E27FC236}">
                  <a16:creationId xmlns:a16="http://schemas.microsoft.com/office/drawing/2014/main" id="{933927D2-1E5C-4470-890A-70EB12FB3A62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년 이내에 현금을 마련하여 부채에 대응할 수 있는 능력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재고자산 포함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691034F-E1EB-4586-B6EA-6A50988B31EF}"/>
              </a:ext>
            </a:extLst>
          </p:cNvPr>
          <p:cNvGrpSpPr/>
          <p:nvPr/>
        </p:nvGrpSpPr>
        <p:grpSpPr>
          <a:xfrm>
            <a:off x="971459" y="2224005"/>
            <a:ext cx="5370761" cy="707785"/>
            <a:chOff x="1001439" y="1481677"/>
            <a:chExt cx="5370761" cy="707785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480F6806-B2D0-40AB-AB0F-1F0DCBC2C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0" name="텍스트 개체 틀 7">
              <a:extLst>
                <a:ext uri="{FF2B5EF4-FFF2-40B4-BE49-F238E27FC236}">
                  <a16:creationId xmlns:a16="http://schemas.microsoft.com/office/drawing/2014/main" id="{DD1C8891-32A4-48C2-B2AE-CE6C0173ADBE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0" lvl="1" algn="l" defTabSz="914126">
                <a:spcBef>
                  <a:spcPts val="7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현금</a:t>
              </a:r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매출채권</a:t>
              </a:r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재고자산이 많으면 커지고 유동부채가 많으면 </a:t>
              </a:r>
              <a:r>
                <a:rPr lang="ko-KR" altLang="en-US" sz="200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작아짐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829F8F4-C5A4-48F1-B657-B1AC18C96DC8}"/>
              </a:ext>
            </a:extLst>
          </p:cNvPr>
          <p:cNvGrpSpPr/>
          <p:nvPr/>
        </p:nvGrpSpPr>
        <p:grpSpPr>
          <a:xfrm>
            <a:off x="971459" y="2963329"/>
            <a:ext cx="5370761" cy="400009"/>
            <a:chOff x="1001439" y="1481677"/>
            <a:chExt cx="5370761" cy="400009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DB1FEC25-4575-4F3A-A2BB-545A486F5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1" name="텍스트 개체 틀 7">
              <a:extLst>
                <a:ext uri="{FF2B5EF4-FFF2-40B4-BE49-F238E27FC236}">
                  <a16:creationId xmlns:a16="http://schemas.microsoft.com/office/drawing/2014/main" id="{9216E4C2-58C3-42F9-A8E5-A4610A12C1C5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광의의 유동성 척도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FAE84A0-4A29-4B8C-BEF6-CC5C36AA9DBC}"/>
              </a:ext>
            </a:extLst>
          </p:cNvPr>
          <p:cNvGrpSpPr/>
          <p:nvPr/>
        </p:nvGrpSpPr>
        <p:grpSpPr>
          <a:xfrm>
            <a:off x="971459" y="3376133"/>
            <a:ext cx="5370761" cy="400009"/>
            <a:chOff x="1001439" y="1481677"/>
            <a:chExt cx="5370761" cy="400009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B353CE7A-A0CB-4A44-8613-4D97816E4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1" name="텍스트 개체 틀 7">
              <a:extLst>
                <a:ext uri="{FF2B5EF4-FFF2-40B4-BE49-F238E27FC236}">
                  <a16:creationId xmlns:a16="http://schemas.microsoft.com/office/drawing/2014/main" id="{57DC5E5D-714B-4197-A1F9-1FDAAEA841FE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0" lvl="1" algn="l" defTabSz="914126">
                <a:spcBef>
                  <a:spcPts val="700"/>
                </a:spcBef>
                <a:spcAft>
                  <a:spcPts val="0"/>
                </a:spcAft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150%</a:t>
              </a:r>
              <a:r>
                <a: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 넘어야 양호하다고 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644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itchFamily="50" charset="-127"/>
                  <a:ea typeface="나눔바른고딕" pitchFamily="50" charset="-127"/>
                </a:rPr>
                <a:t>유동성 분석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5577309" cy="400009"/>
            <a:chOff x="613941" y="1059509"/>
            <a:chExt cx="557730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535578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참고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방어기간 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3807954-ACAB-40A2-9DD0-A89D497C77A1}"/>
              </a:ext>
            </a:extLst>
          </p:cNvPr>
          <p:cNvGrpSpPr/>
          <p:nvPr/>
        </p:nvGrpSpPr>
        <p:grpSpPr>
          <a:xfrm>
            <a:off x="971459" y="2067694"/>
            <a:ext cx="5370761" cy="707785"/>
            <a:chOff x="1001439" y="1481677"/>
            <a:chExt cx="5370761" cy="70778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DE38669C-B50E-49DA-971B-25ED66437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1E7B2A34-351F-4BAE-B9EA-9121078BA742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당좌자산으로 추가적인 자금유입이 없이도 영업을 계속할 수 있는 기간 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18B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텍스트 개체 틀 7">
                <a:extLst>
                  <a:ext uri="{FF2B5EF4-FFF2-40B4-BE49-F238E27FC236}">
                    <a16:creationId xmlns:a16="http://schemas.microsoft.com/office/drawing/2014/main" id="{CA12D820-DDA4-4E95-9EF9-33783AFF09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1550" y="1563688"/>
                <a:ext cx="5026229" cy="400009"/>
              </a:xfrm>
              <a:prstGeom prst="rect">
                <a:avLst/>
              </a:prstGeom>
              <a:solidFill>
                <a:srgbClr val="B7CA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lIns="91342" tIns="45670" rIns="91342" bIns="45670">
                <a:spAutoFit/>
              </a:bodyPr>
              <a:lstStyle>
                <a:defPPr>
                  <a:defRPr lang="ko-KR"/>
                </a:defPPr>
                <a:lvl1pPr indent="0" defTabSz="914126" fontAlgn="base" latinLnBrk="0">
                  <a:spcBef>
                    <a:spcPts val="700"/>
                  </a:spcBef>
                  <a:spcAft>
                    <a:spcPts val="0"/>
                  </a:spcAft>
                  <a:buFont typeface="Wingdings" panose="05000000000000000000" pitchFamily="2" charset="2"/>
                  <a:buNone/>
                  <a:defRPr kumimoji="1" b="1" spc="100">
                    <a:solidFill>
                      <a:prstClr val="black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defRPr>
                </a:lvl1pPr>
              </a:lstStyle>
              <a:p>
                <a:pPr algn="l">
                  <a:buClr>
                    <a:schemeClr val="tx1">
                      <a:lumMod val="65000"/>
                      <a:lumOff val="35000"/>
                    </a:schemeClr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ko-KR" altLang="en-US" sz="2000" b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F33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m:t>당좌자산</m:t>
                      </m:r>
                      <m:r>
                        <m:rPr>
                          <m:nor/>
                        </m:rPr>
                        <a:rPr lang="en-US" altLang="ko-KR" sz="2000" b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F33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m:t>÷ </m:t>
                      </m:r>
                      <m:r>
                        <m:rPr>
                          <m:nor/>
                        </m:rPr>
                        <a:rPr lang="ko-KR" altLang="en-US" sz="2000" b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F33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m:t>일평균 영업비용 현금지출</m:t>
                      </m:r>
                    </m:oMath>
                  </m:oMathPara>
                </a14:m>
                <a:endPara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27" name="텍스트 개체 틀 7">
                <a:extLst>
                  <a:ext uri="{FF2B5EF4-FFF2-40B4-BE49-F238E27FC236}">
                    <a16:creationId xmlns:a16="http://schemas.microsoft.com/office/drawing/2014/main" id="{CA12D820-DDA4-4E95-9EF9-33783AFF0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1563688"/>
                <a:ext cx="5026229" cy="4000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FAAF089D-F6C5-4361-B381-98393FB5673D}"/>
              </a:ext>
            </a:extLst>
          </p:cNvPr>
          <p:cNvGrpSpPr/>
          <p:nvPr/>
        </p:nvGrpSpPr>
        <p:grpSpPr>
          <a:xfrm>
            <a:off x="985789" y="3047307"/>
            <a:ext cx="5370761" cy="400009"/>
            <a:chOff x="1001439" y="1481677"/>
            <a:chExt cx="5370761" cy="400009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8BFF0654-9287-4250-9CB4-13B00BC01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9" name="텍스트 개체 틀 7">
              <a:extLst>
                <a:ext uri="{FF2B5EF4-FFF2-40B4-BE49-F238E27FC236}">
                  <a16:creationId xmlns:a16="http://schemas.microsoft.com/office/drawing/2014/main" id="{5533382B-495A-41F1-AD32-42F041EAD70D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9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1pPr>
              <a:lvl2pPr marL="389582" algn="ctr" rtl="0" fontAlgn="base">
                <a:spcBef>
                  <a:spcPct val="0"/>
                </a:spcBef>
                <a:spcAft>
                  <a:spcPct val="0"/>
                </a:spcAft>
                <a:defRPr kumimoji="1" sz="9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2pPr>
              <a:lvl3pPr marL="779163" algn="ctr" rtl="0" fontAlgn="base">
                <a:spcBef>
                  <a:spcPct val="0"/>
                </a:spcBef>
                <a:spcAft>
                  <a:spcPct val="0"/>
                </a:spcAft>
                <a:defRPr kumimoji="1" sz="9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3pPr>
              <a:lvl4pPr marL="1168745" algn="ctr" rtl="0" fontAlgn="base">
                <a:spcBef>
                  <a:spcPct val="0"/>
                </a:spcBef>
                <a:spcAft>
                  <a:spcPct val="0"/>
                </a:spcAft>
                <a:defRPr kumimoji="1" sz="9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4pPr>
              <a:lvl5pPr marL="1558326" algn="ctr" rtl="0" fontAlgn="base">
                <a:spcBef>
                  <a:spcPct val="0"/>
                </a:spcBef>
                <a:spcAft>
                  <a:spcPct val="0"/>
                </a:spcAft>
                <a:defRPr kumimoji="1" sz="9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5pPr>
              <a:lvl6pPr marL="1947908" algn="l" defTabSz="779163" rtl="0" eaLnBrk="1" latinLnBrk="1" hangingPunct="1">
                <a:defRPr kumimoji="1" sz="9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6pPr>
              <a:lvl7pPr marL="2337489" algn="l" defTabSz="779163" rtl="0" eaLnBrk="1" latinLnBrk="1" hangingPunct="1">
                <a:defRPr kumimoji="1" sz="9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7pPr>
              <a:lvl8pPr marL="2727071" algn="l" defTabSz="779163" rtl="0" eaLnBrk="1" latinLnBrk="1" hangingPunct="1">
                <a:defRPr kumimoji="1" sz="9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8pPr>
              <a:lvl9pPr marL="3116652" algn="l" defTabSz="779163" rtl="0" eaLnBrk="1" latinLnBrk="1" hangingPunct="1">
                <a:defRPr kumimoji="1" sz="900" kern="1200">
                  <a:solidFill>
                    <a:schemeClr val="tx1"/>
                  </a:solidFill>
                  <a:latin typeface="돋움" pitchFamily="50" charset="-127"/>
                  <a:ea typeface="돋움" pitchFamily="50" charset="-127"/>
                  <a:cs typeface="+mn-cs"/>
                </a:defRPr>
              </a:lvl9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재무상태표와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18B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손익계산서 함께 분석  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18B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 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·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유동성 분석</a:t>
            </a:r>
          </a:p>
        </p:txBody>
      </p:sp>
    </p:spTree>
    <p:extLst>
      <p:ext uri="{BB962C8B-B14F-4D97-AF65-F5344CB8AC3E}">
        <p14:creationId xmlns:p14="http://schemas.microsoft.com/office/powerpoint/2010/main" val="202628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8100">
          <a:noFill/>
        </a:ln>
        <a:effectLst>
          <a:outerShdw blurRad="50800" dist="38100" dir="5400000" algn="t" rotWithShape="0">
            <a:schemeClr val="bg1">
              <a:lumMod val="50000"/>
              <a:alpha val="41000"/>
            </a:scheme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 defTabSz="744139" fontAlgn="auto">
          <a:spcBef>
            <a:spcPts val="488"/>
          </a:spcBef>
          <a:spcAft>
            <a:spcPts val="814"/>
          </a:spcAft>
          <a:buClr>
            <a:prstClr val="white">
              <a:lumMod val="50000"/>
            </a:prstClr>
          </a:buClr>
          <a:defRPr kumimoji="0" sz="1800" spc="-122" dirty="0">
            <a:ln>
              <a:solidFill>
                <a:srgbClr val="E2E2E2">
                  <a:alpha val="0"/>
                </a:srgbClr>
              </a:solidFill>
            </a:ln>
            <a:solidFill>
              <a:prstClr val="black"/>
            </a:solidFill>
            <a:latin typeface="나눔바른고딕" panose="020B0603020101020101" pitchFamily="50" charset="-127"/>
            <a:ea typeface="나눔바른고딕" panose="020B060302010102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71383</TotalTime>
  <Words>271</Words>
  <Application>Microsoft Office PowerPoint</Application>
  <PresentationFormat>화면 슬라이드 쇼(16:9)</PresentationFormat>
  <Paragraphs>59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나눔바른고딕</vt:lpstr>
      <vt:lpstr>Wingdings</vt:lpstr>
      <vt:lpstr>나눔고딕</vt:lpstr>
      <vt:lpstr>돋움</vt:lpstr>
      <vt:lpstr>Arial</vt:lpstr>
      <vt:lpstr>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스토리보드</dc:title>
  <dc:creator>CELK</dc:creator>
  <cp:lastModifiedBy>위성백</cp:lastModifiedBy>
  <cp:revision>5776</cp:revision>
  <cp:lastPrinted>2015-05-26T08:39:57Z</cp:lastPrinted>
  <dcterms:created xsi:type="dcterms:W3CDTF">2004-07-08T01:15:15Z</dcterms:created>
  <dcterms:modified xsi:type="dcterms:W3CDTF">2024-09-24T11:29:11Z</dcterms:modified>
</cp:coreProperties>
</file>
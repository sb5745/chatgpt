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5081" r:id="rId1"/>
  </p:sldMasterIdLst>
  <p:notesMasterIdLst>
    <p:notesMasterId r:id="rId32"/>
  </p:notesMasterIdLst>
  <p:handoutMasterIdLst>
    <p:handoutMasterId r:id="rId33"/>
  </p:handoutMasterIdLst>
  <p:sldIdLst>
    <p:sldId id="1459" r:id="rId2"/>
    <p:sldId id="1455" r:id="rId3"/>
    <p:sldId id="1456" r:id="rId4"/>
    <p:sldId id="1461" r:id="rId5"/>
    <p:sldId id="1462" r:id="rId6"/>
    <p:sldId id="1463" r:id="rId7"/>
    <p:sldId id="1464" r:id="rId8"/>
    <p:sldId id="1465" r:id="rId9"/>
    <p:sldId id="1466" r:id="rId10"/>
    <p:sldId id="1468" r:id="rId11"/>
    <p:sldId id="1467" r:id="rId12"/>
    <p:sldId id="1469" r:id="rId13"/>
    <p:sldId id="1457" r:id="rId14"/>
    <p:sldId id="1471" r:id="rId15"/>
    <p:sldId id="1470" r:id="rId16"/>
    <p:sldId id="1472" r:id="rId17"/>
    <p:sldId id="1473" r:id="rId18"/>
    <p:sldId id="1474" r:id="rId19"/>
    <p:sldId id="1475" r:id="rId20"/>
    <p:sldId id="1476" r:id="rId21"/>
    <p:sldId id="1477" r:id="rId22"/>
    <p:sldId id="1478" r:id="rId23"/>
    <p:sldId id="1458" r:id="rId24"/>
    <p:sldId id="1479" r:id="rId25"/>
    <p:sldId id="1460" r:id="rId26"/>
    <p:sldId id="1480" r:id="rId27"/>
    <p:sldId id="1481" r:id="rId28"/>
    <p:sldId id="1482" r:id="rId29"/>
    <p:sldId id="1483" r:id="rId30"/>
    <p:sldId id="1484" r:id="rId31"/>
  </p:sldIdLst>
  <p:sldSz cx="9144000" cy="5143500" type="screen16x9"/>
  <p:notesSz cx="6735763" cy="9866313"/>
  <p:embeddedFontLst>
    <p:embeddedFont>
      <p:font typeface="나눔바른고딕" panose="020B0600000101010101" charset="-127"/>
      <p:regular r:id="rId34"/>
      <p:bold r:id="rId35"/>
    </p:embeddedFont>
    <p:embeddedFont>
      <p:font typeface="나눔고딕" pitchFamily="2" charset="-127"/>
      <p:regular r:id="rId36"/>
      <p:bold r:id="rId37"/>
    </p:embeddedFont>
  </p:embeddedFontLst>
  <p:defaultTextStyle>
    <a:defPPr>
      <a:defRPr lang="ko-KR"/>
    </a:defPPr>
    <a:lvl1pPr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89582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779163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168745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558326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1947908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337489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2727071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116652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395" userDrawn="1">
          <p15:clr>
            <a:srgbClr val="A4A3A4"/>
          </p15:clr>
        </p15:guide>
        <p15:guide id="45" orient="horz" pos="577" userDrawn="1">
          <p15:clr>
            <a:srgbClr val="A4A3A4"/>
          </p15:clr>
        </p15:guide>
        <p15:guide id="49" orient="horz" pos="713" userDrawn="1">
          <p15:clr>
            <a:srgbClr val="A4A3A4"/>
          </p15:clr>
        </p15:guide>
        <p15:guide id="52" pos="7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  <p15:guide id="3" orient="horz" pos="3107">
          <p15:clr>
            <a:srgbClr val="A4A3A4"/>
          </p15:clr>
        </p15:guide>
        <p15:guide id="4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5DD9"/>
    <a:srgbClr val="673BB7"/>
    <a:srgbClr val="218BFF"/>
    <a:srgbClr val="FF3300"/>
    <a:srgbClr val="4527A1"/>
    <a:srgbClr val="00645F"/>
    <a:srgbClr val="00C0A0"/>
    <a:srgbClr val="00A19A"/>
    <a:srgbClr val="5D87FF"/>
    <a:srgbClr val="91A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96" autoAdjust="0"/>
    <p:restoredTop sz="94390" autoAdjust="0"/>
  </p:normalViewPr>
  <p:slideViewPr>
    <p:cSldViewPr>
      <p:cViewPr varScale="1">
        <p:scale>
          <a:sx n="73" d="100"/>
          <a:sy n="73" d="100"/>
        </p:scale>
        <p:origin x="824" y="56"/>
      </p:cViewPr>
      <p:guideLst>
        <p:guide orient="horz" pos="395"/>
        <p:guide orient="horz" pos="577"/>
        <p:guide orient="horz" pos="713"/>
        <p:guide pos="793"/>
      </p:guideLst>
    </p:cSldViewPr>
  </p:slideViewPr>
  <p:outlineViewPr>
    <p:cViewPr>
      <p:scale>
        <a:sx n="33" d="100"/>
        <a:sy n="33" d="100"/>
      </p:scale>
      <p:origin x="36" y="14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120" y="96"/>
      </p:cViewPr>
      <p:guideLst>
        <p:guide orient="horz" pos="3130"/>
        <p:guide pos="2144"/>
        <p:guide orient="horz" pos="3107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572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pPr>
              <a:defRPr/>
            </a:pPr>
            <a:fld id="{995E349A-2F5C-4CD5-9D55-29F99897CE80}" type="datetimeFigureOut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2024-09-24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572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pPr>
              <a:defRPr/>
            </a:pPr>
            <a:fld id="{EE633E7D-3427-42F4-A51F-CFCCA527B5A1}" type="slidenum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‹#›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19651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7142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2550" y="741363"/>
            <a:ext cx="657225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4963"/>
            <a:ext cx="5387982" cy="444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7142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57F922E9-5D2F-476E-8777-0371A815ABE5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68790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389582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779163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168745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558326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1947908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127A71-4278-454A-B20A-239BAC3E84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20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FAE5FD-287A-4DCC-94A4-9D28B66F18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8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3D9466-BB4C-408A-B309-AFC79B0E8A17}"/>
              </a:ext>
            </a:extLst>
          </p:cNvPr>
          <p:cNvSpPr/>
          <p:nvPr userDrawn="1"/>
        </p:nvSpPr>
        <p:spPr bwMode="auto">
          <a:xfrm>
            <a:off x="8317728" y="-884634"/>
            <a:ext cx="826272" cy="826272"/>
          </a:xfrm>
          <a:prstGeom prst="rect">
            <a:avLst/>
          </a:prstGeom>
          <a:solidFill>
            <a:srgbClr val="F8E618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6FEB3A-5702-4478-B6A4-D8F5ECA56838}"/>
              </a:ext>
            </a:extLst>
          </p:cNvPr>
          <p:cNvSpPr/>
          <p:nvPr userDrawn="1"/>
        </p:nvSpPr>
        <p:spPr bwMode="auto">
          <a:xfrm>
            <a:off x="7452320" y="-884634"/>
            <a:ext cx="826272" cy="826272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사각형</a:t>
            </a:r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BB67F9-25B4-4748-BCB2-4F8E7D0E2DD9}"/>
              </a:ext>
            </a:extLst>
          </p:cNvPr>
          <p:cNvSpPr/>
          <p:nvPr userDrawn="1"/>
        </p:nvSpPr>
        <p:spPr bwMode="auto">
          <a:xfrm>
            <a:off x="6588224" y="-884634"/>
            <a:ext cx="826272" cy="826272"/>
          </a:xfrm>
          <a:prstGeom prst="rect">
            <a:avLst/>
          </a:prstGeom>
          <a:solidFill>
            <a:srgbClr val="FF330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E07E710-DA50-44D7-98B7-3B858DE1E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4A494B-ACC8-4974-990E-AE275BBFEF48}"/>
              </a:ext>
            </a:extLst>
          </p:cNvPr>
          <p:cNvSpPr/>
          <p:nvPr userDrawn="1"/>
        </p:nvSpPr>
        <p:spPr bwMode="auto">
          <a:xfrm>
            <a:off x="-5734" y="-536469"/>
            <a:ext cx="466409" cy="466409"/>
          </a:xfrm>
          <a:prstGeom prst="rect">
            <a:avLst/>
          </a:prstGeom>
          <a:solidFill>
            <a:srgbClr val="4527A1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EE135E5-6BDA-49BA-BA7F-9451CADBBE23}"/>
              </a:ext>
            </a:extLst>
          </p:cNvPr>
          <p:cNvSpPr/>
          <p:nvPr userDrawn="1"/>
        </p:nvSpPr>
        <p:spPr bwMode="auto">
          <a:xfrm>
            <a:off x="591972" y="-536469"/>
            <a:ext cx="466409" cy="466409"/>
          </a:xfrm>
          <a:prstGeom prst="rect">
            <a:avLst/>
          </a:prstGeom>
          <a:solidFill>
            <a:srgbClr val="673BB7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B851AE-C349-42C6-AB5B-682582C6637B}"/>
              </a:ext>
            </a:extLst>
          </p:cNvPr>
          <p:cNvSpPr/>
          <p:nvPr userDrawn="1"/>
        </p:nvSpPr>
        <p:spPr bwMode="auto">
          <a:xfrm>
            <a:off x="1189678" y="-536469"/>
            <a:ext cx="466409" cy="466409"/>
          </a:xfrm>
          <a:prstGeom prst="rect">
            <a:avLst/>
          </a:prstGeom>
          <a:solidFill>
            <a:srgbClr val="8B5DD9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61DC06-D50A-453E-93B2-9BEC30E327ED}"/>
              </a:ext>
            </a:extLst>
          </p:cNvPr>
          <p:cNvSpPr/>
          <p:nvPr userDrawn="1"/>
        </p:nvSpPr>
        <p:spPr bwMode="auto">
          <a:xfrm>
            <a:off x="4178208" y="-536469"/>
            <a:ext cx="466409" cy="466409"/>
          </a:xfrm>
          <a:prstGeom prst="rect">
            <a:avLst/>
          </a:prstGeom>
          <a:solidFill>
            <a:srgbClr val="218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79BCBD-9F7F-4ADC-B2BB-FBCF03C54322}"/>
              </a:ext>
            </a:extLst>
          </p:cNvPr>
          <p:cNvSpPr/>
          <p:nvPr userDrawn="1"/>
        </p:nvSpPr>
        <p:spPr bwMode="auto">
          <a:xfrm>
            <a:off x="1787384" y="-536469"/>
            <a:ext cx="466409" cy="466409"/>
          </a:xfrm>
          <a:prstGeom prst="rect">
            <a:avLst/>
          </a:prstGeom>
          <a:solidFill>
            <a:srgbClr val="A282D4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C90F2A-3E39-407A-9069-45DD1FB7D871}"/>
              </a:ext>
            </a:extLst>
          </p:cNvPr>
          <p:cNvSpPr/>
          <p:nvPr userDrawn="1"/>
        </p:nvSpPr>
        <p:spPr bwMode="auto">
          <a:xfrm>
            <a:off x="4775914" y="-536469"/>
            <a:ext cx="466409" cy="466409"/>
          </a:xfrm>
          <a:prstGeom prst="rect">
            <a:avLst/>
          </a:prstGeom>
          <a:solidFill>
            <a:srgbClr val="215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A956BB-5771-4553-B13E-1E71490C76F2}"/>
              </a:ext>
            </a:extLst>
          </p:cNvPr>
          <p:cNvSpPr/>
          <p:nvPr userDrawn="1"/>
        </p:nvSpPr>
        <p:spPr bwMode="auto">
          <a:xfrm>
            <a:off x="5373620" y="-536469"/>
            <a:ext cx="466409" cy="466409"/>
          </a:xfrm>
          <a:prstGeom prst="rect">
            <a:avLst/>
          </a:prstGeom>
          <a:solidFill>
            <a:srgbClr val="5D87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0B9687-547F-45C2-8540-360F2F7BA86B}"/>
              </a:ext>
            </a:extLst>
          </p:cNvPr>
          <p:cNvSpPr/>
          <p:nvPr userDrawn="1"/>
        </p:nvSpPr>
        <p:spPr bwMode="auto">
          <a:xfrm>
            <a:off x="3580502" y="-536469"/>
            <a:ext cx="466409" cy="466409"/>
          </a:xfrm>
          <a:prstGeom prst="rect">
            <a:avLst/>
          </a:prstGeom>
          <a:solidFill>
            <a:srgbClr val="67C1B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407C5BD-22B9-4E2C-B9CA-C3A88BB62E91}"/>
              </a:ext>
            </a:extLst>
          </p:cNvPr>
          <p:cNvSpPr/>
          <p:nvPr userDrawn="1"/>
        </p:nvSpPr>
        <p:spPr bwMode="auto">
          <a:xfrm>
            <a:off x="5971325" y="-536469"/>
            <a:ext cx="466409" cy="466409"/>
          </a:xfrm>
          <a:prstGeom prst="rect">
            <a:avLst/>
          </a:prstGeom>
          <a:solidFill>
            <a:srgbClr val="91AD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7E8FEC-0C83-450E-B519-ED269F611B99}"/>
              </a:ext>
            </a:extLst>
          </p:cNvPr>
          <p:cNvSpPr/>
          <p:nvPr userDrawn="1"/>
        </p:nvSpPr>
        <p:spPr bwMode="auto">
          <a:xfrm>
            <a:off x="2385090" y="-536469"/>
            <a:ext cx="466409" cy="466409"/>
          </a:xfrm>
          <a:prstGeom prst="rect">
            <a:avLst/>
          </a:prstGeom>
          <a:solidFill>
            <a:srgbClr val="00A19A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F078189-E883-43CA-A6A2-E3CFDB98FF2A}"/>
              </a:ext>
            </a:extLst>
          </p:cNvPr>
          <p:cNvSpPr/>
          <p:nvPr userDrawn="1"/>
        </p:nvSpPr>
        <p:spPr bwMode="auto">
          <a:xfrm>
            <a:off x="2982796" y="-536469"/>
            <a:ext cx="466409" cy="466409"/>
          </a:xfrm>
          <a:prstGeom prst="rect">
            <a:avLst/>
          </a:prstGeom>
          <a:solidFill>
            <a:srgbClr val="00C0A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447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7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A8C4361-DE38-4B27-9BF7-2004C17110D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schemeClr val="bg1">
                <a:lumMod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744139" fontAlgn="auto">
              <a:spcBef>
                <a:spcPts val="488"/>
              </a:spcBef>
              <a:spcAft>
                <a:spcPts val="814"/>
              </a:spcAft>
              <a:buClr>
                <a:prstClr val="white">
                  <a:lumMod val="50000"/>
                </a:prstClr>
              </a:buClr>
            </a:pPr>
            <a:endParaRPr kumimoji="0" lang="ko-KR" altLang="en-US" sz="1800" spc="-122" dirty="0">
              <a:ln>
                <a:solidFill>
                  <a:srgbClr val="E2E2E2">
                    <a:alpha val="0"/>
                  </a:srgb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55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04267F-1C34-4546-B38C-836557DA02D1}"/>
              </a:ext>
            </a:extLst>
          </p:cNvPr>
          <p:cNvSpPr/>
          <p:nvPr userDrawn="1"/>
        </p:nvSpPr>
        <p:spPr bwMode="auto">
          <a:xfrm>
            <a:off x="8317728" y="-884634"/>
            <a:ext cx="826272" cy="826272"/>
          </a:xfrm>
          <a:prstGeom prst="rect">
            <a:avLst/>
          </a:prstGeom>
          <a:solidFill>
            <a:srgbClr val="F8E618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D53DEAF-2726-4223-9403-9BCD32387EF0}"/>
              </a:ext>
            </a:extLst>
          </p:cNvPr>
          <p:cNvSpPr/>
          <p:nvPr userDrawn="1"/>
        </p:nvSpPr>
        <p:spPr bwMode="auto">
          <a:xfrm>
            <a:off x="7452320" y="-884634"/>
            <a:ext cx="826272" cy="826272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사각형</a:t>
            </a:r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6B396E-78F6-46D9-A8F1-9EE1D2142B77}"/>
              </a:ext>
            </a:extLst>
          </p:cNvPr>
          <p:cNvSpPr/>
          <p:nvPr userDrawn="1"/>
        </p:nvSpPr>
        <p:spPr bwMode="auto">
          <a:xfrm>
            <a:off x="6588224" y="-884634"/>
            <a:ext cx="826272" cy="826272"/>
          </a:xfrm>
          <a:prstGeom prst="rect">
            <a:avLst/>
          </a:prstGeom>
          <a:solidFill>
            <a:srgbClr val="FF330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6CC06E-7686-447F-9A5B-99DFFFABCA4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schemeClr val="bg1">
                <a:lumMod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744139" fontAlgn="auto">
              <a:spcBef>
                <a:spcPts val="488"/>
              </a:spcBef>
              <a:spcAft>
                <a:spcPts val="814"/>
              </a:spcAft>
              <a:buClr>
                <a:prstClr val="white">
                  <a:lumMod val="50000"/>
                </a:prstClr>
              </a:buClr>
            </a:pPr>
            <a:endParaRPr kumimoji="0" lang="ko-KR" altLang="en-US" sz="1800" spc="-122" dirty="0">
              <a:ln>
                <a:solidFill>
                  <a:srgbClr val="E2E2E2">
                    <a:alpha val="0"/>
                  </a:srgb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030707-3C6D-4AAD-A29F-EE3505B1104A}"/>
              </a:ext>
            </a:extLst>
          </p:cNvPr>
          <p:cNvSpPr/>
          <p:nvPr userDrawn="1"/>
        </p:nvSpPr>
        <p:spPr bwMode="auto">
          <a:xfrm>
            <a:off x="-5734" y="-536469"/>
            <a:ext cx="466409" cy="466409"/>
          </a:xfrm>
          <a:prstGeom prst="rect">
            <a:avLst/>
          </a:prstGeom>
          <a:solidFill>
            <a:srgbClr val="4527A1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EB5E4E-D0FC-4A5D-BBC0-A1D3F1526664}"/>
              </a:ext>
            </a:extLst>
          </p:cNvPr>
          <p:cNvSpPr/>
          <p:nvPr userDrawn="1"/>
        </p:nvSpPr>
        <p:spPr bwMode="auto">
          <a:xfrm>
            <a:off x="591972" y="-536469"/>
            <a:ext cx="466409" cy="466409"/>
          </a:xfrm>
          <a:prstGeom prst="rect">
            <a:avLst/>
          </a:prstGeom>
          <a:solidFill>
            <a:srgbClr val="673BB7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994BDDE-62D5-4AA6-B176-C08321660FA7}"/>
              </a:ext>
            </a:extLst>
          </p:cNvPr>
          <p:cNvSpPr/>
          <p:nvPr userDrawn="1"/>
        </p:nvSpPr>
        <p:spPr bwMode="auto">
          <a:xfrm>
            <a:off x="1189678" y="-536469"/>
            <a:ext cx="466409" cy="466409"/>
          </a:xfrm>
          <a:prstGeom prst="rect">
            <a:avLst/>
          </a:prstGeom>
          <a:solidFill>
            <a:srgbClr val="8B5DD9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C27529-05AC-478F-8C95-A270FB72DE6C}"/>
              </a:ext>
            </a:extLst>
          </p:cNvPr>
          <p:cNvSpPr/>
          <p:nvPr userDrawn="1"/>
        </p:nvSpPr>
        <p:spPr bwMode="auto">
          <a:xfrm>
            <a:off x="4178208" y="-536469"/>
            <a:ext cx="466409" cy="466409"/>
          </a:xfrm>
          <a:prstGeom prst="rect">
            <a:avLst/>
          </a:prstGeom>
          <a:solidFill>
            <a:srgbClr val="218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112122B-50F1-4745-8622-05584125BA3F}"/>
              </a:ext>
            </a:extLst>
          </p:cNvPr>
          <p:cNvSpPr/>
          <p:nvPr userDrawn="1"/>
        </p:nvSpPr>
        <p:spPr bwMode="auto">
          <a:xfrm>
            <a:off x="1787384" y="-536469"/>
            <a:ext cx="466409" cy="466409"/>
          </a:xfrm>
          <a:prstGeom prst="rect">
            <a:avLst/>
          </a:prstGeom>
          <a:solidFill>
            <a:srgbClr val="A282D4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C60CA21-7432-4445-BE8C-6FD43D3D7F1D}"/>
              </a:ext>
            </a:extLst>
          </p:cNvPr>
          <p:cNvSpPr/>
          <p:nvPr userDrawn="1"/>
        </p:nvSpPr>
        <p:spPr bwMode="auto">
          <a:xfrm>
            <a:off x="4775914" y="-536469"/>
            <a:ext cx="466409" cy="466409"/>
          </a:xfrm>
          <a:prstGeom prst="rect">
            <a:avLst/>
          </a:prstGeom>
          <a:solidFill>
            <a:srgbClr val="215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D21520-97CB-4C21-8053-A02EDAC81930}"/>
              </a:ext>
            </a:extLst>
          </p:cNvPr>
          <p:cNvSpPr/>
          <p:nvPr userDrawn="1"/>
        </p:nvSpPr>
        <p:spPr bwMode="auto">
          <a:xfrm>
            <a:off x="5373620" y="-536469"/>
            <a:ext cx="466409" cy="466409"/>
          </a:xfrm>
          <a:prstGeom prst="rect">
            <a:avLst/>
          </a:prstGeom>
          <a:solidFill>
            <a:srgbClr val="5D87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25E2EED-C4FD-40CE-86A4-1B343D54C2BD}"/>
              </a:ext>
            </a:extLst>
          </p:cNvPr>
          <p:cNvSpPr/>
          <p:nvPr userDrawn="1"/>
        </p:nvSpPr>
        <p:spPr bwMode="auto">
          <a:xfrm>
            <a:off x="3580502" y="-536469"/>
            <a:ext cx="466409" cy="466409"/>
          </a:xfrm>
          <a:prstGeom prst="rect">
            <a:avLst/>
          </a:prstGeom>
          <a:solidFill>
            <a:srgbClr val="67C1B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AC0B731-3434-4985-8F75-6A2B8C4A9513}"/>
              </a:ext>
            </a:extLst>
          </p:cNvPr>
          <p:cNvSpPr/>
          <p:nvPr userDrawn="1"/>
        </p:nvSpPr>
        <p:spPr bwMode="auto">
          <a:xfrm>
            <a:off x="5971325" y="-536469"/>
            <a:ext cx="466409" cy="466409"/>
          </a:xfrm>
          <a:prstGeom prst="rect">
            <a:avLst/>
          </a:prstGeom>
          <a:solidFill>
            <a:srgbClr val="91AD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34DB4F-1724-4ECB-9BA5-8872477F31FD}"/>
              </a:ext>
            </a:extLst>
          </p:cNvPr>
          <p:cNvSpPr/>
          <p:nvPr userDrawn="1"/>
        </p:nvSpPr>
        <p:spPr bwMode="auto">
          <a:xfrm>
            <a:off x="2385090" y="-536469"/>
            <a:ext cx="466409" cy="466409"/>
          </a:xfrm>
          <a:prstGeom prst="rect">
            <a:avLst/>
          </a:prstGeom>
          <a:solidFill>
            <a:srgbClr val="00A19A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E08EE-E8F2-498E-A322-A8A55C2CE63D}"/>
              </a:ext>
            </a:extLst>
          </p:cNvPr>
          <p:cNvSpPr/>
          <p:nvPr userDrawn="1"/>
        </p:nvSpPr>
        <p:spPr bwMode="auto">
          <a:xfrm>
            <a:off x="2982796" y="-536469"/>
            <a:ext cx="466409" cy="466409"/>
          </a:xfrm>
          <a:prstGeom prst="rect">
            <a:avLst/>
          </a:prstGeom>
          <a:solidFill>
            <a:srgbClr val="00C0A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0F5253E-8BFF-4425-9049-DC1E595CC1F2}"/>
              </a:ext>
            </a:extLst>
          </p:cNvPr>
          <p:cNvGrpSpPr/>
          <p:nvPr userDrawn="1"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3A64F86-940E-4BF7-8CFE-0CD91DA6546A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D96D1650-7DF9-4A3C-AE15-93F8313D8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BF3E607-3C51-46E3-B65F-B1032BD1ABC7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A7460B-9940-4FF6-8FD1-1FA2EC485E36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경영전략의 의미</a:t>
              </a:r>
              <a:endParaRPr lang="en-US" altLang="ko-KR" sz="22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바른고딕" pitchFamily="50" charset="-127"/>
                <a:ea typeface="나눔바른고딕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6C475E5-2116-402E-B0EF-AA9F67D73153}"/>
              </a:ext>
            </a:extLst>
          </p:cNvPr>
          <p:cNvGrpSpPr/>
          <p:nvPr userDrawn="1"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AD2C70D9-906D-4E59-84F1-BB6F12A3E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38" name="텍스트 개체 틀 7">
              <a:extLst>
                <a:ext uri="{FF2B5EF4-FFF2-40B4-BE49-F238E27FC236}">
                  <a16:creationId xmlns:a16="http://schemas.microsoft.com/office/drawing/2014/main" id="{0FEDE636-6708-4786-9FD4-9CBEE425283E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전략이란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440BAB6-9C99-42FA-AF08-2A23B6473B55}"/>
              </a:ext>
            </a:extLst>
          </p:cNvPr>
          <p:cNvGrpSpPr/>
          <p:nvPr userDrawn="1"/>
        </p:nvGrpSpPr>
        <p:grpSpPr>
          <a:xfrm>
            <a:off x="1001439" y="1481677"/>
            <a:ext cx="5226324" cy="707785"/>
            <a:chOff x="1001439" y="1481677"/>
            <a:chExt cx="5226324" cy="707785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AC77D564-D701-487B-9ED1-A5E80F459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1" name="텍스트 개체 틀 7">
              <a:extLst>
                <a:ext uri="{FF2B5EF4-FFF2-40B4-BE49-F238E27FC236}">
                  <a16:creationId xmlns:a16="http://schemas.microsoft.com/office/drawing/2014/main" id="{3565DC71-9B60-4CEF-9E8D-2DC383DD463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032853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일반 경영자가 전략 수립을 위해 관계를 창출해야 하는 요소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519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2" r:id="rId1"/>
    <p:sldLayoutId id="2147485083" r:id="rId2"/>
    <p:sldLayoutId id="2147485084" r:id="rId3"/>
    <p:sldLayoutId id="2147485085" r:id="rId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72">
          <p15:clr>
            <a:srgbClr val="F26B43"/>
          </p15:clr>
        </p15:guide>
        <p15:guide id="2" pos="204">
          <p15:clr>
            <a:srgbClr val="F26B43"/>
          </p15:clr>
        </p15:guide>
        <p15:guide id="3" pos="295">
          <p15:clr>
            <a:srgbClr val="F26B43"/>
          </p15:clr>
        </p15:guide>
        <p15:guide id="4" pos="5511">
          <p15:clr>
            <a:srgbClr val="F26B43"/>
          </p15:clr>
        </p15:guide>
        <p15:guide id="5" orient="horz" pos="577">
          <p15:clr>
            <a:srgbClr val="F26B43"/>
          </p15:clr>
        </p15:guide>
        <p15:guide id="6" orient="horz" pos="985" userDrawn="1">
          <p15:clr>
            <a:srgbClr val="F26B43"/>
          </p15:clr>
        </p15:guide>
        <p15:guide id="7" pos="3900">
          <p15:clr>
            <a:srgbClr val="F26B43"/>
          </p15:clr>
        </p15:guide>
        <p15:guide id="8" pos="408">
          <p15:clr>
            <a:srgbClr val="F26B43"/>
          </p15:clr>
        </p15:guide>
        <p15:guide id="9" pos="486">
          <p15:clr>
            <a:srgbClr val="F26B43"/>
          </p15:clr>
        </p15:guide>
        <p15:guide id="10" pos="612">
          <p15:clr>
            <a:srgbClr val="F26B43"/>
          </p15:clr>
        </p15:guide>
        <p15:guide id="11" pos="788">
          <p15:clr>
            <a:srgbClr val="F26B43"/>
          </p15:clr>
        </p15:guide>
        <p15:guide id="12" orient="horz" pos="715">
          <p15:clr>
            <a:srgbClr val="F26B43"/>
          </p15:clr>
        </p15:guide>
        <p15:guide id="13" orient="horz" pos="3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재무상태표 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재무상태표의 개념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7EE15D0-3F5E-4B88-9B9C-4EEFE4C6D3F8}"/>
              </a:ext>
            </a:extLst>
          </p:cNvPr>
          <p:cNvGrpSpPr/>
          <p:nvPr/>
        </p:nvGrpSpPr>
        <p:grpSpPr>
          <a:xfrm>
            <a:off x="613941" y="1059508"/>
            <a:ext cx="8278539" cy="735998"/>
            <a:chOff x="613941" y="1059509"/>
            <a:chExt cx="8286159" cy="528914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7A1B448-12A9-4704-9CD4-EA3386B1B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6C0C5A1-3210-45E3-A907-35605E84FF12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5289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일반적으로 부채와 자본은 우측에</a:t>
              </a:r>
              <a:endPara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자산은 좌측에 기록</a:t>
              </a: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7F1FC7F-E19B-4A09-A443-38646A7A5B65}"/>
              </a:ext>
            </a:extLst>
          </p:cNvPr>
          <p:cNvSpPr/>
          <p:nvPr/>
        </p:nvSpPr>
        <p:spPr bwMode="auto">
          <a:xfrm>
            <a:off x="2592229" y="3241944"/>
            <a:ext cx="1381271" cy="838849"/>
          </a:xfrm>
          <a:prstGeom prst="rect">
            <a:avLst/>
          </a:prstGeom>
          <a:solidFill>
            <a:srgbClr val="5D87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0699CD3-C467-49EB-971F-F22DF5E22B28}"/>
              </a:ext>
            </a:extLst>
          </p:cNvPr>
          <p:cNvSpPr/>
          <p:nvPr/>
        </p:nvSpPr>
        <p:spPr bwMode="auto">
          <a:xfrm>
            <a:off x="2603999" y="2283718"/>
            <a:ext cx="1369502" cy="958226"/>
          </a:xfrm>
          <a:prstGeom prst="rect">
            <a:avLst/>
          </a:prstGeom>
          <a:solidFill>
            <a:srgbClr val="00A19A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7834A20-852B-472B-926D-76BDDDA8A59B}"/>
              </a:ext>
            </a:extLst>
          </p:cNvPr>
          <p:cNvGrpSpPr/>
          <p:nvPr/>
        </p:nvGrpSpPr>
        <p:grpSpPr>
          <a:xfrm>
            <a:off x="1052022" y="2283718"/>
            <a:ext cx="1490193" cy="1797075"/>
            <a:chOff x="-25604" y="2623439"/>
            <a:chExt cx="1381271" cy="796007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A92AC37-6255-4A35-BA1E-20FE0A4B5FBA}"/>
                </a:ext>
              </a:extLst>
            </p:cNvPr>
            <p:cNvSpPr/>
            <p:nvPr/>
          </p:nvSpPr>
          <p:spPr bwMode="auto">
            <a:xfrm>
              <a:off x="-25604" y="2623439"/>
              <a:ext cx="1381271" cy="796007"/>
            </a:xfrm>
            <a:prstGeom prst="rect">
              <a:avLst/>
            </a:prstGeom>
            <a:solidFill>
              <a:srgbClr val="8B5DD9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텍스트 개체 틀 7">
              <a:extLst>
                <a:ext uri="{FF2B5EF4-FFF2-40B4-BE49-F238E27FC236}">
                  <a16:creationId xmlns:a16="http://schemas.microsoft.com/office/drawing/2014/main" id="{2FC81690-060B-4168-8A1A-2433111ECA8C}"/>
                </a:ext>
              </a:extLst>
            </p:cNvPr>
            <p:cNvSpPr txBox="1">
              <a:spLocks/>
            </p:cNvSpPr>
            <p:nvPr/>
          </p:nvSpPr>
          <p:spPr>
            <a:xfrm>
              <a:off x="135828" y="2910499"/>
              <a:ext cx="1079952" cy="177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자산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5" name="텍스트 개체 틀 7">
            <a:extLst>
              <a:ext uri="{FF2B5EF4-FFF2-40B4-BE49-F238E27FC236}">
                <a16:creationId xmlns:a16="http://schemas.microsoft.com/office/drawing/2014/main" id="{39D478E5-1D11-4DEF-B62F-FA5FABBE446D}"/>
              </a:ext>
            </a:extLst>
          </p:cNvPr>
          <p:cNvSpPr txBox="1">
            <a:spLocks/>
          </p:cNvSpPr>
          <p:nvPr/>
        </p:nvSpPr>
        <p:spPr>
          <a:xfrm>
            <a:off x="2826328" y="2615283"/>
            <a:ext cx="913071" cy="400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buClr>
                <a:schemeClr val="tx1">
                  <a:lumMod val="65000"/>
                  <a:lumOff val="35000"/>
                </a:schemeClr>
              </a:buClr>
            </a:pPr>
            <a:r>
              <a:rPr lang="ko-KR" altLang="en-US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부채</a:t>
            </a:r>
            <a:endParaRPr lang="en-US" altLang="ko-KR" sz="2000" spc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텍스트 개체 틀 7">
            <a:extLst>
              <a:ext uri="{FF2B5EF4-FFF2-40B4-BE49-F238E27FC236}">
                <a16:creationId xmlns:a16="http://schemas.microsoft.com/office/drawing/2014/main" id="{2FC81690-060B-4168-8A1A-2433111ECA8C}"/>
              </a:ext>
            </a:extLst>
          </p:cNvPr>
          <p:cNvSpPr txBox="1">
            <a:spLocks/>
          </p:cNvSpPr>
          <p:nvPr/>
        </p:nvSpPr>
        <p:spPr>
          <a:xfrm>
            <a:off x="2776317" y="3441993"/>
            <a:ext cx="1013091" cy="400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buClr>
                <a:schemeClr val="tx1">
                  <a:lumMod val="65000"/>
                  <a:lumOff val="35000"/>
                </a:schemeClr>
              </a:buClr>
            </a:pPr>
            <a:r>
              <a:rPr lang="ko-KR" altLang="en-US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자본</a:t>
            </a:r>
            <a:endParaRPr lang="en-US" altLang="ko-KR" sz="2000" spc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174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재무상태표 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재무상태표의 개념 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7EE15D0-3F5E-4B88-9B9C-4EEFE4C6D3F8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7A1B448-12A9-4704-9CD4-EA3386B1B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6C0C5A1-3210-45E3-A907-35605E84FF12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재무상태표란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90C389F-00DF-4C86-A57B-9655B5FB1093}"/>
              </a:ext>
            </a:extLst>
          </p:cNvPr>
          <p:cNvGrpSpPr/>
          <p:nvPr/>
        </p:nvGrpSpPr>
        <p:grpSpPr>
          <a:xfrm>
            <a:off x="971459" y="1481677"/>
            <a:ext cx="5370761" cy="400009"/>
            <a:chOff x="1001439" y="1481677"/>
            <a:chExt cx="5370761" cy="400009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267FAE2-7AF0-48E9-99FB-67FE6D573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7" name="텍스트 개체 틀 7">
              <a:extLst>
                <a:ext uri="{FF2B5EF4-FFF2-40B4-BE49-F238E27FC236}">
                  <a16:creationId xmlns:a16="http://schemas.microsoft.com/office/drawing/2014/main" id="{933927D2-1E5C-4470-890A-70EB12FB3A62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일정한 시점에 회사의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재산상황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나타낸 표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AF63DED-D2C6-4481-A02D-DEA1AFC20538}"/>
              </a:ext>
            </a:extLst>
          </p:cNvPr>
          <p:cNvGrpSpPr/>
          <p:nvPr/>
        </p:nvGrpSpPr>
        <p:grpSpPr>
          <a:xfrm>
            <a:off x="971459" y="1923678"/>
            <a:ext cx="5370761" cy="707785"/>
            <a:chOff x="1001439" y="1481677"/>
            <a:chExt cx="5370761" cy="707785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B90E9179-E3FE-47D9-BB7B-9949EE3D4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4" name="텍스트 개체 틀 7">
              <a:extLst>
                <a:ext uri="{FF2B5EF4-FFF2-40B4-BE49-F238E27FC236}">
                  <a16:creationId xmlns:a16="http://schemas.microsoft.com/office/drawing/2014/main" id="{BE623B5F-94FF-41C6-9565-F32C257A59C2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일반적으로 왼쪽에 자산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오른 쪽에 부채와 자본 표시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680ECC9-FB33-4EC5-BCB1-F7C2AF481CA2}"/>
              </a:ext>
            </a:extLst>
          </p:cNvPr>
          <p:cNvGrpSpPr/>
          <p:nvPr/>
        </p:nvGrpSpPr>
        <p:grpSpPr>
          <a:xfrm>
            <a:off x="971459" y="2617515"/>
            <a:ext cx="5370761" cy="707785"/>
            <a:chOff x="1001439" y="1481677"/>
            <a:chExt cx="5370761" cy="707785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98A9033A-CEBB-44C1-8B3D-14FD3E0CA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0" name="텍스트 개체 틀 7">
              <a:extLst>
                <a:ext uri="{FF2B5EF4-FFF2-40B4-BE49-F238E27FC236}">
                  <a16:creationId xmlns:a16="http://schemas.microsoft.com/office/drawing/2014/main" id="{C3A10EB4-FA79-402A-9DC7-ABFA0F02EE7E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0" lvl="2" algn="l" defTabSz="914126">
                <a:spcBef>
                  <a:spcPts val="7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기업의 안전성</a:t>
              </a:r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유동성</a:t>
              </a:r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활동성</a:t>
              </a:r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수익성 등을 평가하는 정보 제공 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C37132A-4365-47C9-9AC3-70A1D5864B60}"/>
              </a:ext>
            </a:extLst>
          </p:cNvPr>
          <p:cNvGrpSpPr/>
          <p:nvPr/>
        </p:nvGrpSpPr>
        <p:grpSpPr>
          <a:xfrm>
            <a:off x="971459" y="3363838"/>
            <a:ext cx="5370761" cy="400009"/>
            <a:chOff x="1001439" y="1481677"/>
            <a:chExt cx="5370761" cy="400009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9339FDBB-96FD-42C3-87E4-A0A41670B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3" name="텍스트 개체 틀 7">
              <a:extLst>
                <a:ext uri="{FF2B5EF4-FFF2-40B4-BE49-F238E27FC236}">
                  <a16:creationId xmlns:a16="http://schemas.microsoft.com/office/drawing/2014/main" id="{520BDE43-73D8-45BE-8BC0-2953FF1F3F52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기업의 미래를 예측하는 데도 유용한 정보 제공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08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재무상태표 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재무상태표의 구성 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7EE15D0-3F5E-4B88-9B9C-4EEFE4C6D3F8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7A1B448-12A9-4704-9CD4-EA3386B1B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6C0C5A1-3210-45E3-A907-35605E84FF12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부채와 자본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B036758-0295-4395-9E35-5E2EA5879489}"/>
              </a:ext>
            </a:extLst>
          </p:cNvPr>
          <p:cNvGrpSpPr/>
          <p:nvPr/>
        </p:nvGrpSpPr>
        <p:grpSpPr>
          <a:xfrm>
            <a:off x="1719963" y="3244639"/>
            <a:ext cx="5219700" cy="801608"/>
            <a:chOff x="670447" y="3003798"/>
            <a:chExt cx="5219700" cy="801608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211A560-09F7-4148-A685-4252E6272EA3}"/>
                </a:ext>
              </a:extLst>
            </p:cNvPr>
            <p:cNvSpPr/>
            <p:nvPr/>
          </p:nvSpPr>
          <p:spPr bwMode="auto">
            <a:xfrm>
              <a:off x="670447" y="3003798"/>
              <a:ext cx="5219700" cy="801608"/>
            </a:xfrm>
            <a:prstGeom prst="rect">
              <a:avLst/>
            </a:prstGeom>
            <a:solidFill>
              <a:schemeClr val="bg1"/>
            </a:solidFill>
            <a:ln w="38100">
              <a:noFill/>
              <a:headEnd type="none" w="med" len="med"/>
              <a:tailEnd type="triangle" w="med" len="med"/>
            </a:ln>
            <a:effectLst>
              <a:outerShdw blurRad="508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7F1FC7F-E19B-4A09-A443-38646A7A5B65}"/>
                </a:ext>
              </a:extLst>
            </p:cNvPr>
            <p:cNvSpPr/>
            <p:nvPr/>
          </p:nvSpPr>
          <p:spPr bwMode="auto">
            <a:xfrm>
              <a:off x="670448" y="3009399"/>
              <a:ext cx="1381271" cy="796007"/>
            </a:xfrm>
            <a:prstGeom prst="rect">
              <a:avLst/>
            </a:prstGeom>
            <a:solidFill>
              <a:srgbClr val="5D87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텍스트 개체 틀 7">
              <a:extLst>
                <a:ext uri="{FF2B5EF4-FFF2-40B4-BE49-F238E27FC236}">
                  <a16:creationId xmlns:a16="http://schemas.microsoft.com/office/drawing/2014/main" id="{5915CC46-6192-4EAD-B607-673D569B426C}"/>
                </a:ext>
              </a:extLst>
            </p:cNvPr>
            <p:cNvSpPr txBox="1">
              <a:spLocks/>
            </p:cNvSpPr>
            <p:nvPr/>
          </p:nvSpPr>
          <p:spPr>
            <a:xfrm>
              <a:off x="914475" y="3204597"/>
              <a:ext cx="913071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자본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3D2C365-ACED-4279-868E-4C325135DA4F}"/>
              </a:ext>
            </a:extLst>
          </p:cNvPr>
          <p:cNvGrpSpPr/>
          <p:nvPr/>
        </p:nvGrpSpPr>
        <p:grpSpPr>
          <a:xfrm>
            <a:off x="1719963" y="1594596"/>
            <a:ext cx="5171850" cy="1449243"/>
            <a:chOff x="670447" y="1203598"/>
            <a:chExt cx="5219700" cy="80720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3D86C7B-F3DE-40F4-965A-E5358CCB088B}"/>
                </a:ext>
              </a:extLst>
            </p:cNvPr>
            <p:cNvSpPr/>
            <p:nvPr/>
          </p:nvSpPr>
          <p:spPr bwMode="auto">
            <a:xfrm>
              <a:off x="670447" y="1203598"/>
              <a:ext cx="5219700" cy="807209"/>
            </a:xfrm>
            <a:prstGeom prst="rect">
              <a:avLst/>
            </a:prstGeom>
            <a:solidFill>
              <a:schemeClr val="bg1"/>
            </a:solidFill>
            <a:ln w="38100">
              <a:noFill/>
              <a:headEnd type="none" w="med" len="med"/>
              <a:tailEnd type="triangle" w="med" len="med"/>
            </a:ln>
            <a:effectLst>
              <a:outerShdw blurRad="508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0699CD3-C467-49EB-971F-F22DF5E22B28}"/>
                </a:ext>
              </a:extLst>
            </p:cNvPr>
            <p:cNvSpPr/>
            <p:nvPr/>
          </p:nvSpPr>
          <p:spPr bwMode="auto">
            <a:xfrm>
              <a:off x="670448" y="1209199"/>
              <a:ext cx="1381271" cy="801608"/>
            </a:xfrm>
            <a:prstGeom prst="rect">
              <a:avLst/>
            </a:prstGeom>
            <a:solidFill>
              <a:srgbClr val="00A19A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텍스트 개체 틀 7">
              <a:extLst>
                <a:ext uri="{FF2B5EF4-FFF2-40B4-BE49-F238E27FC236}">
                  <a16:creationId xmlns:a16="http://schemas.microsoft.com/office/drawing/2014/main" id="{39D478E5-1D11-4DEF-B62F-FA5FABBE446D}"/>
                </a:ext>
              </a:extLst>
            </p:cNvPr>
            <p:cNvSpPr txBox="1">
              <a:spLocks/>
            </p:cNvSpPr>
            <p:nvPr/>
          </p:nvSpPr>
          <p:spPr>
            <a:xfrm>
              <a:off x="916733" y="1505502"/>
              <a:ext cx="913071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9" name="텍스트 개체 틀 7">
            <a:extLst>
              <a:ext uri="{FF2B5EF4-FFF2-40B4-BE49-F238E27FC236}">
                <a16:creationId xmlns:a16="http://schemas.microsoft.com/office/drawing/2014/main" id="{C774F4DF-46AB-43E3-8791-6FB8C193D71B}"/>
              </a:ext>
            </a:extLst>
          </p:cNvPr>
          <p:cNvSpPr txBox="1">
            <a:spLocks/>
          </p:cNvSpPr>
          <p:nvPr/>
        </p:nvSpPr>
        <p:spPr>
          <a:xfrm>
            <a:off x="3067583" y="1675084"/>
            <a:ext cx="3600400" cy="1179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빌린 돈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유동부채 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이내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비유동부채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이상</a:t>
            </a:r>
          </a:p>
        </p:txBody>
      </p:sp>
      <p:sp>
        <p:nvSpPr>
          <p:cNvPr id="50" name="텍스트 개체 틀 7">
            <a:extLst>
              <a:ext uri="{FF2B5EF4-FFF2-40B4-BE49-F238E27FC236}">
                <a16:creationId xmlns:a16="http://schemas.microsoft.com/office/drawing/2014/main" id="{83103C53-BC67-493D-9A4A-DD346399B1A8}"/>
              </a:ext>
            </a:extLst>
          </p:cNvPr>
          <p:cNvSpPr txBox="1">
            <a:spLocks/>
          </p:cNvSpPr>
          <p:nvPr/>
        </p:nvSpPr>
        <p:spPr>
          <a:xfrm>
            <a:off x="3219778" y="3278871"/>
            <a:ext cx="3600400" cy="646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주주가 투자한 자금으로서 갚을 의무가 없음</a:t>
            </a:r>
          </a:p>
        </p:txBody>
      </p:sp>
    </p:spTree>
    <p:extLst>
      <p:ext uri="{BB962C8B-B14F-4D97-AF65-F5344CB8AC3E}">
        <p14:creationId xmlns:p14="http://schemas.microsoft.com/office/powerpoint/2010/main" val="19964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E1BCF3-26BF-F61D-89AD-85737A37B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99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BBA2A7-2F37-ACBF-2A61-BD84CC569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6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5C1101B-57E7-EFCF-6681-C27948085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65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9F1BAC-419D-986E-350F-8D75F6CD6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12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A4904B-CB9C-A911-D245-6C9C3A78B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8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1624D7-9EDB-2230-E81E-D244A0464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53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5CD63BD-7221-845A-EF0B-DD6DBACFC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8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01B0064-B60B-DF0D-E4E2-D5F3D7DBD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66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0F4AD7-33E4-1280-F006-83C993E63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22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재무상태표 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재무상태표의 구성 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7EE15D0-3F5E-4B88-9B9C-4EEFE4C6D3F8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7A1B448-12A9-4704-9CD4-EA3386B1B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6C0C5A1-3210-45E3-A907-35605E84FF12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유동자산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B036758-0295-4395-9E35-5E2EA5879489}"/>
              </a:ext>
            </a:extLst>
          </p:cNvPr>
          <p:cNvGrpSpPr/>
          <p:nvPr/>
        </p:nvGrpSpPr>
        <p:grpSpPr>
          <a:xfrm>
            <a:off x="971550" y="2571750"/>
            <a:ext cx="5219700" cy="801608"/>
            <a:chOff x="670447" y="3003798"/>
            <a:chExt cx="5219700" cy="801608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211A560-09F7-4148-A685-4252E6272EA3}"/>
                </a:ext>
              </a:extLst>
            </p:cNvPr>
            <p:cNvSpPr/>
            <p:nvPr/>
          </p:nvSpPr>
          <p:spPr bwMode="auto">
            <a:xfrm>
              <a:off x="670447" y="3003798"/>
              <a:ext cx="5219700" cy="801608"/>
            </a:xfrm>
            <a:prstGeom prst="rect">
              <a:avLst/>
            </a:prstGeom>
            <a:solidFill>
              <a:schemeClr val="bg1"/>
            </a:solidFill>
            <a:ln w="38100">
              <a:noFill/>
              <a:headEnd type="none" w="med" len="med"/>
              <a:tailEnd type="triangle" w="med" len="med"/>
            </a:ln>
            <a:effectLst>
              <a:outerShdw blurRad="508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7F1FC7F-E19B-4A09-A443-38646A7A5B65}"/>
                </a:ext>
              </a:extLst>
            </p:cNvPr>
            <p:cNvSpPr/>
            <p:nvPr/>
          </p:nvSpPr>
          <p:spPr bwMode="auto">
            <a:xfrm>
              <a:off x="670448" y="3009399"/>
              <a:ext cx="1381271" cy="796007"/>
            </a:xfrm>
            <a:prstGeom prst="rect">
              <a:avLst/>
            </a:prstGeom>
            <a:solidFill>
              <a:srgbClr val="5D87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텍스트 개체 틀 7">
              <a:extLst>
                <a:ext uri="{FF2B5EF4-FFF2-40B4-BE49-F238E27FC236}">
                  <a16:creationId xmlns:a16="http://schemas.microsoft.com/office/drawing/2014/main" id="{5915CC46-6192-4EAD-B607-673D569B426C}"/>
                </a:ext>
              </a:extLst>
            </p:cNvPr>
            <p:cNvSpPr txBox="1">
              <a:spLocks/>
            </p:cNvSpPr>
            <p:nvPr/>
          </p:nvSpPr>
          <p:spPr>
            <a:xfrm>
              <a:off x="670447" y="3204597"/>
              <a:ext cx="1381272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매출채권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3D2C365-ACED-4279-868E-4C325135DA4F}"/>
              </a:ext>
            </a:extLst>
          </p:cNvPr>
          <p:cNvGrpSpPr/>
          <p:nvPr/>
        </p:nvGrpSpPr>
        <p:grpSpPr>
          <a:xfrm>
            <a:off x="971550" y="1563638"/>
            <a:ext cx="5219700" cy="807209"/>
            <a:chOff x="670447" y="1203598"/>
            <a:chExt cx="5219700" cy="80720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3D86C7B-F3DE-40F4-965A-E5358CCB088B}"/>
                </a:ext>
              </a:extLst>
            </p:cNvPr>
            <p:cNvSpPr/>
            <p:nvPr/>
          </p:nvSpPr>
          <p:spPr bwMode="auto">
            <a:xfrm>
              <a:off x="670447" y="1203598"/>
              <a:ext cx="5219700" cy="807209"/>
            </a:xfrm>
            <a:prstGeom prst="rect">
              <a:avLst/>
            </a:prstGeom>
            <a:solidFill>
              <a:schemeClr val="bg1"/>
            </a:solidFill>
            <a:ln w="38100">
              <a:noFill/>
              <a:headEnd type="none" w="med" len="med"/>
              <a:tailEnd type="triangle" w="med" len="med"/>
            </a:ln>
            <a:effectLst>
              <a:outerShdw blurRad="508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0699CD3-C467-49EB-971F-F22DF5E22B28}"/>
                </a:ext>
              </a:extLst>
            </p:cNvPr>
            <p:cNvSpPr/>
            <p:nvPr/>
          </p:nvSpPr>
          <p:spPr bwMode="auto">
            <a:xfrm>
              <a:off x="670448" y="1209199"/>
              <a:ext cx="1381271" cy="801608"/>
            </a:xfrm>
            <a:prstGeom prst="rect">
              <a:avLst/>
            </a:prstGeom>
            <a:solidFill>
              <a:srgbClr val="00A19A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텍스트 개체 틀 7">
              <a:extLst>
                <a:ext uri="{FF2B5EF4-FFF2-40B4-BE49-F238E27FC236}">
                  <a16:creationId xmlns:a16="http://schemas.microsoft.com/office/drawing/2014/main" id="{39D478E5-1D11-4DEF-B62F-FA5FABBE446D}"/>
                </a:ext>
              </a:extLst>
            </p:cNvPr>
            <p:cNvSpPr txBox="1">
              <a:spLocks/>
            </p:cNvSpPr>
            <p:nvPr/>
          </p:nvSpPr>
          <p:spPr>
            <a:xfrm>
              <a:off x="904547" y="1407197"/>
              <a:ext cx="913071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현금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9" name="텍스트 개체 틀 7">
            <a:extLst>
              <a:ext uri="{FF2B5EF4-FFF2-40B4-BE49-F238E27FC236}">
                <a16:creationId xmlns:a16="http://schemas.microsoft.com/office/drawing/2014/main" id="{C774F4DF-46AB-43E3-8791-6FB8C193D71B}"/>
              </a:ext>
            </a:extLst>
          </p:cNvPr>
          <p:cNvSpPr txBox="1">
            <a:spLocks/>
          </p:cNvSpPr>
          <p:nvPr/>
        </p:nvSpPr>
        <p:spPr>
          <a:xfrm>
            <a:off x="2352822" y="1629595"/>
            <a:ext cx="3838427" cy="646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현금 및 현금으로 쉽게 전환되는 현금성자산</a:t>
            </a:r>
          </a:p>
        </p:txBody>
      </p:sp>
      <p:sp>
        <p:nvSpPr>
          <p:cNvPr id="50" name="텍스트 개체 틀 7">
            <a:extLst>
              <a:ext uri="{FF2B5EF4-FFF2-40B4-BE49-F238E27FC236}">
                <a16:creationId xmlns:a16="http://schemas.microsoft.com/office/drawing/2014/main" id="{83103C53-BC67-493D-9A4A-DD346399B1A8}"/>
              </a:ext>
            </a:extLst>
          </p:cNvPr>
          <p:cNvSpPr txBox="1">
            <a:spLocks/>
          </p:cNvSpPr>
          <p:nvPr/>
        </p:nvSpPr>
        <p:spPr>
          <a:xfrm>
            <a:off x="2352822" y="2637707"/>
            <a:ext cx="3838427" cy="646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물건을 외상으로 팔고 난 후 돈을 받을 권리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7834A20-852B-472B-926D-76BDDDA8A59B}"/>
              </a:ext>
            </a:extLst>
          </p:cNvPr>
          <p:cNvGrpSpPr/>
          <p:nvPr/>
        </p:nvGrpSpPr>
        <p:grpSpPr>
          <a:xfrm>
            <a:off x="971550" y="3568556"/>
            <a:ext cx="5219700" cy="801608"/>
            <a:chOff x="670447" y="3003798"/>
            <a:chExt cx="5219700" cy="801608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674BA22-D94C-4CEB-8FDE-85331D78A821}"/>
                </a:ext>
              </a:extLst>
            </p:cNvPr>
            <p:cNvSpPr/>
            <p:nvPr/>
          </p:nvSpPr>
          <p:spPr bwMode="auto">
            <a:xfrm>
              <a:off x="670447" y="3003798"/>
              <a:ext cx="5219700" cy="801608"/>
            </a:xfrm>
            <a:prstGeom prst="rect">
              <a:avLst/>
            </a:prstGeom>
            <a:solidFill>
              <a:schemeClr val="bg1"/>
            </a:solidFill>
            <a:ln w="38100">
              <a:noFill/>
              <a:headEnd type="none" w="med" len="med"/>
              <a:tailEnd type="triangle" w="med" len="med"/>
            </a:ln>
            <a:effectLst>
              <a:outerShdw blurRad="508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A92AC37-6255-4A35-BA1E-20FE0A4B5FBA}"/>
                </a:ext>
              </a:extLst>
            </p:cNvPr>
            <p:cNvSpPr/>
            <p:nvPr/>
          </p:nvSpPr>
          <p:spPr bwMode="auto">
            <a:xfrm>
              <a:off x="670448" y="3009399"/>
              <a:ext cx="1381271" cy="796007"/>
            </a:xfrm>
            <a:prstGeom prst="rect">
              <a:avLst/>
            </a:prstGeom>
            <a:solidFill>
              <a:srgbClr val="8B5DD9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텍스트 개체 틀 7">
              <a:extLst>
                <a:ext uri="{FF2B5EF4-FFF2-40B4-BE49-F238E27FC236}">
                  <a16:creationId xmlns:a16="http://schemas.microsoft.com/office/drawing/2014/main" id="{2FC81690-060B-4168-8A1A-2433111ECA8C}"/>
                </a:ext>
              </a:extLst>
            </p:cNvPr>
            <p:cNvSpPr txBox="1">
              <a:spLocks/>
            </p:cNvSpPr>
            <p:nvPr/>
          </p:nvSpPr>
          <p:spPr>
            <a:xfrm>
              <a:off x="670447" y="3204597"/>
              <a:ext cx="1381272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재고자산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5" name="텍스트 개체 틀 7">
            <a:extLst>
              <a:ext uri="{FF2B5EF4-FFF2-40B4-BE49-F238E27FC236}">
                <a16:creationId xmlns:a16="http://schemas.microsoft.com/office/drawing/2014/main" id="{062A51B5-B4FB-4EE0-B27D-4BABB7C4D98B}"/>
              </a:ext>
            </a:extLst>
          </p:cNvPr>
          <p:cNvSpPr txBox="1">
            <a:spLocks/>
          </p:cNvSpPr>
          <p:nvPr/>
        </p:nvSpPr>
        <p:spPr>
          <a:xfrm>
            <a:off x="2352822" y="3634513"/>
            <a:ext cx="3838427" cy="646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생산 또는 판매를 위해 기업이 보유하고 있는 자산</a:t>
            </a:r>
          </a:p>
        </p:txBody>
      </p:sp>
    </p:spTree>
    <p:extLst>
      <p:ext uri="{BB962C8B-B14F-4D97-AF65-F5344CB8AC3E}">
        <p14:creationId xmlns:p14="http://schemas.microsoft.com/office/powerpoint/2010/main" val="162399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68D34F-26C3-EE78-5049-8581A0CC7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93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93124A-EBC2-52C8-F576-BD4613E47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081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3A73DC-6029-B948-7B3F-330B8CE28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09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65F8BD-E9D6-DE1E-4D19-A402C1227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49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F51F8E-9EA8-F956-FED2-7EA180CF8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03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7D3DA8-2030-33C9-9483-659F7B707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02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88C455-20AA-365F-3673-CC78FED84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56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00ADED-DF86-D017-D8E2-F3F952FAD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14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52EB687-5F0E-C77F-6B78-95C85A3AE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32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재무상태표 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재무상태표의 구성 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7EE15D0-3F5E-4B88-9B9C-4EEFE4C6D3F8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7A1B448-12A9-4704-9CD4-EA3386B1B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6C0C5A1-3210-45E3-A907-35605E84FF12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비유동자산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B036758-0295-4395-9E35-5E2EA5879489}"/>
              </a:ext>
            </a:extLst>
          </p:cNvPr>
          <p:cNvGrpSpPr/>
          <p:nvPr/>
        </p:nvGrpSpPr>
        <p:grpSpPr>
          <a:xfrm>
            <a:off x="971550" y="2571750"/>
            <a:ext cx="5219700" cy="801608"/>
            <a:chOff x="670447" y="3003798"/>
            <a:chExt cx="5219700" cy="801608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211A560-09F7-4148-A685-4252E6272EA3}"/>
                </a:ext>
              </a:extLst>
            </p:cNvPr>
            <p:cNvSpPr/>
            <p:nvPr/>
          </p:nvSpPr>
          <p:spPr bwMode="auto">
            <a:xfrm>
              <a:off x="670447" y="3003798"/>
              <a:ext cx="5219700" cy="801608"/>
            </a:xfrm>
            <a:prstGeom prst="rect">
              <a:avLst/>
            </a:prstGeom>
            <a:solidFill>
              <a:schemeClr val="bg1"/>
            </a:solidFill>
            <a:ln w="38100">
              <a:noFill/>
              <a:headEnd type="none" w="med" len="med"/>
              <a:tailEnd type="triangle" w="med" len="med"/>
            </a:ln>
            <a:effectLst>
              <a:outerShdw blurRad="508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7F1FC7F-E19B-4A09-A443-38646A7A5B65}"/>
                </a:ext>
              </a:extLst>
            </p:cNvPr>
            <p:cNvSpPr/>
            <p:nvPr/>
          </p:nvSpPr>
          <p:spPr bwMode="auto">
            <a:xfrm>
              <a:off x="670448" y="3009399"/>
              <a:ext cx="1381271" cy="796007"/>
            </a:xfrm>
            <a:prstGeom prst="rect">
              <a:avLst/>
            </a:prstGeom>
            <a:solidFill>
              <a:srgbClr val="5D87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텍스트 개체 틀 7">
              <a:extLst>
                <a:ext uri="{FF2B5EF4-FFF2-40B4-BE49-F238E27FC236}">
                  <a16:creationId xmlns:a16="http://schemas.microsoft.com/office/drawing/2014/main" id="{5915CC46-6192-4EAD-B607-673D569B426C}"/>
                </a:ext>
              </a:extLst>
            </p:cNvPr>
            <p:cNvSpPr txBox="1">
              <a:spLocks/>
            </p:cNvSpPr>
            <p:nvPr/>
          </p:nvSpPr>
          <p:spPr>
            <a:xfrm>
              <a:off x="670447" y="3204597"/>
              <a:ext cx="1381272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무형자산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3D2C365-ACED-4279-868E-4C325135DA4F}"/>
              </a:ext>
            </a:extLst>
          </p:cNvPr>
          <p:cNvGrpSpPr/>
          <p:nvPr/>
        </p:nvGrpSpPr>
        <p:grpSpPr>
          <a:xfrm>
            <a:off x="971550" y="1563638"/>
            <a:ext cx="5219700" cy="807209"/>
            <a:chOff x="670447" y="1203598"/>
            <a:chExt cx="5219700" cy="80720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3D86C7B-F3DE-40F4-965A-E5358CCB088B}"/>
                </a:ext>
              </a:extLst>
            </p:cNvPr>
            <p:cNvSpPr/>
            <p:nvPr/>
          </p:nvSpPr>
          <p:spPr bwMode="auto">
            <a:xfrm>
              <a:off x="670447" y="1203598"/>
              <a:ext cx="5219700" cy="807209"/>
            </a:xfrm>
            <a:prstGeom prst="rect">
              <a:avLst/>
            </a:prstGeom>
            <a:solidFill>
              <a:schemeClr val="bg1"/>
            </a:solidFill>
            <a:ln w="38100">
              <a:noFill/>
              <a:headEnd type="none" w="med" len="med"/>
              <a:tailEnd type="triangle" w="med" len="med"/>
            </a:ln>
            <a:effectLst>
              <a:outerShdw blurRad="508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0699CD3-C467-49EB-971F-F22DF5E22B28}"/>
                </a:ext>
              </a:extLst>
            </p:cNvPr>
            <p:cNvSpPr/>
            <p:nvPr/>
          </p:nvSpPr>
          <p:spPr bwMode="auto">
            <a:xfrm>
              <a:off x="670448" y="1209199"/>
              <a:ext cx="1381271" cy="801608"/>
            </a:xfrm>
            <a:prstGeom prst="rect">
              <a:avLst/>
            </a:prstGeom>
            <a:solidFill>
              <a:srgbClr val="00A19A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텍스트 개체 틀 7">
              <a:extLst>
                <a:ext uri="{FF2B5EF4-FFF2-40B4-BE49-F238E27FC236}">
                  <a16:creationId xmlns:a16="http://schemas.microsoft.com/office/drawing/2014/main" id="{39D478E5-1D11-4DEF-B62F-FA5FABBE446D}"/>
                </a:ext>
              </a:extLst>
            </p:cNvPr>
            <p:cNvSpPr txBox="1">
              <a:spLocks/>
            </p:cNvSpPr>
            <p:nvPr/>
          </p:nvSpPr>
          <p:spPr>
            <a:xfrm>
              <a:off x="670447" y="1407197"/>
              <a:ext cx="1381271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유형자산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9" name="텍스트 개체 틀 7">
            <a:extLst>
              <a:ext uri="{FF2B5EF4-FFF2-40B4-BE49-F238E27FC236}">
                <a16:creationId xmlns:a16="http://schemas.microsoft.com/office/drawing/2014/main" id="{C774F4DF-46AB-43E3-8791-6FB8C193D71B}"/>
              </a:ext>
            </a:extLst>
          </p:cNvPr>
          <p:cNvSpPr txBox="1">
            <a:spLocks/>
          </p:cNvSpPr>
          <p:nvPr/>
        </p:nvSpPr>
        <p:spPr>
          <a:xfrm>
            <a:off x="2352822" y="1629595"/>
            <a:ext cx="3838427" cy="646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물리적 형태가 있으며 생산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보관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판매 등에 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이상 사용되는 자산</a:t>
            </a:r>
          </a:p>
        </p:txBody>
      </p:sp>
      <p:sp>
        <p:nvSpPr>
          <p:cNvPr id="50" name="텍스트 개체 틀 7">
            <a:extLst>
              <a:ext uri="{FF2B5EF4-FFF2-40B4-BE49-F238E27FC236}">
                <a16:creationId xmlns:a16="http://schemas.microsoft.com/office/drawing/2014/main" id="{83103C53-BC67-493D-9A4A-DD346399B1A8}"/>
              </a:ext>
            </a:extLst>
          </p:cNvPr>
          <p:cNvSpPr txBox="1">
            <a:spLocks/>
          </p:cNvSpPr>
          <p:nvPr/>
        </p:nvSpPr>
        <p:spPr>
          <a:xfrm>
            <a:off x="2352822" y="2637707"/>
            <a:ext cx="3838427" cy="646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물리적 형태가 없으며 생산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보관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판매 등에 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이상 사용되는 자산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7834A20-852B-472B-926D-76BDDDA8A59B}"/>
              </a:ext>
            </a:extLst>
          </p:cNvPr>
          <p:cNvGrpSpPr/>
          <p:nvPr/>
        </p:nvGrpSpPr>
        <p:grpSpPr>
          <a:xfrm>
            <a:off x="971550" y="3568556"/>
            <a:ext cx="5219700" cy="801608"/>
            <a:chOff x="670447" y="3003798"/>
            <a:chExt cx="5219700" cy="801608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674BA22-D94C-4CEB-8FDE-85331D78A821}"/>
                </a:ext>
              </a:extLst>
            </p:cNvPr>
            <p:cNvSpPr/>
            <p:nvPr/>
          </p:nvSpPr>
          <p:spPr bwMode="auto">
            <a:xfrm>
              <a:off x="670447" y="3003798"/>
              <a:ext cx="5219700" cy="801608"/>
            </a:xfrm>
            <a:prstGeom prst="rect">
              <a:avLst/>
            </a:prstGeom>
            <a:solidFill>
              <a:schemeClr val="bg1"/>
            </a:solidFill>
            <a:ln w="38100">
              <a:noFill/>
              <a:headEnd type="none" w="med" len="med"/>
              <a:tailEnd type="triangle" w="med" len="med"/>
            </a:ln>
            <a:effectLst>
              <a:outerShdw blurRad="508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A92AC37-6255-4A35-BA1E-20FE0A4B5FBA}"/>
                </a:ext>
              </a:extLst>
            </p:cNvPr>
            <p:cNvSpPr/>
            <p:nvPr/>
          </p:nvSpPr>
          <p:spPr bwMode="auto">
            <a:xfrm>
              <a:off x="670448" y="3009399"/>
              <a:ext cx="1381271" cy="796007"/>
            </a:xfrm>
            <a:prstGeom prst="rect">
              <a:avLst/>
            </a:prstGeom>
            <a:solidFill>
              <a:srgbClr val="8B5DD9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텍스트 개체 틀 7">
              <a:extLst>
                <a:ext uri="{FF2B5EF4-FFF2-40B4-BE49-F238E27FC236}">
                  <a16:creationId xmlns:a16="http://schemas.microsoft.com/office/drawing/2014/main" id="{2FC81690-060B-4168-8A1A-2433111ECA8C}"/>
                </a:ext>
              </a:extLst>
            </p:cNvPr>
            <p:cNvSpPr txBox="1">
              <a:spLocks/>
            </p:cNvSpPr>
            <p:nvPr/>
          </p:nvSpPr>
          <p:spPr>
            <a:xfrm>
              <a:off x="670447" y="3204597"/>
              <a:ext cx="1381272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투자자산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5" name="텍스트 개체 틀 7">
            <a:extLst>
              <a:ext uri="{FF2B5EF4-FFF2-40B4-BE49-F238E27FC236}">
                <a16:creationId xmlns:a16="http://schemas.microsoft.com/office/drawing/2014/main" id="{062A51B5-B4FB-4EE0-B27D-4BABB7C4D98B}"/>
              </a:ext>
            </a:extLst>
          </p:cNvPr>
          <p:cNvSpPr txBox="1">
            <a:spLocks/>
          </p:cNvSpPr>
          <p:nvPr/>
        </p:nvSpPr>
        <p:spPr>
          <a:xfrm>
            <a:off x="2352822" y="3634513"/>
            <a:ext cx="3838427" cy="646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주식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회사채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부동산 등 투자 목적으로 보유하고 있는 자산</a:t>
            </a:r>
          </a:p>
        </p:txBody>
      </p:sp>
    </p:spTree>
    <p:extLst>
      <p:ext uri="{BB962C8B-B14F-4D97-AF65-F5344CB8AC3E}">
        <p14:creationId xmlns:p14="http://schemas.microsoft.com/office/powerpoint/2010/main" val="366064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E81462-B6B4-9AE0-280D-AA70BA14E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0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735289-1698-A4AA-F41A-F52C681AF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62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F476D5-9B67-C5CF-9824-C050138F8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33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DFA719-ABFE-2D3C-66B0-E0E0B00AA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94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193ABB-E221-6778-D84A-4925E4EB8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984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2E335D-6CB0-3276-0CCF-8CEC7DFE9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85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0FA520-7C0C-CB24-2E64-4CBC6C659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369770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8100">
          <a:noFill/>
        </a:ln>
        <a:effectLst>
          <a:outerShdw blurRad="50800" dist="38100" dir="5400000" algn="t" rotWithShape="0">
            <a:schemeClr val="bg1">
              <a:lumMod val="50000"/>
              <a:alpha val="41000"/>
            </a:scheme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 defTabSz="744139" fontAlgn="auto">
          <a:spcBef>
            <a:spcPts val="488"/>
          </a:spcBef>
          <a:spcAft>
            <a:spcPts val="814"/>
          </a:spcAft>
          <a:buClr>
            <a:prstClr val="white">
              <a:lumMod val="50000"/>
            </a:prstClr>
          </a:buClr>
          <a:defRPr kumimoji="0" sz="1800" spc="-122" dirty="0">
            <a:ln>
              <a:solidFill>
                <a:srgbClr val="E2E2E2">
                  <a:alpha val="0"/>
                </a:srgbClr>
              </a:solidFill>
            </a:ln>
            <a:solidFill>
              <a:prstClr val="black"/>
            </a:solidFill>
            <a:latin typeface="나눔바른고딕" panose="020B0603020101020101" pitchFamily="50" charset="-127"/>
            <a:ea typeface="나눔바른고딕" panose="020B060302010102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71566</TotalTime>
  <Words>156</Words>
  <Application>Microsoft Office PowerPoint</Application>
  <PresentationFormat>화면 슬라이드 쇼(16:9)</PresentationFormat>
  <Paragraphs>46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나눔바른고딕</vt:lpstr>
      <vt:lpstr>Wingdings</vt:lpstr>
      <vt:lpstr>나눔고딕</vt:lpstr>
      <vt:lpstr>돋움</vt:lpstr>
      <vt:lpstr>Arial</vt:lpstr>
      <vt:lpstr>5_Office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CELK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스토리보드</dc:title>
  <dc:creator>CELK</dc:creator>
  <cp:lastModifiedBy>위성백</cp:lastModifiedBy>
  <cp:revision>5791</cp:revision>
  <cp:lastPrinted>2015-05-26T08:39:57Z</cp:lastPrinted>
  <dcterms:created xsi:type="dcterms:W3CDTF">2004-07-08T01:15:15Z</dcterms:created>
  <dcterms:modified xsi:type="dcterms:W3CDTF">2024-09-24T11:27:53Z</dcterms:modified>
</cp:coreProperties>
</file>